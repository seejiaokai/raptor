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image" Target="../media/image-3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image" Target="../media/image-3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image" Target="../media/image-39-5.jpg"/><Relationship Id="rId6" Type="http://schemas.openxmlformats.org/officeDocument/2006/relationships/image" Target="../media/image-39-6.jpg"/><Relationship Id="rId7" Type="http://schemas.openxmlformats.org/officeDocument/2006/relationships/image" Target="../media/image-3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image" Target="../media/image-4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image" Target="../media/image-42-3.jpg"/><Relationship Id="rId4" Type="http://schemas.openxmlformats.org/officeDocument/2006/relationships/image" Target="../media/image-4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RAPTOR works — every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then pick a page from the top bar. Each numbered journey has its own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06840" y="457200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90888" y="448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378440" y="457200"/>
            <a:ext cx="310896" cy="21945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62488" y="448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07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" y="1572768"/>
            <a:ext cx="1655064" cy="10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User\AppData\Local\Temp\claude\C--Users-User-projects-Raptor--claude-worktrees-docs-rulings-slim-down-e83c74\bd625616-9217-44be-8d31-64893dff3b57\scratchpad\shots3\.deck\map-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600200" cy="10001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737485"/>
            <a:ext cx="1600200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" y="2737485"/>
            <a:ext cx="1472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or ask for access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394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work flows — how these follow one another — are slides 2 and 3.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03120" y="2100263"/>
            <a:ext cx="274320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0" y="1417320"/>
            <a:ext cx="0" cy="682943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77440" y="1417320"/>
            <a:ext cx="8718804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32888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4096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51460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48716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1" descr="C:\Users\User\AppData\Local\Temp\claude\C--Users-User-projects-Raptor--claude-worktrees-docs-rulings-slim-down-e83c74\bd625616-9217-44be-8d31-64893dff3b57\scratchpad\shots3\.deck\map-editsch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1252728" cy="78295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51460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58775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schedule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(7 slides)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514600" y="3571875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87752" y="3571875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day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2514600" y="4138803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587752" y="4138803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 a published day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514600" y="4705731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587752" y="4705731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plans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46684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1" name="Text 27"/>
          <p:cNvSpPr txBox="1"/>
          <p:nvPr/>
        </p:nvSpPr>
        <p:spPr>
          <a:xfrm>
            <a:off x="384048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Sched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81304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2" descr="C:\Users\User\AppData\Local\Temp\claude\C--Users-User-projects-Raptor--claude-worktrees-docs-rulings-slim-down-e83c74\bd625616-9217-44be-8d31-64893dff3b57\scratchpad\shots3\.deck\map-viewsch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057400"/>
            <a:ext cx="1252728" cy="782955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384048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91363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schedule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slides)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579272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516636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13892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9" name="Image 3" descr="C:\Users\User\AppData\Local\Temp\claude\C--Users-User-projects-Raptor--claude-worktrees-docs-rulings-slim-down-e83c74\bd625616-9217-44be-8d31-64893dff3b57\scratchpad\shots3\.deck\map-input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057400"/>
            <a:ext cx="1252728" cy="78295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16636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523951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 input or a medical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slides)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711860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3" name="Text 37"/>
          <p:cNvSpPr txBox="1"/>
          <p:nvPr/>
        </p:nvSpPr>
        <p:spPr>
          <a:xfrm>
            <a:off x="649224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646480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5" name="Image 4" descr="C:\Users\User\AppData\Local\Temp\claude\C--Users-User-projects-Raptor--claude-worktrees-docs-rulings-slim-down-e83c74\bd625616-9217-44be-8d31-64893dff3b57\scratchpad\shots3\.deck\map-qual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057400"/>
            <a:ext cx="1252728" cy="782955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649224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56539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quals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44448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9" name="Text 42"/>
          <p:cNvSpPr txBox="1"/>
          <p:nvPr/>
        </p:nvSpPr>
        <p:spPr>
          <a:xfrm>
            <a:off x="781812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779068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1" name="Image 5" descr="C:\Users\User\AppData\Local\Temp\claude\C--Users-User-projects-Raptor--claude-worktrees-docs-rulings-slim-down-e83c74\bd625616-9217-44be-8d31-64893dff3b57\scratchpad\shots3\.deck\map-leavewa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057400"/>
            <a:ext cx="1252728" cy="782955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781812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89127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for leave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slides)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7818120" y="3571875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7891272" y="3571875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Leave War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 slides)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977036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57" name="Text 49"/>
          <p:cNvSpPr txBox="1"/>
          <p:nvPr/>
        </p:nvSpPr>
        <p:spPr>
          <a:xfrm>
            <a:off x="914400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911656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9" name="Image 6" descr="C:\Users\User\AppData\Local\Temp\claude\C--Users-User-projects-Raptor--claude-worktrees-docs-rulings-slim-down-e83c74\bd625616-9217-44be-8d31-64893dff3b57\scratchpad\shots3\.deck\map-tracke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2057400"/>
            <a:ext cx="1252728" cy="782955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914400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921715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(8 slides)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11096244" y="1417320"/>
            <a:ext cx="0" cy="292608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63" name="Text 54"/>
          <p:cNvSpPr txBox="1"/>
          <p:nvPr/>
        </p:nvSpPr>
        <p:spPr>
          <a:xfrm>
            <a:off x="10469880" y="176479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Logic</a:t>
            </a:r>
            <a:endParaRPr lang="en-US" sz="1200" dirty="0"/>
          </a:p>
        </p:txBody>
      </p:sp>
      <p:sp>
        <p:nvSpPr>
          <p:cNvPr id="64" name="Shape 55"/>
          <p:cNvSpPr/>
          <p:nvPr/>
        </p:nvSpPr>
        <p:spPr>
          <a:xfrm>
            <a:off x="10442448" y="2029968"/>
            <a:ext cx="1307592" cy="837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5" name="Image 7" descr="C:\Users\User\AppData\Local\Temp\claude\C--Users-User-projects-Raptor--claude-worktrees-docs-rulings-slim-down-e83c74\bd625616-9217-44be-8d31-64893dff3b57\scratchpad\shots3\.deck\map-admin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0" y="2057400"/>
            <a:ext cx="1252728" cy="782955"/>
          </a:xfrm>
          <a:prstGeom prst="rect">
            <a:avLst/>
          </a:prstGeom>
        </p:spPr>
      </p:pic>
      <p:sp>
        <p:nvSpPr>
          <p:cNvPr id="66" name="Shape 56"/>
          <p:cNvSpPr/>
          <p:nvPr/>
        </p:nvSpPr>
        <p:spPr>
          <a:xfrm>
            <a:off x="10469880" y="3004947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7" name="Text 57"/>
          <p:cNvSpPr txBox="1"/>
          <p:nvPr/>
        </p:nvSpPr>
        <p:spPr>
          <a:xfrm>
            <a:off x="10543032" y="3004947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in, add a person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10469880" y="3571875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9" name="Text 59"/>
          <p:cNvSpPr txBox="1"/>
          <p:nvPr/>
        </p:nvSpPr>
        <p:spPr>
          <a:xfrm>
            <a:off x="10543032" y="3571875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out, archive, delete</a:t>
            </a:r>
            <a:endParaRPr lang="en-US" sz="1200" dirty="0"/>
          </a:p>
        </p:txBody>
      </p:sp>
      <p:sp>
        <p:nvSpPr>
          <p:cNvPr id="70" name="Shape 60"/>
          <p:cNvSpPr/>
          <p:nvPr/>
        </p:nvSpPr>
        <p:spPr>
          <a:xfrm>
            <a:off x="10469880" y="4138803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10543032" y="4138803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Squadron settings and rules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slides)</a:t>
            </a:r>
            <a:endParaRPr lang="en-US" sz="1200" dirty="0"/>
          </a:p>
        </p:txBody>
      </p:sp>
      <p:sp>
        <p:nvSpPr>
          <p:cNvPr id="72" name="Shape 62"/>
          <p:cNvSpPr/>
          <p:nvPr/>
        </p:nvSpPr>
        <p:spPr>
          <a:xfrm>
            <a:off x="10469880" y="4705731"/>
            <a:ext cx="1252728" cy="493776"/>
          </a:xfrm>
          <a:prstGeom prst="roundRect">
            <a:avLst>
              <a:gd name="adj" fmla="val 12963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10543032" y="4705731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export and data</a:t>
            </a:r>
            <a:endParaRPr lang="en-US" sz="1200" dirty="0"/>
          </a:p>
        </p:txBody>
      </p:sp>
      <p:sp>
        <p:nvSpPr>
          <p:cNvPr id="74" name="Text 64"/>
          <p:cNvSpPr txBox="1"/>
          <p:nvPr/>
        </p:nvSpPr>
        <p:spPr>
          <a:xfrm>
            <a:off x="2514600" y="5989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page:</a:t>
            </a:r>
            <a:endParaRPr lang="en-US" sz="1100" dirty="0"/>
          </a:p>
        </p:txBody>
      </p:sp>
      <p:sp>
        <p:nvSpPr>
          <p:cNvPr id="75" name="Shape 65"/>
          <p:cNvSpPr/>
          <p:nvPr/>
        </p:nvSpPr>
        <p:spPr>
          <a:xfrm>
            <a:off x="3840480" y="5989320"/>
            <a:ext cx="3108960" cy="365760"/>
          </a:xfrm>
          <a:prstGeom prst="roundRect">
            <a:avLst>
              <a:gd name="adj" fmla="val 175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3913632" y="59893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redo and the change history</a:t>
            </a:r>
            <a:endParaRPr lang="en-US" sz="1200" dirty="0"/>
          </a:p>
        </p:txBody>
      </p:sp>
      <p:sp>
        <p:nvSpPr>
          <p:cNvPr id="77" name="Shape 67"/>
          <p:cNvSpPr/>
          <p:nvPr/>
        </p:nvSpPr>
        <p:spPr>
          <a:xfrm>
            <a:off x="7086600" y="5989320"/>
            <a:ext cx="3108960" cy="365760"/>
          </a:xfrm>
          <a:prstGeom prst="roundRect">
            <a:avLst>
              <a:gd name="adj" fmla="val 175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>
            <a:off x="7159752" y="59893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by itself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 slides)</a:t>
            </a:r>
            <a:endParaRPr lang="en-US" sz="1200" dirty="0"/>
          </a:p>
        </p:txBody>
      </p:sp>
      <p:sp>
        <p:nvSpPr>
          <p:cNvPr id="79" name="Text 6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 / 42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flow — the life of a 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in the order it happens. Under each stage: the slide that shows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7295" cy="2240280"/>
          </a:xfrm>
          <a:prstGeom prst="roundRect">
            <a:avLst>
              <a:gd name="adj" fmla="val 4082"/>
            </a:avLst>
          </a:prstGeom>
          <a:solidFill>
            <a:srgbClr val="EAF6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841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1277295" cy="2240280"/>
          </a:xfrm>
          <a:prstGeom prst="roundRect">
            <a:avLst>
              <a:gd name="adj" fmla="val 4082"/>
            </a:avLst>
          </a:prstGeom>
          <a:solidFill>
            <a:srgbClr val="E8ED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3931920"/>
            <a:ext cx="841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the scheduler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44752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9" name="Image 0" descr="C:\Users\User\AppData\Local\Temp\claude\C--Users-User-projects-Raptor--claude-worktrees-docs-rulings-slim-down-e83c74\bd625616-9217-44be-8d31-64893dff3b57\scratchpad\shots3\.deck\inputs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581912"/>
            <a:ext cx="1211319" cy="7510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inputs and leave bids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17, 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12103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13" name="Image 1" descr="C:\Users\User\AppData\Local\Temp\claude\C--Users-User-projects-Raptor--claude-worktrees-docs-rulings-slim-down-e83c74\bd625616-9217-44be-8d31-64893dff3b57\scratchpad\shots3\.deck\puck-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30391" y="4005072"/>
            <a:ext cx="1211319" cy="7510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30391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day from who is free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930391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79453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17" name="Image 2" descr="C:\Users\User\AppData\Local\Temp\claude\C--Users-User-projects-Raptor--claude-worktrees-docs-rulings-slim-down-e83c74\bd625616-9217-44be-8d31-64893dff3b57\scratchpad\shots3\.deck\plans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7741" y="4005072"/>
            <a:ext cx="1211319" cy="7510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97741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 alternate plan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397741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846804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1" name="Image 3" descr="C:\Users\User\AppData\Local\Temp\claude\C--Users-User-projects-Raptor--claude-worktrees-docs-rulings-slim-down-e83c74\bd625616-9217-44be-8d31-64893dff3b57\scratchpad\shots3\.deck\publish-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65092" y="4005072"/>
            <a:ext cx="1211319" cy="7510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65092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and publish — ORIG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865092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14155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5" name="Image 4" descr="C:\Users\User\AppData\Local\Temp\claude\C--Users-User-projects-Raptor--claude-worktrees-docs-rulings-slim-down-e83c74\bd625616-9217-44be-8d31-64893dff3b57\scratchpad\shots3\.deck\publish-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32443" y="1581912"/>
            <a:ext cx="1211319" cy="7510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2443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reads the issued day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332443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781506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9" name="Image 5" descr="C:\Users\User\AppData\Local\Temp\claude\C--Users-User-projects-Raptor--claude-worktrees-docs-rulings-slim-down-e83c74\bd625616-9217-44be-8d31-64893dff3b57\scratchpad\shots3\.deck\r1-unav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99794" y="1581912"/>
            <a:ext cx="1211319" cy="75101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799794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changes: a late input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799794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17, 39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0248856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33" name="Image 6" descr="C:\Users\User\AppData\Local\Temp\claude\C--Users-User-projects-Raptor--claude-worktrees-docs-rulings-slim-down-e83c74\bd625616-9217-44be-8d31-64893dff3b57\scratchpad\shots3\.deck\amend-4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67144" y="4005072"/>
            <a:ext cx="1211319" cy="75101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267144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Amend: sign again, publish AL1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10267144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2692647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2802375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2802375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4159997" y="438058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5627348" y="438058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7094699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 flipV="1">
            <a:off x="7204427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204427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8562050" y="195742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10029400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0139128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10139128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10872804" y="5688778"/>
            <a:ext cx="0" cy="263966"/>
          </a:xfrm>
          <a:prstGeom prst="line">
            <a:avLst/>
          </a:prstGeom>
          <a:noFill/>
          <a:ln w="25400">
            <a:solidFill>
              <a:srgbClr val="EF7D1A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 flipH="1">
            <a:off x="7938102" y="5952744"/>
            <a:ext cx="2934701" cy="0"/>
          </a:xfrm>
          <a:prstGeom prst="line">
            <a:avLst/>
          </a:prstGeom>
          <a:noFill/>
          <a:ln w="25400">
            <a:solidFill>
              <a:srgbClr val="EF7D1A"/>
            </a:solidFill>
            <a:prstDash val="dash"/>
          </a:ln>
        </p:spPr>
      </p:sp>
      <p:sp>
        <p:nvSpPr>
          <p:cNvPr id="50" name="Shape 41"/>
          <p:cNvSpPr/>
          <p:nvPr/>
        </p:nvSpPr>
        <p:spPr>
          <a:xfrm flipV="1">
            <a:off x="7938102" y="3265618"/>
            <a:ext cx="0" cy="2687126"/>
          </a:xfrm>
          <a:prstGeom prst="line">
            <a:avLst/>
          </a:prstGeom>
          <a:noFill/>
          <a:ln w="25400">
            <a:solidFill>
              <a:srgbClr val="EF7D1A"/>
            </a:solidFill>
            <a:prstDash val="dash"/>
            <a:tailEnd type="triangle"/>
          </a:ln>
        </p:spPr>
      </p:sp>
      <p:sp>
        <p:nvSpPr>
          <p:cNvPr id="51" name="Text 42"/>
          <p:cNvSpPr txBox="1"/>
          <p:nvPr/>
        </p:nvSpPr>
        <p:spPr>
          <a:xfrm>
            <a:off x="8029542" y="5696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AL1 goes out</a:t>
            </a:r>
            <a:endParaRPr lang="en-US" sz="1050" dirty="0"/>
          </a:p>
        </p:txBody>
      </p:sp>
      <p:sp>
        <p:nvSpPr>
          <p:cNvPr id="52" name="Text 43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day: Quals (slide 19), the Tracker (25), Admin (33 on); what spreads by itself (39).</a:t>
            </a:r>
            <a:endParaRPr lang="en-US" sz="1100" dirty="0"/>
          </a:p>
        </p:txBody>
      </p:sp>
      <p:sp>
        <p:nvSpPr>
          <p:cNvPr id="53" name="Text 4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 / 42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flow — the Leave War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leave period from start to finish, as the app runs it. Under each stage: the slide that shows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7295" cy="2240280"/>
          </a:xfrm>
          <a:prstGeom prst="roundRect">
            <a:avLst>
              <a:gd name="adj" fmla="val 4082"/>
            </a:avLst>
          </a:prstGeom>
          <a:solidFill>
            <a:srgbClr val="EAF6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841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1277295" cy="2240280"/>
          </a:xfrm>
          <a:prstGeom prst="roundRect">
            <a:avLst>
              <a:gd name="adj" fmla="val 4082"/>
            </a:avLst>
          </a:prstGeom>
          <a:solidFill>
            <a:srgbClr val="E8ED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3931920"/>
            <a:ext cx="841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44752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9" name="Image 0" descr="C:\Users\User\AppData\Local\Temp\claude\C--Users-User-projects-Raptor--claude-worktrees-docs-rulings-slim-down-e83c74\bd625616-9217-44be-8d31-64893dff3b57\scratchpad\shots3\.deck\run-w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4005072"/>
            <a:ext cx="1211319" cy="7510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period (starts in Draft)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12103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13" name="Image 1" descr="C:\Users\User\AppData\Local\Temp\claude\C--Users-User-projects-Raptor--claude-worktrees-docs-rulings-slim-down-e83c74\bd625616-9217-44be-8d31-64893dff3b57\scratchpad\shots3\.deck\lwflow-ope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30391" y="4005072"/>
            <a:ext cx="1211319" cy="7510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30391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for bidding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930391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79453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17" name="Image 2" descr="C:\Users\User\AppData\Local\Temp\claude\C--Users-User-projects-Raptor--claude-worktrees-docs-rulings-slim-down-e83c74\bd625616-9217-44be-8d31-64893dff3b57\scratchpad\shots3\.deck\bid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7741" y="1581912"/>
            <a:ext cx="1211319" cy="7510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97741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bid on their own row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397741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846804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1" name="Image 3" descr="C:\Users\User\AppData\Local\Temp\claude\C--Users-User-projects-Raptor--claude-worktrees-docs-rulings-slim-down-e83c74\bd625616-9217-44be-8d31-64893dff3b57\scratchpad\shots3\.deck\run-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65092" y="4005072"/>
            <a:ext cx="1211319" cy="7510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65092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it; approve — leave reaches Inputs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865092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22, 39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14155" y="398678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5" name="Image 4" descr="C:\Users\User\AppData\Local\Temp\claude\C--Users-User-projects-Raptor--claude-worktrees-docs-rulings-slim-down-e83c74\bd625616-9217-44be-8d31-64893dff3b57\scratchpad\shots3\.deck\run-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32443" y="4005072"/>
            <a:ext cx="1211319" cy="7510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2443" y="482924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locked for members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332443" y="541445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781506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29" name="Image 5" descr="C:\Users\User\AppData\Local\Temp\claude\C--Users-User-projects-Raptor--claude-worktrees-docs-rulings-slim-down-e83c74\bd625616-9217-44be-8d31-64893dff3b57\scratchpad\shots3\.deck\lwflow-remarks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99794" y="1581912"/>
            <a:ext cx="1211319" cy="75101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799794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add their remarks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799794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0248856" y="1563624"/>
            <a:ext cx="1247895" cy="78759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33" name="Image 6" descr="C:\Users\User\AppData\Local\Temp\claude\C--Users-User-projects-Raptor--claude-worktrees-docs-rulings-slim-down-e83c74\bd625616-9217-44be-8d31-64893dff3b57\scratchpad\shots3\.deck\inputs-1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67144" y="1581912"/>
            <a:ext cx="1211319" cy="75101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267144" y="2406082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later: through Inputs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10267144" y="2991298"/>
            <a:ext cx="1211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17, 39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2692647" y="438058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4159997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 flipV="1">
            <a:off x="4269725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269725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5627348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5737076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5737076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7094699" y="438058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8562050" y="438058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 flipV="1">
            <a:off x="8671778" y="1957421"/>
            <a:ext cx="0" cy="242316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8671778" y="1957421"/>
            <a:ext cx="10972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10029400" y="1957421"/>
            <a:ext cx="219456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8" name="Text 39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can decide bids in any stage but Draft, and can still add leave directly on the war; an approved leave on a published war is changed by stepping back to Bidding closed or on Inputs (D418).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 / 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or ask for access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sign-in card → Admin →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signin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26865" y="2146832"/>
            <a:ext cx="1191959" cy="209550"/>
          </a:xfrm>
          <a:prstGeom prst="roundRect">
            <a:avLst>
              <a:gd name="adj" fmla="val 174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6865" y="18816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26865" y="18816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26865" y="2401530"/>
            <a:ext cx="1191959" cy="209550"/>
          </a:xfrm>
          <a:prstGeom prst="roundRect">
            <a:avLst>
              <a:gd name="adj" fmla="val 174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6865" y="213635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26865" y="213635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6865" y="2612566"/>
            <a:ext cx="1191959" cy="209550"/>
          </a:xfrm>
          <a:prstGeom prst="roundRect">
            <a:avLst>
              <a:gd name="adj" fmla="val 174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6865" y="234739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6865" y="23473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defence mail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password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1" descr="C:\Users\User\AppData\Local\Temp\claude\C--Users-User-projects-Raptor--claude-worktrees-docs-rulings-slim-down-e83c74\bd625616-9217-44be-8d31-64893dff3b57\scratchpad\shots3\.deck\signin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104864" y="1819899"/>
            <a:ext cx="1066631" cy="193379"/>
          </a:xfrm>
          <a:prstGeom prst="roundRect">
            <a:avLst>
              <a:gd name="adj" fmla="val 1891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104864" y="155472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104864" y="15547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104864" y="2272696"/>
            <a:ext cx="1066631" cy="193379"/>
          </a:xfrm>
          <a:prstGeom prst="roundRect">
            <a:avLst>
              <a:gd name="adj" fmla="val 1891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104864" y="200752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04864" y="20075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104864" y="2670511"/>
            <a:ext cx="1066631" cy="193379"/>
          </a:xfrm>
          <a:prstGeom prst="roundRect">
            <a:avLst>
              <a:gd name="adj" fmla="val 1891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104864" y="240533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104864" y="240533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4319640" y="1492329"/>
            <a:ext cx="262107" cy="115756"/>
          </a:xfrm>
          <a:prstGeom prst="roundRect">
            <a:avLst>
              <a:gd name="adj" fmla="val 3159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list: your name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WSO or personnel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3372536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372536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0"/>
          <p:cNvSpPr txBox="1"/>
          <p:nvPr/>
        </p:nvSpPr>
        <p:spPr>
          <a:xfrm>
            <a:off x="3701720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6" name="Image 2" descr="C:\Users\User\AppData\Local\Temp\claude\C--Users-User-projects-Raptor--claude-worktrees-docs-rulings-slim-down-e83c74\bd625616-9217-44be-8d31-64893dff3b57\scratchpad\shots3\.deck\signin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6957536" y="1873713"/>
            <a:ext cx="1191959" cy="144056"/>
          </a:xfrm>
          <a:prstGeom prst="roundRect">
            <a:avLst>
              <a:gd name="adj" fmla="val 2539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6957536" y="2077472"/>
            <a:ext cx="1191959" cy="210573"/>
          </a:xfrm>
          <a:prstGeom prst="roundRect">
            <a:avLst>
              <a:gd name="adj" fmla="val 1737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287872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request is with the admins"</a:t>
            </a:r>
            <a:endParaRPr lang="en-US" sz="1300" dirty="0"/>
          </a:p>
        </p:txBody>
      </p:sp>
      <p:sp>
        <p:nvSpPr>
          <p:cNvPr id="62" name="Shape 57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3" name="Image 3" descr="C:\Users\User\AppData\Local\Temp\claude\C--Users-User-projects-Raptor--claude-worktrees-docs-rulings-slim-down-e83c74\bd625616-9217-44be-8d31-64893dff3b57\scratchpad\shots3\.deck\signin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10266063" y="1337539"/>
            <a:ext cx="381415" cy="180442"/>
          </a:xfrm>
          <a:prstGeom prst="roundRect">
            <a:avLst>
              <a:gd name="adj" fmla="val 202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0266063" y="107236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10266063" y="107236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1"/>
          <p:cNvSpPr/>
          <p:nvPr/>
        </p:nvSpPr>
        <p:spPr>
          <a:xfrm>
            <a:off x="10930155" y="1919707"/>
            <a:ext cx="411148" cy="165887"/>
          </a:xfrm>
          <a:prstGeom prst="roundRect">
            <a:avLst>
              <a:gd name="adj" fmla="val 2204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0930155" y="165453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10930155" y="165453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4"/>
          <p:cNvSpPr/>
          <p:nvPr/>
        </p:nvSpPr>
        <p:spPr>
          <a:xfrm>
            <a:off x="9414415" y="1879683"/>
            <a:ext cx="2188921" cy="249574"/>
          </a:xfrm>
          <a:prstGeom prst="roundRect">
            <a:avLst>
              <a:gd name="adj" fmla="val 1465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9203207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9203207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3" name="Text 67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shows 1 waiting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9203207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9203207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6" name="Text 70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access (or Refuse)</a:t>
            </a:r>
            <a:endParaRPr lang="en-US" sz="1300" dirty="0"/>
          </a:p>
        </p:txBody>
      </p:sp>
      <p:sp>
        <p:nvSpPr>
          <p:cNvPr id="77" name="Shape 71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9" name="Text 73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80" name="Text 74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password on a real account shows "Incorrect username or password."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sign-in nobody knows opens Request access; Personnel hides the CAT box.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 again while waiting shows the waiting screen, not the form.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sees a 1 on the Admin tab, "1 waiting for access" and the bell lit.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access opens New person already filled in; he then signs in as a member.</a:t>
            </a:r>
            <a:endParaRPr lang="en-US" sz="1100" dirty="0"/>
          </a:p>
        </p:txBody>
      </p:sp>
      <p:sp>
        <p:nvSpPr>
          <p:cNvPr id="81" name="Text 75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2" name="Text 76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request → waiting; the Admin tab counts 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accounts-newperson.test.tsx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 access filled in; the bell lights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onedoor-users.test.tsx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 access / Refuse; Post in asked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user joins either way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e2e/geometry.spec.ts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sign-in cards fit desktop and phone</a:t>
            </a:r>
            <a:endParaRPr lang="en-US" sz="1000" dirty="0"/>
          </a:p>
        </p:txBody>
      </p:sp>
      <p:sp>
        <p:nvSpPr>
          <p:cNvPr id="83" name="Text 77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4 / 42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1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edit: the week and the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547862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325880"/>
            <a:ext cx="5259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— the week: the big picture, smaller edits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4640" y="1719072"/>
            <a:ext cx="3463747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modes-wee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072" y="1746504"/>
            <a:ext cx="3408883" cy="21305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50967" y="2280280"/>
            <a:ext cx="228793" cy="101884"/>
          </a:xfrm>
          <a:prstGeom prst="roundRect">
            <a:avLst>
              <a:gd name="adj" fmla="val 359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50967" y="24004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650967" y="24004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98678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9867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968496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day's date to open its board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39496" y="433425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4233672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days side by side: drag a puck to another day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39496" y="459943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4498848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Amendments panel, the export buttons, the week picker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39496" y="4864608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" y="4764024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seats, type times, sign and publish — as on the board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55868" y="1325880"/>
            <a:ext cx="547862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5596" y="1325880"/>
            <a:ext cx="5259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Board — one day, every tool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263308" y="1719072"/>
            <a:ext cx="3463747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modes-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740" y="1746504"/>
            <a:ext cx="3408883" cy="213055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0461666" y="1868373"/>
            <a:ext cx="232085" cy="135026"/>
          </a:xfrm>
          <a:prstGeom prst="roundRect">
            <a:avLst>
              <a:gd name="adj" fmla="val 2708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461666" y="202168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461666" y="20216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255868" y="398678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255868" y="39867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585052" y="3968496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goes back to the week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338164" y="433425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585052" y="4233672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+ Note, + Item, + Wave, + Line, + Block, + Row, + Inputs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6338164" y="459943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585052" y="4498848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row: CX cancel, flag, info, ✕; Auto sort, Sort all, drag rows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338164" y="4864608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585052" y="4764024"/>
            <a:ext cx="51494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issue list is always open, beside the crew list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457200" y="5120640"/>
            <a:ext cx="11277295" cy="1280160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85800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685800" y="55321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685800" y="5779008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in a day heading opens the board on that day; ✓ Done returns to the week.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on the board shows on the week, and the other way round.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have: sign-off and Publish, the plan selector, Templates, drag, tap-to-arm and right-click remove.</a:t>
            </a:r>
            <a:endParaRPr lang="en-US" sz="1050" dirty="0"/>
          </a:p>
        </p:txBody>
      </p:sp>
      <p:sp>
        <p:nvSpPr>
          <p:cNvPr id="48" name="Text 44"/>
          <p:cNvSpPr txBox="1"/>
          <p:nvPr/>
        </p:nvSpPr>
        <p:spPr>
          <a:xfrm>
            <a:off x="6949440" y="5532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6949440" y="57790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board's adds, kinds and templates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boardnav.test.tsx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board's day and week stepping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editweek.test.tsx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week's editing, arm and plant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5 / 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2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from nothing: the first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build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55043" y="1454342"/>
            <a:ext cx="522663" cy="195093"/>
          </a:xfrm>
          <a:prstGeom prst="roundRect">
            <a:avLst>
              <a:gd name="adj" fmla="val 1874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5043" y="166772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5043" y="166772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54054" y="1614807"/>
            <a:ext cx="1368003" cy="626203"/>
          </a:xfrm>
          <a:prstGeom prst="roundRect">
            <a:avLst>
              <a:gd name="adj" fmla="val 584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61640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apply or save one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75469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day templates listed here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345104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1" descr="C:\Users\User\AppData\Local\Temp\claude\C--Users-User-projects-Raptor--claude-worktrees-docs-rulings-slim-down-e83c74\bd625616-9217-44be-8d31-64893dff3b57\scratchpad\shots3\.deck\build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89846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654114" y="2113769"/>
            <a:ext cx="170693" cy="102865"/>
          </a:xfrm>
          <a:prstGeom prst="roundRect">
            <a:avLst>
              <a:gd name="adj" fmla="val 3555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54114" y="223492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654114" y="223492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51553" y="2260872"/>
            <a:ext cx="727083" cy="117298"/>
          </a:xfrm>
          <a:prstGeom prst="roundRect">
            <a:avLst>
              <a:gd name="adj" fmla="val 3118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451553" y="19956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51553" y="19956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976976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372536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372536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3701720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Item on the programme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3372536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372536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3701720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it is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2" descr="C:\Users\User\AppData\Local\Temp\claude\C--Users-User-projects-Raptor--claude-worktrees-docs-rulings-slim-down-e83c74\bd625616-9217-44be-8d31-64893dff3b57\scratchpad\shots3\.deck\build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7349011" y="1854262"/>
            <a:ext cx="250973" cy="127290"/>
          </a:xfrm>
          <a:prstGeom prst="roundRect">
            <a:avLst>
              <a:gd name="adj" fmla="val 287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349011" y="158908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349011" y="15890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7384099" y="2060495"/>
            <a:ext cx="396805" cy="172492"/>
          </a:xfrm>
          <a:prstGeom prst="roundRect">
            <a:avLst>
              <a:gd name="adj" fmla="val 2120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384099" y="179531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384099" y="179531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8892311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287872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287872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6617056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Wave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6287872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6287872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6617056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wave, SC, AVALON or BB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9175775" y="1298448"/>
            <a:ext cx="2586152" cy="195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5" name="Image 3" descr="C:\Users\User\AppData\Local\Temp\claude\C--Users-User-projects-Raptor--claude-worktrees-docs-rulings-slim-down-e83c74\bd625616-9217-44be-8d31-64893dff3b57\scratchpad\shots3\.deck\build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7296"/>
          </a:xfrm>
          <a:prstGeom prst="rect">
            <a:avLst/>
          </a:prstGeom>
        </p:spPr>
      </p:pic>
      <p:sp>
        <p:nvSpPr>
          <p:cNvPr id="56" name="Shape 50"/>
          <p:cNvSpPr/>
          <p:nvPr/>
        </p:nvSpPr>
        <p:spPr>
          <a:xfrm>
            <a:off x="11476368" y="2262336"/>
            <a:ext cx="172719" cy="104948"/>
          </a:xfrm>
          <a:prstGeom prst="roundRect">
            <a:avLst>
              <a:gd name="adj" fmla="val 3485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1476368" y="238557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1476368" y="238557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9288176" y="2411476"/>
            <a:ext cx="213733" cy="120155"/>
          </a:xfrm>
          <a:prstGeom prst="roundRect">
            <a:avLst>
              <a:gd name="adj" fmla="val 304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9288176" y="214630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9288176" y="21463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9203207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203207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9532391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 in the wave</a:t>
            </a:r>
            <a:endParaRPr lang="en-US" sz="1300" dirty="0"/>
          </a:p>
        </p:txBody>
      </p:sp>
      <p:sp>
        <p:nvSpPr>
          <p:cNvPr id="65" name="Shape 59"/>
          <p:cNvSpPr/>
          <p:nvPr/>
        </p:nvSpPr>
        <p:spPr>
          <a:xfrm>
            <a:off x="9203207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9203207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Text 61"/>
          <p:cNvSpPr txBox="1"/>
          <p:nvPr/>
        </p:nvSpPr>
        <p:spPr>
          <a:xfrm>
            <a:off x="9532391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Callsign, then seats and times</a:t>
            </a:r>
            <a:endParaRPr lang="en-US" sz="1300" dirty="0"/>
          </a:p>
        </p:txBody>
      </p:sp>
      <p:sp>
        <p:nvSpPr>
          <p:cNvPr id="68" name="Shape 62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0" name="Text 64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1" name="Text 65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day (week of 27 Jul) says "No flying waves yet — + Wave above adds the first."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day template fills a draft day in one tap; a published day refuses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Wave offers Flying wave / SC / AVALON / BB and a ⚙ to manage wave templates.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 adds a blank line at the bottom of the wave ("Line added").</a:t>
            </a:r>
            <a:endParaRPr lang="en-US" sz="1100" dirty="0"/>
          </a:p>
        </p:txBody>
      </p:sp>
      <p:sp>
        <p:nvSpPr>
          <p:cNvPr id="72" name="Text 66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3" name="Text 67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daytplui.test.tsx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save / apply a day template; published refuses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Line, + Wave kinds, ✕ Wave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wavepicker.test.tsx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wave kinds and saved templates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wavedefault-add.test.tsx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wave lands in the set order</a:t>
            </a:r>
            <a:endParaRPr lang="en-US" sz="1000" dirty="0"/>
          </a:p>
        </p:txBody>
      </p:sp>
      <p:sp>
        <p:nvSpPr>
          <p:cNvPr id="74" name="Text 68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6 / 42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3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Duties, sims and the ground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build-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509412" y="1757249"/>
            <a:ext cx="259900" cy="127290"/>
          </a:xfrm>
          <a:prstGeom prst="roundRect">
            <a:avLst>
              <a:gd name="adj" fmla="val 287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09412" y="149207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09412" y="149207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546195" y="1966475"/>
            <a:ext cx="895717" cy="172492"/>
          </a:xfrm>
          <a:prstGeom prst="roundRect">
            <a:avLst>
              <a:gd name="adj" fmla="val 2120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46195" y="170129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46195" y="170129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61640" y="212909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398655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39865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3380367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Block under Duties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709551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0955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691263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duty template: Standard…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45104" y="1298448"/>
            <a:ext cx="2586152" cy="195390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build-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899039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602083" y="2384599"/>
            <a:ext cx="169598" cy="104096"/>
          </a:xfrm>
          <a:prstGeom prst="roundRect">
            <a:avLst>
              <a:gd name="adj" fmla="val 3513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02083" y="250698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02083" y="250698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404673" y="2377154"/>
            <a:ext cx="195548" cy="118986"/>
          </a:xfrm>
          <a:prstGeom prst="roundRect">
            <a:avLst>
              <a:gd name="adj" fmla="val 3074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976976" y="212909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372536" y="3398655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372536" y="339865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3701720" y="3380367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Row for one more desk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3372536" y="3755271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701720" y="3691263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template's roles land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2" descr="C:\Users\User\AppData\Local\Temp\claude\C--Users-User-projects-Raptor--claude-worktrees-docs-rulings-slim-down-e83c74\bd625616-9217-44be-8d31-64893dff3b57\scratchpad\shots3\.deck\build-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8204212" y="2074664"/>
            <a:ext cx="216369" cy="113227"/>
          </a:xfrm>
          <a:prstGeom prst="roundRect">
            <a:avLst>
              <a:gd name="adj" fmla="val 3230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204212" y="220618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204212" y="22061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8892311" y="212909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287872" y="3398655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287872" y="339865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6617056" y="3380367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Sims: + Block (brief, box, debrief)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9175775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9" name="Image 3" descr="C:\Users\User\AppData\Local\Temp\claude\C--Users-User-projects-Raptor--claude-worktrees-docs-rulings-slim-down-e83c74\bd625616-9217-44be-8d31-64893dff3b57\scratchpad\shots3\.deck\build-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8466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11128601" y="2076686"/>
            <a:ext cx="199142" cy="125884"/>
          </a:xfrm>
          <a:prstGeom prst="roundRect">
            <a:avLst>
              <a:gd name="adj" fmla="val 290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1128601" y="222085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1128601" y="222085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10678023" y="2076686"/>
            <a:ext cx="271477" cy="125884"/>
          </a:xfrm>
          <a:prstGeom prst="roundRect">
            <a:avLst>
              <a:gd name="adj" fmla="val 290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0678023" y="222085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10678023" y="222085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9203207" y="3398655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9203207" y="339865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9532391" y="3380367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Ground: + Item</a:t>
            </a:r>
            <a:endParaRPr lang="en-US" sz="1300" dirty="0"/>
          </a:p>
        </p:txBody>
      </p:sp>
      <p:sp>
        <p:nvSpPr>
          <p:cNvPr id="59" name="Shape 53"/>
          <p:cNvSpPr/>
          <p:nvPr/>
        </p:nvSpPr>
        <p:spPr>
          <a:xfrm>
            <a:off x="9203207" y="3709551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203207" y="370955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9532391" y="3691263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Inputs: file for a person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4" name="Text 58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gives SDO / SXO / OPS O rows; the pencil in the menu edits the templates.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sims + Block adds BRIEF, BOX and DEBRIEF rows together.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Inputs on the Ground Programme files an input for a person and lands his row ("Input added to the Ground Programme").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and Unavailable have their own + Add for leave, medical and SANS.</a:t>
            </a:r>
            <a:endParaRPr lang="en-US" sz="1100" dirty="0"/>
          </a:p>
        </p:txBody>
      </p:sp>
      <p:sp>
        <p:nvSpPr>
          <p:cNvPr id="66" name="Text 60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7" name="Text 61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Block offers the duty templates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DutyTplModal.test.tsx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duty template: rows, new, delete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boardaddinput.test.tsx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adding an input through the board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dutytpl.test.ts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template copies onto the day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7 / 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4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to put a person on a seat (1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work on the week and on the board, unless it says.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from the crew list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9927" y="1874520"/>
            <a:ext cx="224813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C:\Users\User\AppData\Local\Temp\claude\C--Users-User-projects-Raptor--claude-worktrees-docs-rulings-slim-down-e83c74\bd625616-9217-44be-8d31-64893dff3b57\scratchpad\shots3\.deck\puck-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59" y="1901952"/>
            <a:ext cx="2193266" cy="16459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308448" y="2432822"/>
            <a:ext cx="351268" cy="122236"/>
          </a:xfrm>
          <a:prstGeom prst="roundRect">
            <a:avLst>
              <a:gd name="adj" fmla="val 299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87148" y="23704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87148" y="23704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6934" y="2929703"/>
            <a:ext cx="677346" cy="122236"/>
          </a:xfrm>
          <a:prstGeom prst="roundRect">
            <a:avLst>
              <a:gd name="adj" fmla="val 299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6934" y="307022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6934" y="307022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a name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86384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 + ADD or a seat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345104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36544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seat, then a name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527831" y="1874520"/>
            <a:ext cx="224813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1" descr="C:\Users\User\AppData\Local\Temp\claude\C--Users-User-projects-Raptor--claude-worktrees-docs-rulings-slim-down-e83c74\bd625616-9217-44be-8d31-64893dff3b57\scratchpad\shots3\.deck\puck-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263" y="1901952"/>
            <a:ext cx="2193266" cy="164592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3754837" y="2727845"/>
            <a:ext cx="677346" cy="122236"/>
          </a:xfrm>
          <a:prstGeom prst="roundRect">
            <a:avLst>
              <a:gd name="adj" fmla="val 299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754837" y="286836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754837" y="286836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196352" y="2599743"/>
            <a:ext cx="351268" cy="122236"/>
          </a:xfrm>
          <a:prstGeom prst="roundRect">
            <a:avLst>
              <a:gd name="adj" fmla="val 299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575052" y="253741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575052" y="253741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345104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345104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3674288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arms, list narrows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3345104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345104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3674288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free name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6233008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324448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 or ALL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6415595" y="1874520"/>
            <a:ext cx="224841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8" name="Image 2" descr="C:\Users\User\AppData\Local\Temp\claude\C--Users-User-projects-Raptor--claude-worktrees-docs-rulings-slim-down-e83c74\bd625616-9217-44be-8d31-64893dff3b57\scratchpad\shots3\.deck\puck-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27" y="1901952"/>
            <a:ext cx="2193546" cy="1645920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7801384" y="2368896"/>
            <a:ext cx="763752" cy="109643"/>
          </a:xfrm>
          <a:prstGeom prst="roundRect">
            <a:avLst>
              <a:gd name="adj" fmla="val 3335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592568" y="230027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592568" y="23002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671620" y="2995623"/>
            <a:ext cx="544702" cy="109643"/>
          </a:xfrm>
          <a:prstGeom prst="roundRect">
            <a:avLst>
              <a:gd name="adj" fmla="val 3335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6671620" y="312355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6671620" y="312355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623300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23300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2"/>
          <p:cNvSpPr txBox="1"/>
          <p:nvPr/>
        </p:nvSpPr>
        <p:spPr>
          <a:xfrm>
            <a:off x="6562192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placeholder, dragged in</a:t>
            </a:r>
            <a:endParaRPr lang="en-US" sz="1150" dirty="0"/>
          </a:p>
        </p:txBody>
      </p:sp>
      <p:sp>
        <p:nvSpPr>
          <p:cNvPr id="58" name="Shape 53"/>
          <p:cNvSpPr/>
          <p:nvPr/>
        </p:nvSpPr>
        <p:spPr>
          <a:xfrm>
            <a:off x="623300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623300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6562192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seat but a jet's</a:t>
            </a:r>
            <a:endParaRPr lang="en-US" sz="1150" dirty="0"/>
          </a:p>
        </p:txBody>
      </p:sp>
      <p:sp>
        <p:nvSpPr>
          <p:cNvPr id="61" name="Shape 56"/>
          <p:cNvSpPr/>
          <p:nvPr/>
        </p:nvSpPr>
        <p:spPr>
          <a:xfrm>
            <a:off x="9120911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9212351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D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to seat, or day to day</a:t>
            </a:r>
            <a:endParaRPr lang="en-US" sz="1200" dirty="0"/>
          </a:p>
        </p:txBody>
      </p:sp>
      <p:sp>
        <p:nvSpPr>
          <p:cNvPr id="63" name="Shape 58"/>
          <p:cNvSpPr/>
          <p:nvPr/>
        </p:nvSpPr>
        <p:spPr>
          <a:xfrm>
            <a:off x="9303859" y="1874520"/>
            <a:ext cx="224768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4" name="Image 3" descr="C:\Users\User\AppData\Local\Temp\claude\C--Users-User-projects-Raptor--claude-worktrees-docs-rulings-slim-down-e83c74\bd625616-9217-44be-8d31-64893dff3b57\scratchpad\shots3\.deck\puck-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291" y="1901952"/>
            <a:ext cx="2192824" cy="1645920"/>
          </a:xfrm>
          <a:prstGeom prst="rect">
            <a:avLst/>
          </a:prstGeom>
        </p:spPr>
      </p:pic>
      <p:sp>
        <p:nvSpPr>
          <p:cNvPr id="65" name="Shape 59"/>
          <p:cNvSpPr/>
          <p:nvPr/>
        </p:nvSpPr>
        <p:spPr>
          <a:xfrm>
            <a:off x="9454650" y="2758667"/>
            <a:ext cx="256726" cy="103073"/>
          </a:xfrm>
          <a:prstGeom prst="roundRect">
            <a:avLst>
              <a:gd name="adj" fmla="val 3548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9454650" y="288002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9454650" y="288002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8" name="Shape 62"/>
          <p:cNvSpPr/>
          <p:nvPr/>
        </p:nvSpPr>
        <p:spPr>
          <a:xfrm>
            <a:off x="10923478" y="2586132"/>
            <a:ext cx="475488" cy="103073"/>
          </a:xfrm>
          <a:prstGeom prst="roundRect">
            <a:avLst>
              <a:gd name="adj" fmla="val 3548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0923478" y="270749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10923478" y="27074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1" name="Shape 65"/>
          <p:cNvSpPr/>
          <p:nvPr/>
        </p:nvSpPr>
        <p:spPr>
          <a:xfrm>
            <a:off x="9120911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9120911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67"/>
          <p:cNvSpPr txBox="1"/>
          <p:nvPr/>
        </p:nvSpPr>
        <p:spPr>
          <a:xfrm>
            <a:off x="9450095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puck already on</a:t>
            </a:r>
            <a:endParaRPr lang="en-US" sz="1150" dirty="0"/>
          </a:p>
        </p:txBody>
      </p:sp>
      <p:sp>
        <p:nvSpPr>
          <p:cNvPr id="74" name="Shape 68"/>
          <p:cNvSpPr/>
          <p:nvPr/>
        </p:nvSpPr>
        <p:spPr>
          <a:xfrm>
            <a:off x="9120911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9120911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6" name="Text 70"/>
          <p:cNvSpPr txBox="1"/>
          <p:nvPr/>
        </p:nvSpPr>
        <p:spPr>
          <a:xfrm>
            <a:off x="9450095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an empty seat: he moves</a:t>
            </a:r>
            <a:endParaRPr lang="en-US" sz="1150" dirty="0"/>
          </a:p>
        </p:txBody>
      </p:sp>
      <p:sp>
        <p:nvSpPr>
          <p:cNvPr id="77" name="Shape 71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9" name="Text 73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80" name="Text 74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 name leaves the FREE count (it drops by one) and Undo lights up.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an empty seat rings it and strikes the names who are not free, with their reason.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a jet seat is refused: "ALL — cannot crew a jet…".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Dragging a puck to another day moves him (week only); onto another puck swaps the two.</a:t>
            </a:r>
            <a:endParaRPr lang="en-US" sz="1100" dirty="0"/>
          </a:p>
        </p:txBody>
      </p:sp>
      <p:sp>
        <p:nvSpPr>
          <p:cNvPr id="81" name="Text 75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2" name="Text 76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e2e/geometry.spec.ts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real mouse drag lands on the pointer machine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roster to seat, swaps, drag-off removes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editweek.test.tsx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arm a seat, then plant a name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palette.test.ts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crew list carries ALL AVAIL and ALL</a:t>
            </a:r>
            <a:endParaRPr lang="en-US" sz="1000" dirty="0"/>
          </a:p>
        </p:txBody>
      </p:sp>
      <p:sp>
        <p:nvSpPr>
          <p:cNvPr id="83" name="Text 77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8 / 42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5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to put a person on a seat (2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 on a name first does not place him — it lights every copy of him. The search box only highlights.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Inputs on the 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1621" y="1874520"/>
            <a:ext cx="2627376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C:\Users\User\AppData\Local\Temp\claude\C--Users-User-projects-Raptor--claude-worktrees-docs-rulings-slim-down-e83c74\bd625616-9217-44be-8d31-64893dff3b57\scratchpad\shots3\.deck\inputs-w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53" y="1901952"/>
            <a:ext cx="2572512" cy="192938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427681" y="2584535"/>
            <a:ext cx="327568" cy="142613"/>
          </a:xfrm>
          <a:prstGeom prst="roundRect">
            <a:avLst>
              <a:gd name="adj" fmla="val 2564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27681" y="274543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27681" y="274543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type, times, Add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personal input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82160" y="1874520"/>
            <a:ext cx="2627376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1" descr="C:\Users\User\AppData\Local\Temp\claude\C--Users-User-projects-Raptor--claude-worktrees-docs-rulings-slim-down-e83c74\bd625616-9217-44be-8d31-64893dff3b57\scratchpad\shots3\.deck\puck-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92" y="1901952"/>
            <a:ext cx="2572512" cy="192938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924588" y="2792435"/>
            <a:ext cx="291615" cy="146696"/>
          </a:xfrm>
          <a:prstGeom prst="roundRect">
            <a:avLst>
              <a:gd name="adj" fmla="val 2493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650268" y="274233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650268" y="274233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puts him on the day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files an activity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632698" y="1874520"/>
            <a:ext cx="2627376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2" descr="C:\Users\User\AppData\Local\Temp\claude\C--Users-User-projects-Raptor--claude-worktrees-docs-rulings-slim-down-e83c74\bd625616-9217-44be-8d31-64893dff3b57\scratchpad\shots3\.deck\input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130" y="1901952"/>
            <a:ext cx="2572512" cy="1929384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8720001" y="2147584"/>
            <a:ext cx="2457363" cy="188040"/>
          </a:xfrm>
          <a:prstGeom prst="roundRect">
            <a:avLst>
              <a:gd name="adj" fmla="val 1945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158277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on the day by itself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42" name="Text 37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input (a meeting, an appointment) lands on its day by itself; UNDO takes it off, ACCEPT puts it back.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published day a landed input reads as a pending change instead.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 template, switching plans and Undo also put pucks back — whole-day copies.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boardaddinput.test.tsx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adding through the board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and unaccept an input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inputground.test.ts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activity lands on its day by itself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9 / 42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6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off, cancel, put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to remove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9280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off-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12" y="1901952"/>
            <a:ext cx="219456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366187" y="2715441"/>
            <a:ext cx="354003" cy="122791"/>
          </a:xfrm>
          <a:prstGeom prst="roundRect">
            <a:avLst>
              <a:gd name="adj" fmla="val 2978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47623" y="26533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47623" y="2653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puck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45104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36544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it off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527508" y="1874520"/>
            <a:ext cx="224877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1" descr="C:\Users\User\AppData\Local\Temp\claude\C--Users-User-projects-Raptor--claude-worktrees-docs-rulings-slim-down-e83c74\bd625616-9217-44be-8d31-64893dff3b57\scratchpad\shots3\.deck\off-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940" y="1901952"/>
            <a:ext cx="2193912" cy="16459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638862" y="3118962"/>
            <a:ext cx="207807" cy="93157"/>
          </a:xfrm>
          <a:prstGeom prst="roundRect">
            <a:avLst>
              <a:gd name="adj" fmla="val 3926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38862" y="323040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638862" y="323040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56454" y="3319601"/>
            <a:ext cx="207807" cy="93157"/>
          </a:xfrm>
          <a:prstGeom prst="roundRect">
            <a:avLst>
              <a:gd name="adj" fmla="val 3926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345104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345104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3674288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the crew list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3345104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674288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free list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33008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24448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Cancel, not delete (board)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415088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2" descr="C:\Users\User\AppData\Local\Temp\claude\C--Users-User-projects-Raptor--claude-worktrees-docs-rulings-slim-down-e83c74\bd625616-9217-44be-8d31-64893dff3b57\scratchpad\shots3\.deck\off-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520" y="1901952"/>
            <a:ext cx="2194560" cy="164592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551105" y="2666655"/>
            <a:ext cx="200257" cy="156591"/>
          </a:xfrm>
          <a:prstGeom prst="roundRect">
            <a:avLst>
              <a:gd name="adj" fmla="val 2335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551105" y="240147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551105" y="240147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7575143" y="2810673"/>
            <a:ext cx="370421" cy="160020"/>
          </a:xfrm>
          <a:prstGeom prst="roundRect">
            <a:avLst>
              <a:gd name="adj" fmla="val 2285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575143" y="298898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575143" y="298898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23300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23300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6562192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reason: WX, OPS, LOGS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623300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23300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6562192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line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9120911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9212351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D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rows in order (board)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9302991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4" name="Image 3" descr="C:\Users\User\AppData\Local\Temp\claude\C--Users-User-projects-Raptor--claude-worktrees-docs-rulings-slim-down-e83c74\bd625616-9217-44be-8d31-64893dff3b57\scratchpad\shots3\.deck\off-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423" y="1901952"/>
            <a:ext cx="2194560" cy="1645920"/>
          </a:xfrm>
          <a:prstGeom prst="rect">
            <a:avLst/>
          </a:prstGeom>
        </p:spPr>
      </p:pic>
      <p:sp>
        <p:nvSpPr>
          <p:cNvPr id="55" name="Shape 49"/>
          <p:cNvSpPr/>
          <p:nvPr/>
        </p:nvSpPr>
        <p:spPr>
          <a:xfrm>
            <a:off x="10960227" y="2341169"/>
            <a:ext cx="250393" cy="106680"/>
          </a:xfrm>
          <a:prstGeom prst="roundRect">
            <a:avLst>
              <a:gd name="adj" fmla="val 3428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0960227" y="246613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10960227" y="246613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9120911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9120911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Text 54"/>
          <p:cNvSpPr txBox="1"/>
          <p:nvPr/>
        </p:nvSpPr>
        <p:spPr>
          <a:xfrm>
            <a:off x="9450095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sort by start time</a:t>
            </a:r>
            <a:endParaRPr lang="en-US" sz="1150" dirty="0"/>
          </a:p>
        </p:txBody>
      </p:sp>
      <p:sp>
        <p:nvSpPr>
          <p:cNvPr id="61" name="Shape 55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3" name="Text 57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removes with a toast ("Trident removed"); Undo brings him back.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keeps the line and prints "CX DUE WX"; Un-cancel restores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sort puts one section in time order; Sort all asks first, then sorts the day in one undo.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row's grip drags it up or down; a section's ⠿ grip moves the whole section (display only).</a:t>
            </a:r>
            <a:endParaRPr lang="en-US" sz="1100" dirty="0"/>
          </a:p>
        </p:txBody>
      </p:sp>
      <p:sp>
        <p:nvSpPr>
          <p:cNvPr id="65" name="Text 59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6" name="Text 60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drag-off removes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 sort and Sort all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rowdrag.test.tsx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dragging rows, waves and sections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audit-d-sortall-undo.test.tsx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Sort all is one undo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10 / 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 ·  7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day: the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the Scheduler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701" y="1298448"/>
            <a:ext cx="2798064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issue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133" y="1325880"/>
            <a:ext cx="2743200" cy="2057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59013" y="1587790"/>
            <a:ext cx="2660251" cy="215864"/>
          </a:xfrm>
          <a:prstGeom prst="roundRect">
            <a:avLst>
              <a:gd name="adj" fmla="val 1694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013" y="182194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013" y="182194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8202" y="1773936"/>
            <a:ext cx="2581874" cy="282760"/>
          </a:xfrm>
          <a:prstGeom prst="roundRect">
            <a:avLst>
              <a:gd name="adj" fmla="val 1293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33418" y="22082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"N issues · tap to review"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issue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96816" y="1298448"/>
            <a:ext cx="2798064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1" descr="C:\Users\User\AppData\Local\Temp\claude\C--Users-User-projects-Raptor--claude-worktrees-docs-rulings-slim-down-e83c74\bd625616-9217-44be-8d31-64893dff3b57\scratchpad\shots3\.deck\issues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1325880"/>
            <a:ext cx="2743200" cy="2057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920533" y="22082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426610" y="363931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673498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 issue: the week jumps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426610" y="3950208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673498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puck and lights it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583930" y="1298448"/>
            <a:ext cx="2798064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2" descr="C:\Users\User\AppData\Local\Temp\claude\C--Users-User-projects-Raptor--claude-worktrees-docs-rulings-slim-down-e83c74\bd625616-9217-44be-8d31-64893dff3b57\scratchpad\shots3\.deck\issue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62" y="1325880"/>
            <a:ext cx="2743200" cy="205740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313725" y="363931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560613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 the list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8313725" y="3950208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560613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open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opens the day's list; tap it again to fold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an issue scrolls to the puck and lights its crew in the warning colours.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✕ on an issue hides it on both the week and the board; Undo shows it again.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warnjump.test.tsx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issue click scrolls to the puck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issues bar opens and folds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warnmute-week.test.ts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hide, both surfaces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11 / 42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publish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61699" y="1350378"/>
            <a:ext cx="532833" cy="208653"/>
          </a:xfrm>
          <a:prstGeom prst="roundRect">
            <a:avLst>
              <a:gd name="adj" fmla="val 175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1699" y="108520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61699" y="108520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40079" y="1596727"/>
            <a:ext cx="353439" cy="190572"/>
          </a:xfrm>
          <a:prstGeom prst="roundRect">
            <a:avLst>
              <a:gd name="adj" fmla="val 1919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0079" y="180558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40079" y="1805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61640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Edit Schedule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week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45104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publish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89846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390254" y="1673569"/>
            <a:ext cx="2459691" cy="393979"/>
          </a:xfrm>
          <a:prstGeom prst="roundRect">
            <a:avLst>
              <a:gd name="adj" fmla="val 928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390254" y="14083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390254" y="1408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894745" y="1474682"/>
            <a:ext cx="465737" cy="177012"/>
          </a:xfrm>
          <a:prstGeom prst="roundRect">
            <a:avLst>
              <a:gd name="adj" fmla="val 2066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3594" y="120950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113594" y="120950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76976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372536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372536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3701720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four sign-off names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3372536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372536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3701720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Publish day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3" name="Image 2" descr="C:\Users\User\AppData\Local\Temp\claude\C--Users-User-projects-Raptor--claude-worktrees-docs-rulings-slim-down-e83c74\bd625616-9217-44be-8d31-64893dff3b57\scratchpad\shots3\.deck\publish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8219028" y="2374193"/>
            <a:ext cx="306896" cy="136331"/>
          </a:xfrm>
          <a:prstGeom prst="roundRect">
            <a:avLst>
              <a:gd name="adj" fmla="val 2682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810081" y="2491718"/>
            <a:ext cx="381832" cy="163451"/>
          </a:xfrm>
          <a:prstGeom prst="roundRect">
            <a:avLst>
              <a:gd name="adj" fmla="val 2237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892311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287872" y="344380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6617056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wears ORIG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6287872" y="375469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617056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 appears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9175775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2" name="Image 3" descr="C:\Users\User\AppData\Local\Temp\claude\C--Users-User-projects-Raptor--claude-worktrees-docs-rulings-slim-down-e83c74\bd625616-9217-44be-8d31-64893dff3b57\scratchpad\shots3\.deck\publish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8466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10176091" y="1967379"/>
            <a:ext cx="306896" cy="136331"/>
          </a:xfrm>
          <a:prstGeom prst="roundRect">
            <a:avLst>
              <a:gd name="adj" fmla="val 2682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0721617" y="1949299"/>
            <a:ext cx="845995" cy="177012"/>
          </a:xfrm>
          <a:prstGeom prst="roundRect">
            <a:avLst>
              <a:gd name="adj" fmla="val 2066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203207" y="344380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532391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Sched shows ORIG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9203207" y="375469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532391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"Original — as issued"</a:t>
            </a:r>
            <a:endParaRPr lang="en-US" sz="1300" dirty="0"/>
          </a:p>
        </p:txBody>
      </p:sp>
      <p:sp>
        <p:nvSpPr>
          <p:cNvPr id="59" name="Shape 53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1" name="Text 55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day stays locked until all four names are picked; its hover hint names who is missing.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publishing: the ORIG tag, the signed line, and "Monday published — APPROVED".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(us / us) sees the issued day on View-only Sched and has no Edit Schedule.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page: the day is still published.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anything after signing: the names clear and Publish locks again.</a:t>
            </a:r>
            <a:endParaRPr lang="en-US" sz="1100" dirty="0"/>
          </a:p>
        </p:txBody>
      </p:sp>
      <p:sp>
        <p:nvSpPr>
          <p:cNvPr id="63" name="Text 57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pubsweep.test.tsx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sign, publish, ORIG, what viewers see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four sign-off roles; three of four stays locked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signbind.test.ts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edit after signing clears the names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unpublish-button.test.tsx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Unpublish shows only where it should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am-01-basics.mjs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walk script: the same, in a real browser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12 / 42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 a published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(or the board)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amend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388357" y="1357158"/>
            <a:ext cx="306896" cy="136331"/>
          </a:xfrm>
          <a:prstGeom prst="roundRect">
            <a:avLst>
              <a:gd name="adj" fmla="val 2682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79410" y="1474682"/>
            <a:ext cx="381832" cy="163451"/>
          </a:xfrm>
          <a:prstGeom prst="roundRect">
            <a:avLst>
              <a:gd name="adj" fmla="val 2237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61640" y="212996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44612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338211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ORIG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75701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" y="369300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Sign-offs empty again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45104" y="1298448"/>
            <a:ext cx="2586152" cy="19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1" descr="C:\Users\User\AppData\Local\Temp\claude\C--Users-User-projects-Raptor--claude-worktrees-docs-rulings-slim-down-e83c74\bd625616-9217-44be-8d31-64893dff3b57\scratchpad\shots3\.deck\amend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90078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066799" y="2888680"/>
            <a:ext cx="267995" cy="142821"/>
          </a:xfrm>
          <a:prstGeom prst="roundRect">
            <a:avLst>
              <a:gd name="adj" fmla="val 2561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62226" y="283664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362226" y="283664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525757" y="1648534"/>
            <a:ext cx="403817" cy="147457"/>
          </a:xfrm>
          <a:prstGeom prst="roundRect">
            <a:avLst>
              <a:gd name="adj" fmla="val 2480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07887" y="1516407"/>
            <a:ext cx="442499" cy="128913"/>
          </a:xfrm>
          <a:prstGeom prst="roundRect">
            <a:avLst>
              <a:gd name="adj" fmla="val 2837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76976" y="212996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372536" y="34004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372536" y="3400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3701720" y="338211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3372536" y="375701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701720" y="369300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pending", "Not yet signed"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2" descr="C:\Users\User\AppData\Local\Temp\claude\C--Users-User-projects-Raptor--claude-worktrees-docs-rulings-slim-down-e83c74\bd625616-9217-44be-8d31-64893dff3b57\scratchpad\shots3\.deck\amend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6269584" y="2259089"/>
            <a:ext cx="2567864" cy="530634"/>
          </a:xfrm>
          <a:prstGeom prst="roundRect">
            <a:avLst>
              <a:gd name="adj" fmla="val 689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69584" y="280801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269584" y="28080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513151" y="1805247"/>
            <a:ext cx="639101" cy="223812"/>
          </a:xfrm>
          <a:prstGeom prst="roundRect">
            <a:avLst>
              <a:gd name="adj" fmla="val 1634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179684" y="179370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179684" y="179370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892311" y="212996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287872" y="34004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287872" y="3400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6617056" y="338211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four again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6287872" y="371129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287872" y="37112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617056" y="369300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AL1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9175775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0" name="Image 3" descr="C:\Users\User\AppData\Local\Temp\claude\C--Users-User-projects-Raptor--claude-worktrees-docs-rulings-slim-down-e83c74\bd625616-9217-44be-8d31-64893dff3b57\scratchpad\shots3\.deck\amend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8466"/>
          </a:xfrm>
          <a:prstGeom prst="rect">
            <a:avLst/>
          </a:prstGeom>
        </p:spPr>
      </p:pic>
      <p:sp>
        <p:nvSpPr>
          <p:cNvPr id="51" name="Shape 45"/>
          <p:cNvSpPr/>
          <p:nvPr/>
        </p:nvSpPr>
        <p:spPr>
          <a:xfrm>
            <a:off x="11219399" y="1384279"/>
            <a:ext cx="221860" cy="136331"/>
          </a:xfrm>
          <a:prstGeom prst="roundRect">
            <a:avLst>
              <a:gd name="adj" fmla="val 2682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9751408" y="1497283"/>
            <a:ext cx="381832" cy="163451"/>
          </a:xfrm>
          <a:prstGeom prst="roundRect">
            <a:avLst>
              <a:gd name="adj" fmla="val 2237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9751408" y="167902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751408" y="16790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9203207" y="344612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532391" y="338211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wears AL1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9203207" y="371129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203207" y="37112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9532391" y="369300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 takes it back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on a published day shows "1 pending" and "Not yet signed"; Publish AL1 stays locked until all four sign.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changed detail carries a pending mark; after publishing it wears a solid AL1 tag.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change after signing drops all four names again.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Unpublish: "AL1 withdrawn — its changes are back on the working copy as pending".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keep seeing the issued version until AL1 goes out.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editweek.test.tsx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edit grows the AL button, gated on signing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amendretest.test.tsx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yet signed / Not yet published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publish-commit.test.ts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Original, then each AL recorded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unpublish-commit.test.ts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Unpublish re-opens only what differs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e2e/amendbatch.spec.ts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changed puck wears its ALn tag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13 / 42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plans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— the plan selector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9234" y="1298448"/>
            <a:ext cx="2387221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plan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666" y="1325880"/>
            <a:ext cx="2332357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52042" y="1459683"/>
            <a:ext cx="739932" cy="185600"/>
          </a:xfrm>
          <a:prstGeom prst="roundRect">
            <a:avLst>
              <a:gd name="adj" fmla="val 1970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19406" y="142903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19406" y="142903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6534" y="2605827"/>
            <a:ext cx="1832620" cy="229815"/>
          </a:xfrm>
          <a:prstGeom prst="roundRect">
            <a:avLst>
              <a:gd name="adj" fmla="val 1591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66586" y="259729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66586" y="25972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6534" y="2390277"/>
            <a:ext cx="1832620" cy="229815"/>
          </a:xfrm>
          <a:prstGeom prst="roundRect">
            <a:avLst>
              <a:gd name="adj" fmla="val 1591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plan selector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Alt Plan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versions: look only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plans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823429" y="1877879"/>
            <a:ext cx="1556119" cy="210773"/>
          </a:xfrm>
          <a:prstGeom prst="roundRect">
            <a:avLst>
              <a:gd name="adj" fmla="val 1735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06980" y="185982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06980" y="185982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823429" y="2049104"/>
            <a:ext cx="1556119" cy="210773"/>
          </a:xfrm>
          <a:prstGeom prst="roundRect">
            <a:avLst>
              <a:gd name="adj" fmla="val 1735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plan to make it live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3372536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plan is marked ●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3" name="Image 2" descr="C:\Users\User\AppData\Local\Temp\claude\C--Users-User-projects-Raptor--claude-worktrees-docs-rulings-slim-down-e83c74\bd625616-9217-44be-8d31-64893dff3b57\scratchpad\shots3\.deck\plan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7355763" y="1339618"/>
            <a:ext cx="322020" cy="155492"/>
          </a:xfrm>
          <a:prstGeom prst="roundRect">
            <a:avLst>
              <a:gd name="adj" fmla="val 2352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287872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now shows Plan A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6370168" y="363931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617056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mark as the next AL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1" name="Image 3" descr="C:\Users\User\AppData\Local\Temp\claude\C--Users-User-projects-Raptor--claude-worktrees-docs-rulings-slim-down-e83c74\bd625616-9217-44be-8d31-64893dff3b57\scratchpad\shots3\.deck\plans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9354089" y="2068864"/>
            <a:ext cx="506196" cy="145586"/>
          </a:xfrm>
          <a:prstGeom prst="roundRect">
            <a:avLst>
              <a:gd name="adj" fmla="val 2512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9354089" y="223273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354089" y="223273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10701453" y="2183814"/>
            <a:ext cx="600346" cy="145586"/>
          </a:xfrm>
          <a:prstGeom prst="roundRect">
            <a:avLst>
              <a:gd name="adj" fmla="val 2512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0701453" y="234768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10701453" y="23476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9203207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9203207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54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live copy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9203207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9203207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57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onto working copy</a:t>
            </a:r>
            <a:endParaRPr lang="en-US" sz="1300" dirty="0"/>
          </a:p>
        </p:txBody>
      </p:sp>
      <p:sp>
        <p:nvSpPr>
          <p:cNvPr id="64" name="Shape 58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6" name="Text 60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7" name="Text 61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Alt Plan renames the current day to Plan A and makes Plan B the live day.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is plain editing: on a published day the differences show as pending marks, no review screen.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toast says how the plan compares with what was issued ("matches Original — nothing pending").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rows only look; Load onto working copy asks first if edits are pending.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Manage plans renames or deletes a plan.</a:t>
            </a:r>
            <a:endParaRPr lang="en-US" sz="1100" dirty="0"/>
          </a:p>
        </p:txBody>
      </p:sp>
      <p:sp>
        <p:nvSpPr>
          <p:cNvPr id="68" name="Text 62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planselector.test.tsx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label states, switch, preview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menu, + Alt Plan, a published switch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editweek.test.tsx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preview a version, load onto working copy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plans kept per day</a:t>
            </a:r>
            <a:endParaRPr lang="en-US" sz="1000" dirty="0"/>
          </a:p>
        </p:txBody>
      </p:sp>
      <p:sp>
        <p:nvSpPr>
          <p:cNvPr id="70" name="Text 6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14 / 42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6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schedule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Sched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read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4299" y="1329472"/>
            <a:ext cx="214303" cy="182662"/>
          </a:xfrm>
          <a:prstGeom prst="roundRect">
            <a:avLst>
              <a:gd name="adj" fmla="val 200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4299" y="10642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4299" y="10642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48112" y="1333427"/>
            <a:ext cx="309350" cy="174752"/>
          </a:xfrm>
          <a:prstGeom prst="roundRect">
            <a:avLst>
              <a:gd name="adj" fmla="val 20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8112" y="152646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48112" y="152646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63218" y="1333427"/>
            <a:ext cx="317260" cy="174752"/>
          </a:xfrm>
          <a:prstGeom prst="roundRect">
            <a:avLst>
              <a:gd name="adj" fmla="val 2093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61640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 date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70897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708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tap a week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345104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C:\Users\User\AppData\Local\Temp\claude\C--Users-User-projects-Raptor--claude-worktrees-docs-rulings-slim-down-e83c74\bd625616-9217-44be-8d31-64893dff3b57\scratchpad\shots3\.deck\read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898466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195954" y="2320234"/>
            <a:ext cx="329558" cy="214303"/>
          </a:xfrm>
          <a:prstGeom prst="roundRect">
            <a:avLst>
              <a:gd name="adj" fmla="val 1706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195954" y="205505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195954" y="205505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976976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372536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372536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3701720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day to go to it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2" descr="C:\Users\User\AppData\Local\Temp\claude\C--Users-User-projects-Raptor--claude-worktrees-docs-rulings-slim-down-e83c74\bd625616-9217-44be-8d31-64893dff3b57\scratchpad\shots3\.deck\read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391472" y="1483723"/>
            <a:ext cx="845995" cy="177012"/>
          </a:xfrm>
          <a:prstGeom prst="roundRect">
            <a:avLst>
              <a:gd name="adj" fmla="val 2066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91472" y="167902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391472" y="16790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7570315" y="1490503"/>
            <a:ext cx="469339" cy="163451"/>
          </a:xfrm>
          <a:prstGeom prst="roundRect">
            <a:avLst>
              <a:gd name="adj" fmla="val 2237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892311" y="2128809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287872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6287872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6617056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day: its versions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6287872" y="375469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6617056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draft, stamped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9175775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0" name="Image 3" descr="C:\Users\User\AppData\Local\Temp\claude\C--Users-User-projects-Raptor--claude-worktrees-docs-rulings-slim-down-e83c74\bd625616-9217-44be-8d31-64893dff3b57\scratchpad\shots3\.deck\read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8466"/>
          </a:xfrm>
          <a:prstGeom prst="rect">
            <a:avLst/>
          </a:prstGeom>
        </p:spPr>
      </p:pic>
      <p:sp>
        <p:nvSpPr>
          <p:cNvPr id="51" name="Shape 45"/>
          <p:cNvSpPr/>
          <p:nvPr/>
        </p:nvSpPr>
        <p:spPr>
          <a:xfrm>
            <a:off x="9257086" y="1673569"/>
            <a:ext cx="2459691" cy="204133"/>
          </a:xfrm>
          <a:prstGeom prst="roundRect">
            <a:avLst>
              <a:gd name="adj" fmla="val 1791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9257086" y="14083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9257086" y="1408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9293248" y="1845335"/>
            <a:ext cx="2387369" cy="265861"/>
          </a:xfrm>
          <a:prstGeom prst="roundRect">
            <a:avLst>
              <a:gd name="adj" fmla="val 1375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203207" y="339808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203207" y="3398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9532391" y="337979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issues bar</a:t>
            </a:r>
            <a:endParaRPr lang="en-US" sz="1300" dirty="0"/>
          </a:p>
        </p:txBody>
      </p:sp>
      <p:sp>
        <p:nvSpPr>
          <p:cNvPr id="58" name="Shape 52"/>
          <p:cNvSpPr/>
          <p:nvPr/>
        </p:nvSpPr>
        <p:spPr>
          <a:xfrm>
            <a:off x="9203207" y="375469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9532391" y="369069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checks found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member's top bar has no Edit Schedule and no Admin.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day opens on "Original — as issued"; "Working draft — not issued" shows the live copy under a stamp.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unpublished day shows DRAFT and no version picker.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issues bar opens and folds the list.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issued by default; working copy under a banner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issues bar opens and folds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weeknav.test.ts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week picker and its window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phone menu's calendar and Today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15 / 42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6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move about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Sched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arrows (desktop)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3686" y="1874520"/>
            <a:ext cx="2080612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read-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18" y="1901952"/>
            <a:ext cx="2025748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599261" y="2037705"/>
            <a:ext cx="184287" cy="285574"/>
          </a:xfrm>
          <a:prstGeom prst="roundRect">
            <a:avLst>
              <a:gd name="adj" fmla="val 1984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24941" y="205704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4941" y="20570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78982" y="3446233"/>
            <a:ext cx="298235" cy="95660"/>
          </a:xfrm>
          <a:prstGeom prst="roundRect">
            <a:avLst>
              <a:gd name="adj" fmla="val 3823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press, one day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"Day 2–4 of 7"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45104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36544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Next-week preview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527184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read-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616" y="1901952"/>
            <a:ext cx="2194560" cy="16459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920376" y="2178558"/>
            <a:ext cx="1847088" cy="101727"/>
          </a:xfrm>
          <a:prstGeom prst="roundRect">
            <a:avLst>
              <a:gd name="adj" fmla="val 359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920376" y="191338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920376" y="19133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345104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345104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3674288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greyed day to load it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33008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24448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swipe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7132090" y="1874520"/>
            <a:ext cx="815419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2" descr="C:\Users\User\AppData\Local\Temp\claude\C--Users-User-projects-Raptor--claude-worktrees-docs-rulings-slim-down-e83c74\bd625616-9217-44be-8d31-64893dff3b57\scratchpad\shots3\.deck\read-p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522" y="1901952"/>
            <a:ext cx="760555" cy="164592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7141234" y="2105915"/>
            <a:ext cx="762094" cy="227820"/>
          </a:xfrm>
          <a:prstGeom prst="roundRect">
            <a:avLst>
              <a:gd name="adj" fmla="val 1605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15304" y="373989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562192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fills the screen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233008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562192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the next day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9120911" y="1481328"/>
            <a:ext cx="2613584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212351" y="1481328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D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the menu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10019994" y="1874520"/>
            <a:ext cx="815419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3" descr="C:\Users\User\AppData\Local\Temp\claude\C--Users-User-projects-Raptor--claude-worktrees-docs-rulings-slim-down-e83c74\bd625616-9217-44be-8d31-64893dff3b57\scratchpad\shots3\.deck\read-p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26" y="1901952"/>
            <a:ext cx="760555" cy="164592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10042724" y="1887499"/>
            <a:ext cx="126413" cy="122512"/>
          </a:xfrm>
          <a:prstGeom prst="roundRect">
            <a:avLst>
              <a:gd name="adj" fmla="val 2985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0196568" y="182531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0196568" y="182531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10046624" y="2554448"/>
            <a:ext cx="260393" cy="118612"/>
          </a:xfrm>
          <a:prstGeom prst="roundRect">
            <a:avLst>
              <a:gd name="adj" fmla="val 3083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0046624" y="228927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10046624" y="22892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9120911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9120911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0"/>
          <p:cNvSpPr txBox="1"/>
          <p:nvPr/>
        </p:nvSpPr>
        <p:spPr>
          <a:xfrm>
            <a:off x="9450095" y="3639312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9120911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120911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9450095" y="3922776"/>
            <a:ext cx="228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date…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week's end the › arrow crosses into the next week.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next-week day loads that week and lands on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a swipe off Sunday or Monday changes week.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arrows move whole days; the edge crosses weeks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peek day lands and loads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swipeweeks.test.tsx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swipe off the end changes week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16 / 42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7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 input or a medical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input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67854" y="1798444"/>
            <a:ext cx="139783" cy="130323"/>
          </a:xfrm>
          <a:prstGeom prst="roundRect">
            <a:avLst>
              <a:gd name="adj" fmla="val 2806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7854" y="153326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7854" y="15332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33318" y="1746545"/>
            <a:ext cx="490728" cy="167805"/>
          </a:xfrm>
          <a:prstGeom prst="roundRect">
            <a:avLst>
              <a:gd name="adj" fmla="val 2179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33318" y="148136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33318" y="148136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67489" y="1550485"/>
            <a:ext cx="490728" cy="167805"/>
          </a:xfrm>
          <a:prstGeom prst="roundRect">
            <a:avLst>
              <a:gd name="adj" fmla="val 2179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67489" y="128530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67489" y="128530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800403" y="1740779"/>
            <a:ext cx="490728" cy="167805"/>
          </a:xfrm>
          <a:prstGeom prst="roundRect">
            <a:avLst>
              <a:gd name="adj" fmla="val 2179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00403" y="147560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800403" y="14756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67489" y="1740779"/>
            <a:ext cx="490728" cy="167805"/>
          </a:xfrm>
          <a:prstGeom prst="roundRect">
            <a:avLst>
              <a:gd name="adj" fmla="val 2179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67489" y="192687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67489" y="192687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day(s)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7200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Times, if not all day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57200" y="403250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4032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6384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" y="43434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7200" y="4343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786384" y="432511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3543948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6" name="Image 1" descr="C:\Users\User\AppData\Local\Temp\claude\C--Users-User-projects-Raptor--claude-worktrees-docs-rulings-slim-down-e83c74\bd625616-9217-44be-8d31-64893dff3b57\scratchpad\shots3\.deck\inputs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80" y="1325880"/>
            <a:ext cx="2133600" cy="160020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3597041" y="2400411"/>
            <a:ext cx="2126227" cy="206729"/>
          </a:xfrm>
          <a:prstGeom prst="roundRect">
            <a:avLst>
              <a:gd name="adj" fmla="val 1769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372536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 the list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6459284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2" name="Image 2" descr="C:\Users\User\AppData\Local\Temp\claude\C--Users-User-projects-Raptor--claude-worktrees-docs-rulings-slim-down-e83c74\bd625616-9217-44be-8d31-64893dff3b57\scratchpad\shots3\.deck\input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16" y="1325880"/>
            <a:ext cx="2133600" cy="1600200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6530911" y="1524143"/>
            <a:ext cx="2049018" cy="166878"/>
          </a:xfrm>
          <a:prstGeom prst="roundRect">
            <a:avLst>
              <a:gd name="adj" fmla="val 2191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287872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that day's schedule</a:t>
            </a:r>
            <a:endParaRPr lang="en-US" sz="1300" dirty="0"/>
          </a:p>
        </p:txBody>
      </p:sp>
      <p:sp>
        <p:nvSpPr>
          <p:cNvPr id="57" name="Shape 52"/>
          <p:cNvSpPr/>
          <p:nvPr/>
        </p:nvSpPr>
        <p:spPr>
          <a:xfrm>
            <a:off x="9374619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8" name="Image 3" descr="C:\Users\User\AppData\Local\Temp\claude\C--Users-User-projects-Raptor--claude-worktrees-docs-rulings-slim-down-e83c74\bd625616-9217-44be-8d31-64893dff3b57\scratchpad\shots3\.deck\inputs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051" y="1325880"/>
            <a:ext cx="2133600" cy="1600200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9465297" y="1762506"/>
            <a:ext cx="549783" cy="235458"/>
          </a:xfrm>
          <a:prstGeom prst="roundRect">
            <a:avLst>
              <a:gd name="adj" fmla="val 1553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9285503" y="318211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medical, with its document: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3207" y="34564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532391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view shows him</a:t>
            </a:r>
            <a:endParaRPr lang="en-US" sz="1300" dirty="0"/>
          </a:p>
        </p:txBody>
      </p:sp>
      <p:sp>
        <p:nvSpPr>
          <p:cNvPr id="64" name="Shape 58"/>
          <p:cNvSpPr/>
          <p:nvPr/>
        </p:nvSpPr>
        <p:spPr>
          <a:xfrm>
            <a:off x="457200" y="4681728"/>
            <a:ext cx="11277295" cy="1719072"/>
          </a:xfrm>
          <a:prstGeom prst="roundRect">
            <a:avLst>
              <a:gd name="adj" fmla="val 5319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85800" y="4791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6" name="Text 60"/>
          <p:cNvSpPr txBox="1"/>
          <p:nvPr/>
        </p:nvSpPr>
        <p:spPr>
          <a:xfrm>
            <a:off x="685800" y="50932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7" name="Text 61"/>
          <p:cNvSpPr txBox="1"/>
          <p:nvPr/>
        </p:nvSpPr>
        <p:spPr>
          <a:xfrm>
            <a:off x="685800" y="5340096"/>
            <a:ext cx="5989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files for himself only (the person is fixed); an admin picks anyone.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filed less than two weeks ahead wears LATE; a downchit never does.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type asks for its document; adding without one asks first.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button counts "down now" (red) and "owing an upchit" (amber).</a:t>
            </a:r>
            <a:endParaRPr lang="en-US" sz="1100" dirty="0"/>
          </a:p>
        </p:txBody>
      </p:sp>
      <p:sp>
        <p:nvSpPr>
          <p:cNvPr id="68" name="Text 62"/>
          <p:cNvSpPr txBox="1"/>
          <p:nvPr/>
        </p:nvSpPr>
        <p:spPr>
          <a:xfrm>
            <a:off x="6949440" y="5093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6949440" y="5340096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member files for himself; add and delete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docconfirm.test.tsx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medical without a document asks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medicalview.test.tsx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three sections; a card opens its document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e2e/medical.spec.ts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Medical view fits desktop and phone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lateinput.test.ts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LATE mark; downchits never</a:t>
            </a:r>
            <a:endParaRPr lang="en-US" sz="1000" dirty="0"/>
          </a:p>
        </p:txBody>
      </p:sp>
      <p:sp>
        <p:nvSpPr>
          <p:cNvPr id="70" name="Text 6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17 / 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7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file an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51496" y="1874520"/>
            <a:ext cx="158762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inputs-w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928" y="1901952"/>
            <a:ext cx="1532763" cy="13624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874394" y="2382838"/>
            <a:ext cx="741830" cy="123615"/>
          </a:xfrm>
          <a:prstGeom prst="roundRect">
            <a:avLst>
              <a:gd name="adj" fmla="val 2958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74394" y="211766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74394" y="211766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68207" y="2796152"/>
            <a:ext cx="148017" cy="111694"/>
          </a:xfrm>
          <a:prstGeom prst="roundRect">
            <a:avLst>
              <a:gd name="adj" fmla="val 3274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68207" y="253097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68207" y="25309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" y="345643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→ + Input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times, remarks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Inputs on the board (admin)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160112" y="1874520"/>
            <a:ext cx="1871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1" descr="C:\Users\User\AppData\Local\Temp\claude\C--Users-User-projects-Raptor--claude-worktrees-docs-rulings-slim-down-e83c74\bd625616-9217-44be-8d31-64893dff3b57\scratchpad\shots3\.deck\inputs-w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44" y="1901952"/>
            <a:ext cx="1816608" cy="1362456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215228" y="2374561"/>
            <a:ext cx="250124" cy="119515"/>
          </a:xfrm>
          <a:prstGeom prst="roundRect">
            <a:avLst>
              <a:gd name="adj" fmla="val 3060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15228" y="251236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215228" y="251236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307738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307738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4636922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person, that day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through the Leave War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9010650" y="1874520"/>
            <a:ext cx="1871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3" name="Image 2" descr="C:\Users\User\AppData\Local\Temp\claude\C--Users-User-projects-Raptor--claude-worktrees-docs-rulings-slim-down-e83c74\bd625616-9217-44be-8d31-64893dff3b57\scratchpad\shots3\.deck\bid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82" y="1901952"/>
            <a:ext cx="1816608" cy="1362456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9457392" y="2904075"/>
            <a:ext cx="297204" cy="149162"/>
          </a:xfrm>
          <a:prstGeom prst="roundRect">
            <a:avLst>
              <a:gd name="adj" fmla="val 245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9457392" y="263889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457392" y="263889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9461782" y="3006259"/>
            <a:ext cx="165438" cy="149162"/>
          </a:xfrm>
          <a:prstGeom prst="roundRect">
            <a:avLst>
              <a:gd name="adj" fmla="val 245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9461782" y="317370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9461782" y="317370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9213285" y="3108444"/>
            <a:ext cx="1579740" cy="111330"/>
          </a:xfrm>
          <a:prstGeom prst="roundRect">
            <a:avLst>
              <a:gd name="adj" fmla="val 3285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240573" y="345643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487461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bid becomes</a:t>
            </a:r>
            <a:endParaRPr lang="en-US" sz="1150" dirty="0"/>
          </a:p>
        </p:txBody>
      </p:sp>
      <p:sp>
        <p:nvSpPr>
          <p:cNvPr id="53" name="Shape 48"/>
          <p:cNvSpPr/>
          <p:nvPr/>
        </p:nvSpPr>
        <p:spPr>
          <a:xfrm>
            <a:off x="8240573" y="373989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leave input (journey 10)</a:t>
            </a:r>
            <a:endParaRPr lang="en-US" sz="1150" dirty="0"/>
          </a:p>
        </p:txBody>
      </p:sp>
      <p:sp>
        <p:nvSpPr>
          <p:cNvPr id="55" name="Shape 50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57" name="Text 52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58" name="Text 53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view opens on the real month; ‹ steps back to the demo July.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added on the board shows on the Inputs page at once.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Leave War bid appears on the Inputs page at Approve.</a:t>
            </a:r>
            <a:endParaRPr lang="en-US" sz="1100" dirty="0"/>
          </a:p>
        </p:txBody>
      </p:sp>
      <p:sp>
        <p:nvSpPr>
          <p:cNvPr id="59" name="Text 54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inputscal.test.tsx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day popover; hold to add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boardaddinput.test.tsx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adding through the board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approving turns bids into one input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18 / 42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quals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qual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3037" y="1390350"/>
            <a:ext cx="423341" cy="157155"/>
          </a:xfrm>
          <a:prstGeom prst="roundRect">
            <a:avLst>
              <a:gd name="adj" fmla="val 2327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3037" y="156579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3037" y="15657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7920" y="1762209"/>
            <a:ext cx="277071" cy="157155"/>
          </a:xfrm>
          <a:prstGeom prst="roundRect">
            <a:avLst>
              <a:gd name="adj" fmla="val 2327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editing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Pilots, WSOs, Personnel, All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1" descr="C:\Users\User\AppData\Local\Temp\claude\C--Users-User-projects-Raptor--claude-worktrees-docs-rulings-slim-down-e83c74\bd625616-9217-44be-8d31-64893dff3b57\scratchpad\shots3\.deck\quals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766359" y="2626105"/>
            <a:ext cx="265471" cy="149947"/>
          </a:xfrm>
          <a:prstGeom prst="roundRect">
            <a:avLst>
              <a:gd name="adj" fmla="val 2439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59262" y="257763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59262" y="257763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4252" y="2641352"/>
            <a:ext cx="216481" cy="119453"/>
          </a:xfrm>
          <a:prstGeom prst="roundRect">
            <a:avLst>
              <a:gd name="adj" fmla="val 3062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74252" y="237617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74252" y="2376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your own box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CAT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260440" y="1298448"/>
            <a:ext cx="2586152" cy="126023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2" descr="C:\Users\User\AppData\Local\Temp\claude\C--Users-User-projects-Raptor--claude-worktrees-docs-rulings-slim-down-e83c74\bd625616-9217-44be-8d31-64893dff3b57\scratchpad\shots3\.deck\qual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205375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7211763" y="2306391"/>
            <a:ext cx="683505" cy="178519"/>
          </a:xfrm>
          <a:prstGeom prst="roundRect">
            <a:avLst>
              <a:gd name="adj" fmla="val 2048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287872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Another's row refuses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6" name="Image 3" descr="C:\Users\User\AppData\Local\Temp\claude\C--Users-User-projects-Raptor--claude-worktrees-docs-rulings-slim-down-e83c74\bd625616-9217-44be-8d31-64893dff3b57\scratchpad\shots3\.deck\quals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9644120" y="1401993"/>
            <a:ext cx="331485" cy="147175"/>
          </a:xfrm>
          <a:prstGeom prst="roundRect">
            <a:avLst>
              <a:gd name="adj" fmla="val 2485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9644120" y="15674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644120" y="15674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9664868" y="1548921"/>
            <a:ext cx="479842" cy="147175"/>
          </a:xfrm>
          <a:prstGeom prst="roundRect">
            <a:avLst>
              <a:gd name="adj" fmla="val 2485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664868" y="128374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9664868" y="128374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10102880" y="1551693"/>
            <a:ext cx="200757" cy="141630"/>
          </a:xfrm>
          <a:prstGeom prst="roundRect">
            <a:avLst>
              <a:gd name="adj" fmla="val 2582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0331069" y="149906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10331069" y="1499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9203207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9203207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Edit quals</a:t>
            </a:r>
            <a:endParaRPr lang="en-US" sz="1300" dirty="0"/>
          </a:p>
        </p:txBody>
      </p:sp>
      <p:sp>
        <p:nvSpPr>
          <p:cNvPr id="59" name="Shape 53"/>
          <p:cNvSpPr/>
          <p:nvPr/>
        </p:nvSpPr>
        <p:spPr>
          <a:xfrm>
            <a:off x="9203207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203207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qualification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3207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203207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9532391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column</a:t>
            </a:r>
            <a:endParaRPr lang="en-US" sz="1300" dirty="0"/>
          </a:p>
        </p:txBody>
      </p:sp>
      <p:sp>
        <p:nvSpPr>
          <p:cNvPr id="65" name="Shape 59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7" name="Text 61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8" name="Text 62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 takes effect at once; "Save changes" only leaves edit mode.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edits only his own row: "You can only edit your own row".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edits any row, renames callsigns and adds or removes columns.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Quals re-checks the week (a lapsed qual warns at once).</a:t>
            </a:r>
            <a:endParaRPr lang="en-US" sz="1100" dirty="0"/>
          </a:p>
        </p:txBody>
      </p:sp>
      <p:sp>
        <p:nvSpPr>
          <p:cNvPr id="69" name="Text 63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0" name="Text 64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quals-write.test.ts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own row only; admin any row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member ticks but cannot reshape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tick or CAT change re-checks the week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qualcols.test.ts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column, kept after reload</a:t>
            </a:r>
            <a:endParaRPr lang="en-US" sz="1000" dirty="0"/>
          </a:p>
        </p:txBody>
      </p:sp>
      <p:sp>
        <p:nvSpPr>
          <p:cNvPr id="71" name="Text 65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19 / 42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9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for leave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— your own row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bid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026113" y="1329436"/>
            <a:ext cx="318160" cy="158835"/>
          </a:xfrm>
          <a:prstGeom prst="roundRect">
            <a:avLst>
              <a:gd name="adj" fmla="val 2302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26113" y="150655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26113" y="150655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7757" y="1839129"/>
            <a:ext cx="307927" cy="141055"/>
          </a:xfrm>
          <a:prstGeom prst="roundRect">
            <a:avLst>
              <a:gd name="adj" fmla="val 25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3116" y="178621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63116" y="178621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6270" y="2796286"/>
            <a:ext cx="624078" cy="126238"/>
          </a:xfrm>
          <a:prstGeom prst="roundRect">
            <a:avLst>
              <a:gd name="adj" fmla="val 2897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37780" y="273596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37780" y="273596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647" y="1649476"/>
            <a:ext cx="457159" cy="152908"/>
          </a:xfrm>
          <a:prstGeom prst="roundRect">
            <a:avLst>
              <a:gd name="adj" fmla="val 2392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Manning away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figures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407822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6384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stage: open for bidding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543948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1" descr="C:\Users\User\AppData\Local\Temp\claude\C--Users-User-projects-Raptor--claude-worktrees-docs-rulings-slim-down-e83c74\bd625616-9217-44be-8d31-64893dff3b57\scratchpad\shots3\.deck\bid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80" y="1325880"/>
            <a:ext cx="2133600" cy="160020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4147212" y="1608499"/>
            <a:ext cx="156572" cy="152665"/>
          </a:xfrm>
          <a:prstGeom prst="roundRect">
            <a:avLst>
              <a:gd name="adj" fmla="val 2395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147212" y="17794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47212" y="17794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782739" y="2314003"/>
            <a:ext cx="1844230" cy="187357"/>
          </a:xfrm>
          <a:prstGeom prst="roundRect">
            <a:avLst>
              <a:gd name="adj" fmla="val 1952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72536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72536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day on your row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459284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2" descr="C:\Users\User\AppData\Local\Temp\claude\C--Users-User-projects-Raptor--claude-worktrees-docs-rulings-slim-down-e83c74\bd625616-9217-44be-8d31-64893dff3b57\scratchpad\shots3\.deck\bid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16" y="1325880"/>
            <a:ext cx="2133600" cy="160020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6984778" y="2508455"/>
            <a:ext cx="337896" cy="164021"/>
          </a:xfrm>
          <a:prstGeom prst="roundRect">
            <a:avLst>
              <a:gd name="adj" fmla="val 223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984778" y="224327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984778" y="224327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6989935" y="2628470"/>
            <a:ext cx="183137" cy="164021"/>
          </a:xfrm>
          <a:prstGeom prst="roundRect">
            <a:avLst>
              <a:gd name="adj" fmla="val 223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989935" y="281077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989935" y="28107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698075" y="2748485"/>
            <a:ext cx="1844230" cy="119588"/>
          </a:xfrm>
          <a:prstGeom prst="roundRect">
            <a:avLst>
              <a:gd name="adj" fmla="val 3058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287872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6287872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day, AM or PM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6287872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287872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Text 56"/>
          <p:cNvSpPr txBox="1"/>
          <p:nvPr/>
        </p:nvSpPr>
        <p:spPr>
          <a:xfrm>
            <a:off x="6617056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</a:t>
            </a:r>
            <a:endParaRPr lang="en-US" sz="1300" dirty="0"/>
          </a:p>
        </p:txBody>
      </p:sp>
      <p:sp>
        <p:nvSpPr>
          <p:cNvPr id="62" name="Shape 57"/>
          <p:cNvSpPr/>
          <p:nvPr/>
        </p:nvSpPr>
        <p:spPr>
          <a:xfrm>
            <a:off x="6287872" y="376732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617056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zero: tap again</a:t>
            </a:r>
            <a:endParaRPr lang="en-US" sz="1300" dirty="0"/>
          </a:p>
        </p:txBody>
      </p:sp>
      <p:sp>
        <p:nvSpPr>
          <p:cNvPr id="64" name="Shape 59"/>
          <p:cNvSpPr/>
          <p:nvPr/>
        </p:nvSpPr>
        <p:spPr>
          <a:xfrm>
            <a:off x="9374619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5" name="Image 3" descr="C:\Users\User\AppData\Local\Temp\claude\C--Users-User-projects-Raptor--claude-worktrees-docs-rulings-slim-down-e83c74\bd625616-9217-44be-8d31-64893dff3b57\scratchpad\shots3\.deck\bid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051" y="1325880"/>
            <a:ext cx="2133600" cy="1600200"/>
          </a:xfrm>
          <a:prstGeom prst="rect">
            <a:avLst/>
          </a:prstGeom>
        </p:spPr>
      </p:pic>
      <p:sp>
        <p:nvSpPr>
          <p:cNvPr id="66" name="Shape 60"/>
          <p:cNvSpPr/>
          <p:nvPr/>
        </p:nvSpPr>
        <p:spPr>
          <a:xfrm>
            <a:off x="11036413" y="1751341"/>
            <a:ext cx="146287" cy="142814"/>
          </a:xfrm>
          <a:prstGeom prst="roundRect">
            <a:avLst>
              <a:gd name="adj" fmla="val 2561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9781951" y="1751341"/>
            <a:ext cx="277368" cy="142814"/>
          </a:xfrm>
          <a:prstGeom prst="roundRect">
            <a:avLst>
              <a:gd name="adj" fmla="val 2561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9203207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bid, plain until answered</a:t>
            </a:r>
            <a:endParaRPr lang="en-US" sz="1300" dirty="0"/>
          </a:p>
        </p:txBody>
      </p:sp>
      <p:sp>
        <p:nvSpPr>
          <p:cNvPr id="70" name="Shape 64"/>
          <p:cNvSpPr/>
          <p:nvPr/>
        </p:nvSpPr>
        <p:spPr>
          <a:xfrm>
            <a:off x="9203207" y="34564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9532391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moves</a:t>
            </a:r>
            <a:endParaRPr lang="en-US" sz="1300" dirty="0"/>
          </a:p>
        </p:txBody>
      </p:sp>
      <p:sp>
        <p:nvSpPr>
          <p:cNvPr id="72" name="Shape 66"/>
          <p:cNvSpPr/>
          <p:nvPr/>
        </p:nvSpPr>
        <p:spPr>
          <a:xfrm>
            <a:off x="457200" y="4370832"/>
            <a:ext cx="11277295" cy="2029968"/>
          </a:xfrm>
          <a:prstGeom prst="roundRect">
            <a:avLst>
              <a:gd name="adj" fmla="val 4505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4" name="Text 68"/>
          <p:cNvSpPr txBox="1"/>
          <p:nvPr/>
        </p:nvSpPr>
        <p:spPr>
          <a:xfrm>
            <a:off x="685800" y="47823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5" name="Text 69"/>
          <p:cNvSpPr txBox="1"/>
          <p:nvPr/>
        </p:nvSpPr>
        <p:spPr>
          <a:xfrm>
            <a:off x="685800" y="50292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 on someone else's row opens nothing; a member bids only on his own.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 lands plain; an admin's answer colours it (green approved, purple Ack, red refused).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below zero asks once ("Tap the same leave again"), then writes.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only inside the "Bidding on" dates; once Bidding closed, a member's tap opens nothing.</a:t>
            </a:r>
            <a:endParaRPr lang="en-US" sz="1100" dirty="0"/>
          </a:p>
        </p:txBody>
      </p:sp>
      <p:sp>
        <p:nvSpPr>
          <p:cNvPr id="76" name="Text 70"/>
          <p:cNvSpPr txBox="1"/>
          <p:nvPr/>
        </p:nvSpPr>
        <p:spPr>
          <a:xfrm>
            <a:off x="6949440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7" name="Text 71"/>
          <p:cNvSpPr txBox="1"/>
          <p:nvPr/>
        </p:nvSpPr>
        <p:spPr>
          <a:xfrm>
            <a:off x="694944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e2e/leavewar.spec.ts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bid lands plain; own row only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bidding.test.tsx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placing a bid; below zero asks once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bidding window on screen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e2e/leavewar.spec.ts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closing the war locks members out</a:t>
            </a:r>
            <a:endParaRPr lang="en-US" sz="1000" dirty="0"/>
          </a:p>
        </p:txBody>
      </p:sp>
      <p:sp>
        <p:nvSpPr>
          <p:cNvPr id="78" name="Text 7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20 / 42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9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bid, and after publishing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— your own row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across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09573" y="1874520"/>
            <a:ext cx="1871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bid-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005" y="1901952"/>
            <a:ext cx="1816608" cy="13624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276638" y="2137827"/>
            <a:ext cx="135901" cy="139493"/>
          </a:xfrm>
          <a:prstGeom prst="roundRect">
            <a:avLst>
              <a:gd name="adj" fmla="val 2691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76638" y="229560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76638" y="2295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92316" y="2137827"/>
            <a:ext cx="146900" cy="139493"/>
          </a:xfrm>
          <a:prstGeom prst="roundRect">
            <a:avLst>
              <a:gd name="adj" fmla="val 262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92316" y="229560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92316" y="2295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760705" y="3070612"/>
            <a:ext cx="165438" cy="149162"/>
          </a:xfrm>
          <a:prstGeom prst="roundRect">
            <a:avLst>
              <a:gd name="adj" fmla="val 245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760705" y="280543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60705" y="28054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first day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 the last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range in the sheet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160112" y="1874520"/>
            <a:ext cx="1871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1" descr="C:\Users\User\AppData\Local\Temp\claude\C--Users-User-projects-Raptor--claude-worktrees-docs-rulings-slim-down-e83c74\bd625616-9217-44be-8d31-64893dff3b57\scratchpad\shots3\.deck\bid-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44" y="1901952"/>
            <a:ext cx="1816608" cy="1362456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839690" y="2059623"/>
            <a:ext cx="434634" cy="144152"/>
          </a:xfrm>
          <a:prstGeom prst="roundRect">
            <a:avLst>
              <a:gd name="adj" fmla="val 2537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839690" y="179444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839690" y="179444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720349" y="2730165"/>
            <a:ext cx="179257" cy="160181"/>
          </a:xfrm>
          <a:prstGeom prst="roundRect">
            <a:avLst>
              <a:gd name="adj" fmla="val 228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27039" y="268681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927039" y="26868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695930" y="3133559"/>
            <a:ext cx="168029" cy="144152"/>
          </a:xfrm>
          <a:prstGeom prst="roundRect">
            <a:avLst>
              <a:gd name="adj" fmla="val 2537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695930" y="286838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95930" y="286838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307738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307738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4636922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range</a:t>
            </a:r>
            <a:endParaRPr lang="en-US" sz="1150" dirty="0"/>
          </a:p>
        </p:txBody>
      </p:sp>
      <p:sp>
        <p:nvSpPr>
          <p:cNvPr id="50" name="Shape 46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day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1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your remarks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9010650" y="1874520"/>
            <a:ext cx="1871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9" name="Image 2" descr="C:\Users\User\AppData\Local\Temp\claude\C--Users-User-projects-Raptor--claude-worktrees-docs-rulings-slim-down-e83c74\bd625616-9217-44be-8d31-64893dff3b57\scratchpad\shots3\.deck\lwflow-remark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82" y="1901952"/>
            <a:ext cx="1816608" cy="1362456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9523607" y="2137827"/>
            <a:ext cx="142819" cy="139493"/>
          </a:xfrm>
          <a:prstGeom prst="roundRect">
            <a:avLst>
              <a:gd name="adj" fmla="val 262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523607" y="229560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9523607" y="2295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9213285" y="2854890"/>
            <a:ext cx="1579740" cy="257023"/>
          </a:xfrm>
          <a:prstGeom prst="roundRect">
            <a:avLst>
              <a:gd name="adj" fmla="val 1423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9213285" y="258971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9213285" y="258971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6" name="Shape 61"/>
          <p:cNvSpPr/>
          <p:nvPr/>
        </p:nvSpPr>
        <p:spPr>
          <a:xfrm>
            <a:off x="10549751" y="3064935"/>
            <a:ext cx="243274" cy="154838"/>
          </a:xfrm>
          <a:prstGeom prst="roundRect">
            <a:avLst>
              <a:gd name="adj" fmla="val 236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0549751" y="279975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10549751" y="279975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8158277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8158277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Text 66"/>
          <p:cNvSpPr txBox="1"/>
          <p:nvPr/>
        </p:nvSpPr>
        <p:spPr>
          <a:xfrm>
            <a:off x="8487461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approved day</a:t>
            </a:r>
            <a:endParaRPr lang="en-US" sz="1150" dirty="0"/>
          </a:p>
        </p:txBody>
      </p:sp>
      <p:sp>
        <p:nvSpPr>
          <p:cNvPr id="72" name="Shape 67"/>
          <p:cNvSpPr/>
          <p:nvPr/>
        </p:nvSpPr>
        <p:spPr>
          <a:xfrm>
            <a:off x="8158277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8158277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4" name="Text 69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150" dirty="0"/>
          </a:p>
        </p:txBody>
      </p:sp>
      <p:sp>
        <p:nvSpPr>
          <p:cNvPr id="75" name="Shape 70"/>
          <p:cNvSpPr/>
          <p:nvPr/>
        </p:nvSpPr>
        <p:spPr>
          <a:xfrm>
            <a:off x="8158277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8158277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72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50" dirty="0"/>
          </a:p>
        </p:txBody>
      </p:sp>
      <p:sp>
        <p:nvSpPr>
          <p:cNvPr id="78" name="Shape 73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80" name="Text 75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81" name="Text 76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 fills the whole span in one go; today it can go below zero without asking (a fix is filed, D418).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range opens a calendar on the tapped day.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publishing, a member opens only his own approved leave, for its remarks.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3" name="Text 78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e2e/leavewar.spec.ts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drag-selecting fills the whole span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bidding.test.tsx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bidding over a range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remarks on an approved leave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21 / 42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10  · 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Leave War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run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81948" y="1554234"/>
            <a:ext cx="504475" cy="157802"/>
          </a:xfrm>
          <a:prstGeom prst="roundRect">
            <a:avLst>
              <a:gd name="adj" fmla="val 2317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1948" y="173032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81948" y="17303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3446" y="1552617"/>
            <a:ext cx="493104" cy="161036"/>
          </a:xfrm>
          <a:prstGeom prst="roundRect">
            <a:avLst>
              <a:gd name="adj" fmla="val 2271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0786" y="1387670"/>
            <a:ext cx="259024" cy="161036"/>
          </a:xfrm>
          <a:prstGeom prst="roundRect">
            <a:avLst>
              <a:gd name="adj" fmla="val 2271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Bidding closed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now; + New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1" descr="C:\Users\User\AppData\Local\Temp\claude\C--Users-User-projects-Raptor--claude-worktrees-docs-rulings-slim-down-e83c74\bd625616-9217-44be-8d31-64893dff3b57\scratchpad\shots3\.deck\run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646823" y="2543851"/>
            <a:ext cx="159964" cy="158411"/>
          </a:xfrm>
          <a:prstGeom prst="roundRect">
            <a:avLst>
              <a:gd name="adj" fmla="val 2308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46823" y="272055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46823" y="27205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032106" y="2273622"/>
            <a:ext cx="375614" cy="177602"/>
          </a:xfrm>
          <a:prstGeom prst="roundRect">
            <a:avLst>
              <a:gd name="adj" fmla="val 2059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032106" y="200844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032106" y="200844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807470" y="2408515"/>
            <a:ext cx="371177" cy="177602"/>
          </a:xfrm>
          <a:prstGeom prst="roundRect">
            <a:avLst>
              <a:gd name="adj" fmla="val 2059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06079" y="237387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206079" y="23738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bid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(or Ack, Refuse)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3372536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72536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3701720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Move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2" descr="C:\Users\User\AppData\Local\Temp\claude\C--Users-User-projects-Raptor--claude-worktrees-docs-rulings-slim-down-e83c74\bd625616-9217-44be-8d31-64893dff3b57\scratchpad\shots3\.deck\run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8048950" y="2361790"/>
            <a:ext cx="186885" cy="193025"/>
          </a:xfrm>
          <a:prstGeom prst="roundRect">
            <a:avLst>
              <a:gd name="adj" fmla="val 1957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048950" y="257310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048950" y="25731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6413421" y="2754147"/>
            <a:ext cx="429834" cy="219253"/>
          </a:xfrm>
          <a:prstGeom prst="roundRect">
            <a:avLst>
              <a:gd name="adj" fmla="val 1668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6287872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6287872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new day</a:t>
            </a:r>
            <a:endParaRPr lang="en-US" sz="1300" dirty="0"/>
          </a:p>
        </p:txBody>
      </p:sp>
      <p:sp>
        <p:nvSpPr>
          <p:cNvPr id="56" name="Shape 51"/>
          <p:cNvSpPr/>
          <p:nvPr/>
        </p:nvSpPr>
        <p:spPr>
          <a:xfrm>
            <a:off x="6287872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6617056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stops the move</a:t>
            </a:r>
            <a:endParaRPr lang="en-US" sz="1300" dirty="0"/>
          </a:p>
        </p:txBody>
      </p:sp>
      <p:sp>
        <p:nvSpPr>
          <p:cNvPr id="58" name="Shape 53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9" name="Image 3" descr="C:\Users\User\AppData\Local\Temp\claude\C--Users-User-projects-Raptor--claude-worktrees-docs-rulings-slim-down-e83c74\bd625616-9217-44be-8d31-64893dff3b57\scratchpad\shots3\.deck\run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>
            <a:off x="9479454" y="1552617"/>
            <a:ext cx="341043" cy="161036"/>
          </a:xfrm>
          <a:prstGeom prst="roundRect">
            <a:avLst>
              <a:gd name="adj" fmla="val 2271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0182048" y="1554234"/>
            <a:ext cx="504475" cy="157802"/>
          </a:xfrm>
          <a:prstGeom prst="roundRect">
            <a:avLst>
              <a:gd name="adj" fmla="val 2317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9203207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64" name="Shape 58"/>
          <p:cNvSpPr/>
          <p:nvPr/>
        </p:nvSpPr>
        <p:spPr>
          <a:xfrm>
            <a:off x="9203207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Bidding closed undoes it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8" name="Text 62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Draft → Open for bidding → Bidding closed → Published; no confirm; the top bar's Undo takes a stage back.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decides in every stage but Draft (D418).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leave reaches Inputs and the schedule at Approve, not at Publish (D418).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 moved after bidding closed wears a dotted edge and "moved from".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members are locked out; an approved leave offers only its remarks (D418).</a:t>
            </a:r>
            <a:endParaRPr lang="en-US" sz="1100" dirty="0"/>
          </a:p>
        </p:txBody>
      </p:sp>
      <p:sp>
        <p:nvSpPr>
          <p:cNvPr id="70" name="Text 64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1" name="Text 65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deciding.test.tsx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approve, ack, refuse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stage strip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stage-undo.test.ts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Undo takes back a stage move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approving turns bids into one input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moveone.test.tsx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moving one bid</a:t>
            </a:r>
            <a:endParaRPr lang="en-US" sz="1000" dirty="0"/>
          </a:p>
        </p:txBody>
      </p:sp>
      <p:sp>
        <p:nvSpPr>
          <p:cNvPr id="72" name="Text 6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22 / 42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10  · 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ways: many at once, and a new period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many at once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9189" y="1874520"/>
            <a:ext cx="1552241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run-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21" y="1901952"/>
            <a:ext cx="1497377" cy="10789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823610" y="2640932"/>
            <a:ext cx="123531" cy="122568"/>
          </a:xfrm>
          <a:prstGeom prst="roundRect">
            <a:avLst>
              <a:gd name="adj" fmla="val 298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23610" y="278178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23610" y="27817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883134" y="2640932"/>
            <a:ext cx="128314" cy="122568"/>
          </a:xfrm>
          <a:prstGeom prst="roundRect">
            <a:avLst>
              <a:gd name="adj" fmla="val 298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83134" y="278178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3134" y="27817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21964" y="2473303"/>
            <a:ext cx="257304" cy="134473"/>
          </a:xfrm>
          <a:prstGeom prst="roundRect">
            <a:avLst>
              <a:gd name="adj" fmla="val 272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1964" y="220812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21964" y="220812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9067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0906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072384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across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period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349464" y="1874520"/>
            <a:ext cx="149276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1" descr="C:\Users\User\AppData\Local\Temp\claude\C--Users-User-projects-Raptor--claude-worktrees-docs-rulings-slim-down-e83c74\bd625616-9217-44be-8d31-64893dff3b57\scratchpad\shots3\.deck\run-w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896" y="1901952"/>
            <a:ext cx="1437904" cy="1078992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559336" y="1989585"/>
            <a:ext cx="1075281" cy="131727"/>
          </a:xfrm>
          <a:prstGeom prst="roundRect">
            <a:avLst>
              <a:gd name="adj" fmla="val 2776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559336" y="172440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559336" y="172440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080103" y="2204029"/>
            <a:ext cx="161390" cy="145271"/>
          </a:xfrm>
          <a:prstGeom prst="roundRect">
            <a:avLst>
              <a:gd name="adj" fmla="val 2517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80103" y="193885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080103" y="193885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559336" y="2644204"/>
            <a:ext cx="161390" cy="145271"/>
          </a:xfrm>
          <a:prstGeom prst="roundRect">
            <a:avLst>
              <a:gd name="adj" fmla="val 2517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748157" y="259339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748157" y="25933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5559336" y="2815759"/>
            <a:ext cx="232847" cy="136242"/>
          </a:xfrm>
          <a:prstGeom prst="roundRect">
            <a:avLst>
              <a:gd name="adj" fmla="val 2684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559336" y="255058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559336" y="255058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4307738" y="309067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307738" y="30906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4636922" y="3072384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name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4307738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307738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1"/>
          <p:cNvSpPr txBox="1"/>
          <p:nvPr/>
        </p:nvSpPr>
        <p:spPr>
          <a:xfrm>
            <a:off x="4636922" y="3355848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day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4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day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7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</p:txBody>
      </p:sp>
      <p:sp>
        <p:nvSpPr>
          <p:cNvPr id="62" name="Shape 58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in Draft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9199626" y="1874520"/>
            <a:ext cx="14935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5" name="Image 2" descr="C:\Users\User\AppData\Local\Temp\claude\C--Users-User-projects-Raptor--claude-worktrees-docs-rulings-slim-down-e83c74\bd625616-9217-44be-8d31-64893dff3b57\scratchpad\shots3\.deck\lwflow-op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058" y="1901952"/>
            <a:ext cx="1438656" cy="1078992"/>
          </a:xfrm>
          <a:prstGeom prst="rect">
            <a:avLst/>
          </a:prstGeom>
        </p:spPr>
      </p:pic>
      <p:sp>
        <p:nvSpPr>
          <p:cNvPr id="66" name="Shape 61"/>
          <p:cNvSpPr/>
          <p:nvPr/>
        </p:nvSpPr>
        <p:spPr>
          <a:xfrm>
            <a:off x="9455935" y="2030798"/>
            <a:ext cx="364758" cy="121954"/>
          </a:xfrm>
          <a:prstGeom prst="roundRect">
            <a:avLst>
              <a:gd name="adj" fmla="val 2999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455935" y="217104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455935" y="2171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9322903" y="2029799"/>
            <a:ext cx="185051" cy="123952"/>
          </a:xfrm>
          <a:prstGeom prst="roundRect">
            <a:avLst>
              <a:gd name="adj" fmla="val 2950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8158277" y="309067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8158277" y="30906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2" name="Text 67"/>
          <p:cNvSpPr txBox="1"/>
          <p:nvPr/>
        </p:nvSpPr>
        <p:spPr>
          <a:xfrm>
            <a:off x="8487461" y="3072384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for bidding</a:t>
            </a:r>
            <a:endParaRPr lang="en-US" sz="1150" dirty="0"/>
          </a:p>
        </p:txBody>
      </p:sp>
      <p:sp>
        <p:nvSpPr>
          <p:cNvPr id="73" name="Shape 68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5" name="Text 70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6" name="Text 71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drag-selection offers Ack / Approve / Refuse, Move and Delete for every bid in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two entries shows "+1"; its list decides each one.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war opens on the admin's screen in Draft; members pick it in Period.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war's "Bidding on" reads "THE WHOLE YEAR" until its dates are set.</a:t>
            </a:r>
            <a:endParaRPr lang="en-US" sz="1100" dirty="0"/>
          </a:p>
        </p:txBody>
      </p:sp>
      <p:sp>
        <p:nvSpPr>
          <p:cNvPr id="77" name="Text 72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8" name="Text 73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selectsheet.test.tsx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decide many; batch approve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e2e/step4-leavewar.spec.ts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day's list, each undoable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creating a leave war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23 / 42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10  · 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Manning — set it up your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man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7382" y="1621695"/>
            <a:ext cx="292925" cy="95123"/>
          </a:xfrm>
          <a:prstGeom prst="roundRect">
            <a:avLst>
              <a:gd name="adj" fmla="val 3845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7382" y="135651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7382" y="135651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6992" y="1480566"/>
            <a:ext cx="141032" cy="124015"/>
          </a:xfrm>
          <a:prstGeom prst="roundRect">
            <a:avLst>
              <a:gd name="adj" fmla="val 2949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75455" y="141913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75455" y="141913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63250" y="1340549"/>
            <a:ext cx="200449" cy="126238"/>
          </a:xfrm>
          <a:prstGeom prst="roundRect">
            <a:avLst>
              <a:gd name="adj" fmla="val 2897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row's name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Settings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76732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under-manned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543948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man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80" y="1325880"/>
            <a:ext cx="2133600" cy="16002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706508" y="2478024"/>
            <a:ext cx="945896" cy="206248"/>
          </a:xfrm>
          <a:prstGeom prst="roundRect">
            <a:avLst>
              <a:gd name="adj" fmla="val 177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706508" y="221284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706508" y="22128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623956" y="2478024"/>
            <a:ext cx="945896" cy="206248"/>
          </a:xfrm>
          <a:prstGeom prst="roundRect">
            <a:avLst>
              <a:gd name="adj" fmla="val 177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23956" y="221284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623956" y="22128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706508" y="2655824"/>
            <a:ext cx="261922" cy="192024"/>
          </a:xfrm>
          <a:prstGeom prst="roundRect">
            <a:avLst>
              <a:gd name="adj" fmla="val 1904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706508" y="286613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706508" y="2866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932869" y="2655824"/>
            <a:ext cx="448112" cy="192024"/>
          </a:xfrm>
          <a:prstGeom prst="roundRect">
            <a:avLst>
              <a:gd name="adj" fmla="val 1904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408413" y="262839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408413" y="26283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372536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372536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below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3372536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372536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3701720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below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3372536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372536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3701720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3372536" y="403250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3372536" y="4032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3701720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counter…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6460363" y="1298448"/>
            <a:ext cx="218630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8" name="Image 2" descr="C:\Users\User\AppData\Local\Temp\claude\C--Users-User-projects-Raptor--claude-worktrees-docs-rulings-slim-down-e83c74\bd625616-9217-44be-8d31-64893dff3b57\scratchpad\shots3\.deck\man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95" y="1325880"/>
            <a:ext cx="2131440" cy="1600200"/>
          </a:xfrm>
          <a:prstGeom prst="rect">
            <a:avLst/>
          </a:prstGeom>
        </p:spPr>
      </p:pic>
      <p:sp>
        <p:nvSpPr>
          <p:cNvPr id="59" name="Shape 54"/>
          <p:cNvSpPr/>
          <p:nvPr/>
        </p:nvSpPr>
        <p:spPr>
          <a:xfrm>
            <a:off x="6912529" y="1450981"/>
            <a:ext cx="1515202" cy="132033"/>
          </a:xfrm>
          <a:prstGeom prst="roundRect">
            <a:avLst>
              <a:gd name="adj" fmla="val 2770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912529" y="118580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912529" y="118580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57"/>
          <p:cNvSpPr/>
          <p:nvPr/>
        </p:nvSpPr>
        <p:spPr>
          <a:xfrm>
            <a:off x="7297394" y="1771669"/>
            <a:ext cx="175813" cy="161186"/>
          </a:xfrm>
          <a:prstGeom prst="roundRect">
            <a:avLst>
              <a:gd name="adj" fmla="val 2269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7297394" y="15064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7297394" y="15064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6837367" y="2004896"/>
            <a:ext cx="222834" cy="161186"/>
          </a:xfrm>
          <a:prstGeom prst="roundRect">
            <a:avLst>
              <a:gd name="adj" fmla="val 2269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837367" y="173972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6837367" y="17397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8" name="Shape 63"/>
          <p:cNvSpPr/>
          <p:nvPr/>
        </p:nvSpPr>
        <p:spPr>
          <a:xfrm>
            <a:off x="6679301" y="2673806"/>
            <a:ext cx="385101" cy="180622"/>
          </a:xfrm>
          <a:prstGeom prst="roundRect">
            <a:avLst>
              <a:gd name="adj" fmla="val 2025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7091834" y="264067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7091834" y="26406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6633951" y="2549094"/>
            <a:ext cx="1793779" cy="156327"/>
          </a:xfrm>
          <a:prstGeom prst="roundRect">
            <a:avLst>
              <a:gd name="adj" fmla="val 2339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6287872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6287872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5" name="Text 70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counter</a:t>
            </a:r>
            <a:endParaRPr lang="en-US" sz="1300" dirty="0"/>
          </a:p>
        </p:txBody>
      </p:sp>
      <p:sp>
        <p:nvSpPr>
          <p:cNvPr id="76" name="Shape 71"/>
          <p:cNvSpPr/>
          <p:nvPr/>
        </p:nvSpPr>
        <p:spPr>
          <a:xfrm>
            <a:off x="6287872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6287872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8" name="Text 73"/>
          <p:cNvSpPr txBox="1"/>
          <p:nvPr/>
        </p:nvSpPr>
        <p:spPr>
          <a:xfrm>
            <a:off x="6617056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CAT</a:t>
            </a:r>
            <a:endParaRPr lang="en-US" sz="1300" dirty="0"/>
          </a:p>
        </p:txBody>
      </p:sp>
      <p:sp>
        <p:nvSpPr>
          <p:cNvPr id="79" name="Shape 74"/>
          <p:cNvSpPr/>
          <p:nvPr/>
        </p:nvSpPr>
        <p:spPr>
          <a:xfrm>
            <a:off x="6287872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6287872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1" name="Text 76"/>
          <p:cNvSpPr txBox="1"/>
          <p:nvPr/>
        </p:nvSpPr>
        <p:spPr>
          <a:xfrm>
            <a:off x="6617056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 qual</a:t>
            </a:r>
            <a:endParaRPr lang="en-US" sz="1300" dirty="0"/>
          </a:p>
        </p:txBody>
      </p:sp>
      <p:sp>
        <p:nvSpPr>
          <p:cNvPr id="82" name="Shape 77"/>
          <p:cNvSpPr/>
          <p:nvPr/>
        </p:nvSpPr>
        <p:spPr>
          <a:xfrm>
            <a:off x="6287872" y="403250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6287872" y="4032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4" name="Text 79"/>
          <p:cNvSpPr txBox="1"/>
          <p:nvPr/>
        </p:nvSpPr>
        <p:spPr>
          <a:xfrm>
            <a:off x="6617056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counter</a:t>
            </a:r>
            <a:endParaRPr lang="en-US" sz="1300" dirty="0"/>
          </a:p>
        </p:txBody>
      </p:sp>
      <p:sp>
        <p:nvSpPr>
          <p:cNvPr id="85" name="Shape 80"/>
          <p:cNvSpPr/>
          <p:nvPr/>
        </p:nvSpPr>
        <p:spPr>
          <a:xfrm>
            <a:off x="9376736" y="1298448"/>
            <a:ext cx="2184231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6" name="Image 3" descr="C:\Users\User\AppData\Local\Temp\claude\C--Users-User-projects-Raptor--claude-worktrees-docs-rulings-slim-down-e83c74\bd625616-9217-44be-8d31-64893dff3b57\scratchpad\shots3\.deck\man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168" y="1325880"/>
            <a:ext cx="2129367" cy="1600200"/>
          </a:xfrm>
          <a:prstGeom prst="rect">
            <a:avLst/>
          </a:prstGeom>
        </p:spPr>
      </p:pic>
      <p:sp>
        <p:nvSpPr>
          <p:cNvPr id="87" name="Shape 81"/>
          <p:cNvSpPr/>
          <p:nvPr/>
        </p:nvSpPr>
        <p:spPr>
          <a:xfrm>
            <a:off x="10100165" y="1461093"/>
            <a:ext cx="496668" cy="174075"/>
          </a:xfrm>
          <a:prstGeom prst="roundRect">
            <a:avLst>
              <a:gd name="adj" fmla="val 2101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10624265" y="142468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10624265" y="14246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0" name="Shape 84"/>
          <p:cNvSpPr/>
          <p:nvPr/>
        </p:nvSpPr>
        <p:spPr>
          <a:xfrm>
            <a:off x="10157447" y="2657009"/>
            <a:ext cx="123275" cy="127508"/>
          </a:xfrm>
          <a:prstGeom prst="roundRect">
            <a:avLst>
              <a:gd name="adj" fmla="val 296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10308154" y="259731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10308154" y="259731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3" name="Shape 87"/>
          <p:cNvSpPr/>
          <p:nvPr/>
        </p:nvSpPr>
        <p:spPr>
          <a:xfrm>
            <a:off x="9575562" y="2659126"/>
            <a:ext cx="512543" cy="123275"/>
          </a:xfrm>
          <a:prstGeom prst="roundRect">
            <a:avLst>
              <a:gd name="adj" fmla="val 2967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9203207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9203207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6" name="Text 90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 Rearrange</a:t>
            </a:r>
            <a:endParaRPr lang="en-US" sz="1300" dirty="0"/>
          </a:p>
        </p:txBody>
      </p:sp>
      <p:sp>
        <p:nvSpPr>
          <p:cNvPr id="97" name="Shape 91"/>
          <p:cNvSpPr/>
          <p:nvPr/>
        </p:nvSpPr>
        <p:spPr>
          <a:xfrm>
            <a:off x="9203207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9203207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9" name="Text 93"/>
          <p:cNvSpPr txBox="1"/>
          <p:nvPr/>
        </p:nvSpPr>
        <p:spPr>
          <a:xfrm>
            <a:off x="9532391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hides a row</a:t>
            </a:r>
            <a:endParaRPr lang="en-US" sz="1300" dirty="0"/>
          </a:p>
        </p:txBody>
      </p:sp>
      <p:sp>
        <p:nvSpPr>
          <p:cNvPr id="100" name="Shape 94"/>
          <p:cNvSpPr/>
          <p:nvPr/>
        </p:nvSpPr>
        <p:spPr>
          <a:xfrm>
            <a:off x="9203207" y="3767328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9532391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row</a:t>
            </a:r>
            <a:endParaRPr lang="en-US" sz="1300" dirty="0"/>
          </a:p>
        </p:txBody>
      </p:sp>
      <p:sp>
        <p:nvSpPr>
          <p:cNvPr id="102" name="Shape 96"/>
          <p:cNvSpPr/>
          <p:nvPr/>
        </p:nvSpPr>
        <p:spPr>
          <a:xfrm>
            <a:off x="457200" y="4370832"/>
            <a:ext cx="11277295" cy="2029968"/>
          </a:xfrm>
          <a:prstGeom prst="roundRect">
            <a:avLst>
              <a:gd name="adj" fmla="val 4505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3" name="Text 97"/>
          <p:cNvSpPr txBox="1"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104" name="Text 98"/>
          <p:cNvSpPr txBox="1"/>
          <p:nvPr/>
        </p:nvSpPr>
        <p:spPr>
          <a:xfrm>
            <a:off x="685800" y="47823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105" name="Text 99"/>
          <p:cNvSpPr txBox="1"/>
          <p:nvPr/>
        </p:nvSpPr>
        <p:spPr>
          <a:xfrm>
            <a:off x="685800" y="50292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can open a row's explainer; only an admin changes anything (a member has no ⚙ or Rearrange).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amber / red lines colour the day's counts at once and change "Under-manned".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counter shows a preview count before it is added, then a row at the foot.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row folds under "Archive" and comes back from there; ↺ Reset counters asks first.</a:t>
            </a:r>
            <a:endParaRPr lang="en-US" sz="1100" dirty="0"/>
          </a:p>
        </p:txBody>
      </p:sp>
      <p:sp>
        <p:nvSpPr>
          <p:cNvPr id="106" name="Text 100"/>
          <p:cNvSpPr txBox="1"/>
          <p:nvPr/>
        </p:nvSpPr>
        <p:spPr>
          <a:xfrm>
            <a:off x="6949440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107" name="Text 101"/>
          <p:cNvSpPr txBox="1"/>
          <p:nvPr/>
        </p:nvSpPr>
        <p:spPr>
          <a:xfrm>
            <a:off x="694944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manningsheet.test.tsx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explainer; an admin edits the lines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counterform.test.tsx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build, edit, delete; members cannot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amber and red; reorder, hide, archive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undermanned.test.tsx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days breaking a manning rule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settingssheet.test.tsx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⚙ is admin only</a:t>
            </a:r>
            <a:endParaRPr lang="en-US" sz="1000" dirty="0"/>
          </a:p>
        </p:txBody>
      </p:sp>
      <p:sp>
        <p:nvSpPr>
          <p:cNvPr id="108" name="Text 10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24 / 42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1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trk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75830" y="1330547"/>
            <a:ext cx="434054" cy="164020"/>
          </a:xfrm>
          <a:prstGeom prst="roundRect">
            <a:avLst>
              <a:gd name="adj" fmla="val 223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5830" y="15128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830" y="15128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04698" y="1330547"/>
            <a:ext cx="360712" cy="164020"/>
          </a:xfrm>
          <a:prstGeom prst="roundRect">
            <a:avLst>
              <a:gd name="adj" fmla="val 223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04698" y="15128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04698" y="15128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912795" y="1330547"/>
            <a:ext cx="480727" cy="164020"/>
          </a:xfrm>
          <a:prstGeom prst="roundRect">
            <a:avLst>
              <a:gd name="adj" fmla="val 223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12795" y="15128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12795" y="15128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39042" y="2667754"/>
            <a:ext cx="274434" cy="274434"/>
          </a:xfrm>
          <a:prstGeom prst="roundRect">
            <a:avLst>
              <a:gd name="adj" fmla="val 1332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Crew: whose marks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Syllabus: which chart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407822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6384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ring slice per student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543948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1" descr="C:\Users\User\AppData\Local\Temp\claude\C--Users-User-projects-Raptor--claude-worktrees-docs-rulings-slim-down-e83c74\bd625616-9217-44be-8d31-64893dff3b57\scratchpad\shots3\.deck\trk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80" y="1325880"/>
            <a:ext cx="2133600" cy="160020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4549502" y="1307592"/>
            <a:ext cx="1147477" cy="772257"/>
          </a:xfrm>
          <a:prstGeom prst="roundRect">
            <a:avLst>
              <a:gd name="adj" fmla="val 473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49502" y="2052512"/>
            <a:ext cx="1147477" cy="891856"/>
          </a:xfrm>
          <a:prstGeom prst="roundRect">
            <a:avLst>
              <a:gd name="adj" fmla="val 410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372536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and their progress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459284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2" descr="C:\Users\User\AppData\Local\Temp\claude\C--Users-User-projects-Raptor--claude-worktrees-docs-rulings-slim-down-e83c74\bd625616-9217-44be-8d31-64893dff3b57\scratchpad\shots3\.deck\trk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16" y="1325880"/>
            <a:ext cx="2133600" cy="1600200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7956741" y="1330372"/>
            <a:ext cx="485113" cy="142614"/>
          </a:xfrm>
          <a:prstGeom prst="roundRect">
            <a:avLst>
              <a:gd name="adj" fmla="val 2564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956741" y="10651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956741" y="10651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496822" y="1573209"/>
            <a:ext cx="2113387" cy="313776"/>
          </a:xfrm>
          <a:prstGeom prst="roundRect">
            <a:avLst>
              <a:gd name="adj" fmla="val 1165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287872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287872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All: filter the events</a:t>
            </a:r>
            <a:endParaRPr lang="en-US" sz="1300" dirty="0"/>
          </a:p>
        </p:txBody>
      </p:sp>
      <p:sp>
        <p:nvSpPr>
          <p:cNvPr id="53" name="Shape 48"/>
          <p:cNvSpPr/>
          <p:nvPr/>
        </p:nvSpPr>
        <p:spPr>
          <a:xfrm>
            <a:off x="6287872" y="34564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6617056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or not, per event</a:t>
            </a:r>
            <a:endParaRPr lang="en-US" sz="1300" dirty="0"/>
          </a:p>
        </p:txBody>
      </p:sp>
      <p:sp>
        <p:nvSpPr>
          <p:cNvPr id="55" name="Shape 50"/>
          <p:cNvSpPr/>
          <p:nvPr/>
        </p:nvSpPr>
        <p:spPr>
          <a:xfrm>
            <a:off x="9374619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6" name="Image 3" descr="C:\Users\User\AppData\Local\Temp\claude\C--Users-User-projects-Raptor--claude-worktrees-docs-rulings-slim-down-e83c74\bd625616-9217-44be-8d31-64893dff3b57\scratchpad\shots3\.deck\trk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051" y="1325880"/>
            <a:ext cx="2133600" cy="1600200"/>
          </a:xfrm>
          <a:prstGeom prst="rect">
            <a:avLst/>
          </a:prstGeom>
        </p:spPr>
      </p:pic>
      <p:sp>
        <p:nvSpPr>
          <p:cNvPr id="57" name="Shape 51"/>
          <p:cNvSpPr/>
          <p:nvPr/>
        </p:nvSpPr>
        <p:spPr>
          <a:xfrm>
            <a:off x="10762930" y="1331214"/>
            <a:ext cx="362712" cy="128016"/>
          </a:xfrm>
          <a:prstGeom prst="roundRect">
            <a:avLst>
              <a:gd name="adj" fmla="val 2857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0762930" y="147751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10762930" y="147751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10762930" y="1405890"/>
            <a:ext cx="757428" cy="602034"/>
          </a:xfrm>
          <a:prstGeom prst="roundRect">
            <a:avLst>
              <a:gd name="adj" fmla="val 607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9203207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9203207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57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event</a:t>
            </a:r>
            <a:endParaRPr lang="en-US" sz="1300" dirty="0"/>
          </a:p>
        </p:txBody>
      </p:sp>
      <p:sp>
        <p:nvSpPr>
          <p:cNvPr id="64" name="Shape 58"/>
          <p:cNvSpPr/>
          <p:nvPr/>
        </p:nvSpPr>
        <p:spPr>
          <a:xfrm>
            <a:off x="9203207" y="34564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9532391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matches, ringed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457200" y="4370832"/>
            <a:ext cx="11277295" cy="2029968"/>
          </a:xfrm>
          <a:prstGeom prst="roundRect">
            <a:avLst>
              <a:gd name="adj" fmla="val 4505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8" name="Text 62"/>
          <p:cNvSpPr txBox="1"/>
          <p:nvPr/>
        </p:nvSpPr>
        <p:spPr>
          <a:xfrm>
            <a:off x="685800" y="47823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685800" y="50292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sees exactly the same bar and menus as an admin.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Crew moves the highlighted slice on every ball and the Overall card.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event rings the ball in turquoise and scrolls to it; Enter steps to the next match.</a:t>
            </a:r>
            <a:endParaRPr lang="en-US" sz="1100" dirty="0"/>
          </a:p>
        </p:txBody>
      </p:sp>
      <p:sp>
        <p:nvSpPr>
          <p:cNvPr id="70" name="Text 64"/>
          <p:cNvSpPr txBox="1"/>
          <p:nvPr/>
        </p:nvSpPr>
        <p:spPr>
          <a:xfrm>
            <a:off x="6949440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1" name="Text 65"/>
          <p:cNvSpPr txBox="1"/>
          <p:nvPr/>
        </p:nvSpPr>
        <p:spPr>
          <a:xfrm>
            <a:off x="694944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board draws; the bar reads in order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typing a code snaps to that ball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 All groups by code; says done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member has every control</a:t>
            </a:r>
            <a:endParaRPr lang="en-US" sz="1000" dirty="0"/>
          </a:p>
        </p:txBody>
      </p:sp>
      <p:sp>
        <p:nvSpPr>
          <p:cNvPr id="72" name="Text 6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25 / 42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2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flow chart: the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cha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439585" y="1356251"/>
            <a:ext cx="197075" cy="155492"/>
          </a:xfrm>
          <a:prstGeom prst="roundRect">
            <a:avLst>
              <a:gd name="adj" fmla="val 2352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39585" y="153003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39585" y="153003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470448" y="1751294"/>
            <a:ext cx="837460" cy="147175"/>
          </a:xfrm>
          <a:prstGeom prst="roundRect">
            <a:avLst>
              <a:gd name="adj" fmla="val 2485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70448" y="148611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70448" y="148611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470448" y="1497635"/>
            <a:ext cx="837460" cy="159650"/>
          </a:xfrm>
          <a:prstGeom prst="roundRect">
            <a:avLst>
              <a:gd name="adj" fmla="val 2291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70448" y="123245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70448" y="123245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✎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syllabus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chart layout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1" descr="C:\Users\User\AppData\Local\Temp\claude\C--Users-User-projects-Raptor--claude-worktrees-docs-rulings-slim-down-e83c74\bd625616-9217-44be-8d31-64893dff3b57\scratchpad\shots3\.deck\chart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494556" y="1333900"/>
            <a:ext cx="213378" cy="131928"/>
          </a:xfrm>
          <a:prstGeom prst="roundRect">
            <a:avLst>
              <a:gd name="adj" fmla="val 277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494556" y="148411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494556" y="14841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525147" y="1331474"/>
            <a:ext cx="236725" cy="136779"/>
          </a:xfrm>
          <a:prstGeom prst="roundRect">
            <a:avLst>
              <a:gd name="adj" fmla="val 267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525147" y="148654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525147" y="148654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894877" y="1333900"/>
            <a:ext cx="264204" cy="131928"/>
          </a:xfrm>
          <a:prstGeom prst="roundRect">
            <a:avLst>
              <a:gd name="adj" fmla="val 277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894877" y="148411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894877" y="14841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4725509" y="2570336"/>
            <a:ext cx="203559" cy="203605"/>
          </a:xfrm>
          <a:prstGeom prst="roundRect">
            <a:avLst>
              <a:gd name="adj" fmla="val 1796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Acad, + Flight, + Sim…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Move: drag it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3372536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372536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0"/>
          <p:cNvSpPr txBox="1"/>
          <p:nvPr/>
        </p:nvSpPr>
        <p:spPr>
          <a:xfrm>
            <a:off x="3701720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Connect two events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6" name="Image 2" descr="C:\Users\User\AppData\Local\Temp\claude\C--Users-User-projects-Raptor--claude-worktrees-docs-rulings-slim-down-e83c74\bd625616-9217-44be-8d31-64893dff3b57\scratchpad\shots3\.deck\chart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7055777" y="2004404"/>
            <a:ext cx="1018117" cy="154567"/>
          </a:xfrm>
          <a:prstGeom prst="roundRect">
            <a:avLst>
              <a:gd name="adj" fmla="val 2366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055777" y="173922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7055777" y="17392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0" name="Shape 55"/>
          <p:cNvSpPr/>
          <p:nvPr/>
        </p:nvSpPr>
        <p:spPr>
          <a:xfrm>
            <a:off x="7853024" y="2844707"/>
            <a:ext cx="220870" cy="154567"/>
          </a:xfrm>
          <a:prstGeom prst="roundRect">
            <a:avLst>
              <a:gd name="adj" fmla="val 2366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8101326" y="279854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8101326" y="279854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7055777" y="2437796"/>
            <a:ext cx="1018117" cy="154567"/>
          </a:xfrm>
          <a:prstGeom prst="roundRect">
            <a:avLst>
              <a:gd name="adj" fmla="val 2366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287872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287872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Text 62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Text: the poke-ball</a:t>
            </a:r>
            <a:endParaRPr lang="en-US" sz="1300" dirty="0"/>
          </a:p>
        </p:txBody>
      </p:sp>
      <p:sp>
        <p:nvSpPr>
          <p:cNvPr id="68" name="Shape 63"/>
          <p:cNvSpPr/>
          <p:nvPr/>
        </p:nvSpPr>
        <p:spPr>
          <a:xfrm>
            <a:off x="6287872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6287872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6617056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71" name="Shape 66"/>
          <p:cNvSpPr/>
          <p:nvPr/>
        </p:nvSpPr>
        <p:spPr>
          <a:xfrm>
            <a:off x="6287872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6617056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prerequisite links</a:t>
            </a:r>
            <a:endParaRPr lang="en-US" sz="1300" dirty="0"/>
          </a:p>
        </p:txBody>
      </p:sp>
      <p:sp>
        <p:nvSpPr>
          <p:cNvPr id="73" name="Shape 68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4" name="Image 3" descr="C:\Users\User\AppData\Local\Temp\claude\C--Users-User-projects-Raptor--claude-worktrees-docs-rulings-slim-down-e83c74\bd625616-9217-44be-8d31-64893dff3b57\scratchpad\shots3\.deck\chart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75" name="Shape 69"/>
          <p:cNvSpPr/>
          <p:nvPr/>
        </p:nvSpPr>
        <p:spPr>
          <a:xfrm>
            <a:off x="11303504" y="1343603"/>
            <a:ext cx="322876" cy="119799"/>
          </a:xfrm>
          <a:prstGeom prst="roundRect">
            <a:avLst>
              <a:gd name="adj" fmla="val 3053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11303504" y="148169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11303504" y="14816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8" name="Shape 72"/>
          <p:cNvSpPr/>
          <p:nvPr/>
        </p:nvSpPr>
        <p:spPr>
          <a:xfrm>
            <a:off x="9391845" y="2681876"/>
            <a:ext cx="213327" cy="213350"/>
          </a:xfrm>
          <a:prstGeom prst="roundRect">
            <a:avLst>
              <a:gd name="adj" fmla="val 1714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9203207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9203207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1" name="Text 75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 changes</a:t>
            </a:r>
            <a:endParaRPr lang="en-US" sz="1300" dirty="0"/>
          </a:p>
        </p:txBody>
      </p:sp>
      <p:sp>
        <p:nvSpPr>
          <p:cNvPr id="82" name="Shape 76"/>
          <p:cNvSpPr/>
          <p:nvPr/>
        </p:nvSpPr>
        <p:spPr>
          <a:xfrm>
            <a:off x="9203207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event, renamed</a:t>
            </a:r>
            <a:endParaRPr lang="en-US" sz="1300" dirty="0"/>
          </a:p>
        </p:txBody>
      </p:sp>
      <p:sp>
        <p:nvSpPr>
          <p:cNvPr id="84" name="Shape 78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85" name="Text 79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86" name="Text 80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87" name="Text 81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Move, Select, Connect (prerequisite, then the event), Delete (asks), + events, Text, Line, Edit lines, Arrow, Merge, Fit, Reset layout, Edit events.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structure change lights "✓ Save changes ●"; saving clears it and the undo history.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moved ball saves itself; Delete asks, and says marks go at Save.</a:t>
            </a:r>
            <a:endParaRPr lang="en-US" sz="1100" dirty="0"/>
          </a:p>
        </p:txBody>
      </p:sp>
      <p:sp>
        <p:nvSpPr>
          <p:cNvPr id="88" name="Text 82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9" name="Text 83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ball drags in edit mode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event shows Save changes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poke-ball editor stays open on Delete?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retest.test.tsx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detail typed on one chart stays there</a:t>
            </a:r>
            <a:endParaRPr lang="en-US" sz="1000" dirty="0"/>
          </a:p>
        </p:txBody>
      </p:sp>
      <p:sp>
        <p:nvSpPr>
          <p:cNvPr id="90" name="Text 8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26 / 42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3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 event's details — three doors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pop-up: ✎ Edit details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20597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detail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29" y="1901952"/>
            <a:ext cx="219456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355075" y="2444428"/>
            <a:ext cx="534271" cy="173736"/>
          </a:xfrm>
          <a:prstGeom prst="roundRect">
            <a:avLst>
              <a:gd name="adj" fmla="val 2105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55075" y="21792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55075" y="21792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336749" y="3047932"/>
            <a:ext cx="254073" cy="173736"/>
          </a:xfrm>
          <a:prstGeom prst="roundRect">
            <a:avLst>
              <a:gd name="adj" fmla="val 2105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18254" y="301135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18254" y="30113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name, type, crew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All: its Edit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71136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detail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901952"/>
            <a:ext cx="2194560" cy="164592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511509" y="2059310"/>
            <a:ext cx="497145" cy="144860"/>
          </a:xfrm>
          <a:prstGeom prst="roundRect">
            <a:avLst>
              <a:gd name="adj" fmla="val 2524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511509" y="179413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511509" y="17941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958767" y="2979997"/>
            <a:ext cx="182624" cy="121760"/>
          </a:xfrm>
          <a:prstGeom prst="roundRect">
            <a:avLst>
              <a:gd name="adj" fmla="val 3003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68824" y="291743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168824" y="29174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it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chart editor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8821674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2" descr="C:\Users\User\AppData\Local\Temp\claude\C--Users-User-projects-Raptor--claude-worktrees-docs-rulings-slim-down-e83c74\bd625616-9217-44be-8d31-64893dff3b57\scratchpad\shots3\.deck\chart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06" y="1901952"/>
            <a:ext cx="2194560" cy="164592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9475470" y="2539555"/>
            <a:ext cx="963168" cy="149352"/>
          </a:xfrm>
          <a:prstGeom prst="roundRect">
            <a:avLst>
              <a:gd name="adj" fmla="val 2449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9475470" y="227437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475470" y="227437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10226802" y="3331464"/>
            <a:ext cx="211836" cy="149352"/>
          </a:xfrm>
          <a:prstGeom prst="roundRect">
            <a:avLst>
              <a:gd name="adj" fmla="val 2449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0466070" y="32826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0466070" y="32826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9475470" y="2947987"/>
            <a:ext cx="963168" cy="149352"/>
          </a:xfrm>
          <a:prstGeom prst="roundRect">
            <a:avLst>
              <a:gd name="adj" fmla="val 2449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240573" y="373989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Text: label, colour,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8240573" y="4023360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crew, links</a:t>
            </a:r>
            <a:endParaRPr lang="en-US" sz="1150" dirty="0"/>
          </a:p>
        </p:txBody>
      </p:sp>
      <p:sp>
        <p:nvSpPr>
          <p:cNvPr id="59" name="Shape 54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1" name="Text 56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2" name="Text 57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of hours shows at once in the event's pop-up.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 doc refills the boxes but saves nothing until Save.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change only in the details window or Show All — not in the poke-ball editor.</a:t>
            </a:r>
            <a:endParaRPr lang="en-US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4" name="Text 59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inline editor has all five fields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Reset to doc fills the boxes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retest.test.tsx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details belong to one chart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27 / 42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4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6965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mark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397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417737" y="2741968"/>
            <a:ext cx="308984" cy="308984"/>
          </a:xfrm>
          <a:prstGeom prst="roundRect">
            <a:avLst>
              <a:gd name="adj" fmla="val 1183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54154" y="277301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54154" y="2773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957446" y="1450455"/>
            <a:ext cx="423012" cy="172679"/>
          </a:xfrm>
          <a:prstGeom prst="roundRect">
            <a:avLst>
              <a:gd name="adj" fmla="val 2118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57446" y="118527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957446" y="118527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579037" y="1958639"/>
            <a:ext cx="801421" cy="182382"/>
          </a:xfrm>
          <a:prstGeom prst="roundRect">
            <a:avLst>
              <a:gd name="adj" fmla="val 2005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33418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event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DCO, DPCO, Marginal, N.A.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on: today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904080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mark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512" y="1325880"/>
            <a:ext cx="2328672" cy="174650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009281" y="2064250"/>
            <a:ext cx="198419" cy="198375"/>
          </a:xfrm>
          <a:prstGeom prst="roundRect">
            <a:avLst>
              <a:gd name="adj" fmla="val 1843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471361" y="1914467"/>
            <a:ext cx="764938" cy="199180"/>
          </a:xfrm>
          <a:prstGeom prst="roundRect">
            <a:avLst>
              <a:gd name="adj" fmla="val 1836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920533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44314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673498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slice turns black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4344314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673498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moves on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8791194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2" descr="C:\Users\User\AppData\Local\Temp\claude\C--Users-User-projects-Raptor--claude-worktrees-docs-rulings-slim-down-e83c74\bd625616-9217-44be-8d31-64893dff3b57\scratchpad\shots3\.deck\mark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626" y="1325880"/>
            <a:ext cx="2328672" cy="1746504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10199460" y="2122669"/>
            <a:ext cx="140474" cy="165887"/>
          </a:xfrm>
          <a:prstGeom prst="roundRect">
            <a:avLst>
              <a:gd name="adj" fmla="val 2603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0199460" y="18574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10199460" y="18574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9754476" y="2440815"/>
            <a:ext cx="755332" cy="117449"/>
          </a:xfrm>
          <a:prstGeom prst="roundRect">
            <a:avLst>
              <a:gd name="adj" fmla="val 3114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231429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231429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560613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+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8231429" y="36027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560613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failure, dated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 dates the event today and moves the yellow "available" ring on.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Fails + is one failure, drawn as a red tick on the ball and a chip in the Failures card.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Done on after a grade re-dates the mark.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55" name="Text 50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ball opens the grading pop-up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DCO dates the day it was pressed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failure is its own chip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grade is one undo step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28 / 42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5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update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student's slice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20597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mark-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29" y="1901952"/>
            <a:ext cx="219456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780942" y="3380326"/>
            <a:ext cx="272903" cy="179396"/>
          </a:xfrm>
          <a:prstGeom prst="roundRect">
            <a:avLst>
              <a:gd name="adj" fmla="val 2038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81277" y="334658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81277" y="33465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72152" y="1907667"/>
            <a:ext cx="444627" cy="166878"/>
          </a:xfrm>
          <a:prstGeom prst="roundRect">
            <a:avLst>
              <a:gd name="adj" fmla="val 2191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his slice: he is picked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switches to him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list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971136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mark-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901952"/>
            <a:ext cx="2194560" cy="16459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368644" y="2969552"/>
            <a:ext cx="198882" cy="102870"/>
          </a:xfrm>
          <a:prstGeom prst="roundRect">
            <a:avLst>
              <a:gd name="adj" fmla="val 3555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368644" y="270437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68644" y="27043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76189" y="2316328"/>
            <a:ext cx="376123" cy="138379"/>
          </a:xfrm>
          <a:prstGeom prst="roundRect">
            <a:avLst>
              <a:gd name="adj" fmla="val 2643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76189" y="20511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76189" y="2051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failure's day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in the top bar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821674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2" descr="C:\Users\User\AppData\Local\Temp\claude\C--Users-User-projects-Raptor--claude-worktrees-docs-rulings-slim-down-e83c74\bd625616-9217-44be-8d31-64893dff3b57\scratchpad\shots3\.deck\mark-w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06" y="1901952"/>
            <a:ext cx="2194560" cy="1645920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9365421" y="1936814"/>
            <a:ext cx="180594" cy="122301"/>
          </a:xfrm>
          <a:prstGeom prst="roundRect">
            <a:avLst>
              <a:gd name="adj" fmla="val 2990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365421" y="207740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365421" y="20774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9502581" y="1936814"/>
            <a:ext cx="180594" cy="122301"/>
          </a:xfrm>
          <a:prstGeom prst="roundRect">
            <a:avLst>
              <a:gd name="adj" fmla="val 2990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158277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158277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↶ one step at a time</a:t>
            </a:r>
            <a:endParaRPr lang="en-US" sz="1150" dirty="0"/>
          </a:p>
        </p:txBody>
      </p:sp>
      <p:sp>
        <p:nvSpPr>
          <p:cNvPr id="52" name="Shape 47"/>
          <p:cNvSpPr/>
          <p:nvPr/>
        </p:nvSpPr>
        <p:spPr>
          <a:xfrm>
            <a:off x="8158277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↷ puts it back</a:t>
            </a:r>
            <a:endParaRPr lang="en-US" sz="1150" dirty="0"/>
          </a:p>
        </p:txBody>
      </p:sp>
      <p:sp>
        <p:nvSpPr>
          <p:cNvPr id="54" name="Shape 49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57" name="Text 52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another student's slice picks him and opens nothing; tapping again opens his pop-up.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panel's dates (last flown, down days, pace, end dates) save on leaving the box.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covers marks, failures, dates, pace and chart edits; there is no bulk marking.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59" name="Text 54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another crew member's wedge picks them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changing a day in the list re-dates 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leftovers.test.tsx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Undo takes back pace, end date, lull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29 / 42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6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refuses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N.A. cannot have fails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20597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refus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29" y="1901952"/>
            <a:ext cx="219456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447495" y="3028200"/>
            <a:ext cx="136071" cy="160020"/>
          </a:xfrm>
          <a:prstGeom prst="roundRect">
            <a:avLst>
              <a:gd name="adj" fmla="val 2688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47495" y="276302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47495" y="27630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028139" y="3310878"/>
            <a:ext cx="715518" cy="162056"/>
          </a:xfrm>
          <a:prstGeom prst="roundRect">
            <a:avLst>
              <a:gd name="adj" fmla="val 2257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+ on an N.A.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Refused, with the reason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not yet come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971136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refus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901952"/>
            <a:ext cx="2194560" cy="16459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476015" y="2592120"/>
            <a:ext cx="808591" cy="183533"/>
          </a:xfrm>
          <a:prstGeom prst="roundRect">
            <a:avLst>
              <a:gd name="adj" fmla="val 1992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312038" y="256044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12038" y="256044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76015" y="2711645"/>
            <a:ext cx="808591" cy="176063"/>
          </a:xfrm>
          <a:prstGeom prst="roundRect">
            <a:avLst>
              <a:gd name="adj" fmla="val 2077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Done 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4307738" y="398678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today or earlier"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 the chart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8821674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2" descr="C:\Users\User\AppData\Local\Temp\claude\C--Users-User-projects-Raptor--claude-worktrees-docs-rulings-slim-down-e83c74\bd625616-9217-44be-8d31-64893dff3b57\scratchpad\shots3\.deck\refuse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06" y="1901952"/>
            <a:ext cx="2194560" cy="1645920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9165880" y="2381114"/>
            <a:ext cx="1561011" cy="217333"/>
          </a:xfrm>
          <a:prstGeom prst="roundRect">
            <a:avLst>
              <a:gd name="adj" fmla="val 1682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0513722" y="2581465"/>
            <a:ext cx="213169" cy="173736"/>
          </a:xfrm>
          <a:prstGeom prst="roundRect">
            <a:avLst>
              <a:gd name="adj" fmla="val 2105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754324" y="254489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0754324" y="25448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158277" y="370332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link would create a loop"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8158277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158277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53" name="Text 48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refused: the same link twice, a link to itself, a name already used, a colon in a course name, deleting the last course (no automated test yet — filed).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day is refused in Done on, Failed on and both Last Flown boxes.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chart, exporting or signing out with unsaved chart edits asks first.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56" name="Text 51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N.A. event cannot be failed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leftovers.test.tsx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day after today is refused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switching with unsaved edits asks first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30 / 42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7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courses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stu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685596" y="1335177"/>
            <a:ext cx="174132" cy="116032"/>
          </a:xfrm>
          <a:prstGeom prst="roundRect">
            <a:avLst>
              <a:gd name="adj" fmla="val 3152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85596" y="146949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85596" y="146949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346" y="1649989"/>
            <a:ext cx="1010341" cy="133373"/>
          </a:xfrm>
          <a:prstGeom prst="roundRect">
            <a:avLst>
              <a:gd name="adj" fmla="val 274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346" y="138481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8346" y="138481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0823" y="1885334"/>
            <a:ext cx="1005386" cy="135850"/>
          </a:xfrm>
          <a:prstGeom prst="roundRect">
            <a:avLst>
              <a:gd name="adj" fmla="val 269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0823" y="162015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0823" y="162015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roster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him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1" descr="C:\Users\User\AppData\Local\Temp\claude\C--Users-User-projects-Raptor--claude-worktrees-docs-rulings-slim-down-e83c74\bd625616-9217-44be-8d31-64893dff3b57\scratchpad\shots3\.deck\stu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587983" y="1610657"/>
            <a:ext cx="553109" cy="156393"/>
          </a:xfrm>
          <a:prstGeom prst="roundRect">
            <a:avLst>
              <a:gd name="adj" fmla="val 2338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376923" y="1517249"/>
            <a:ext cx="103805" cy="121997"/>
          </a:xfrm>
          <a:prstGeom prst="roundRect">
            <a:avLst>
              <a:gd name="adj" fmla="val 3523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376923" y="165753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376923" y="16575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438551" y="1514634"/>
            <a:ext cx="93685" cy="127285"/>
          </a:xfrm>
          <a:prstGeom prst="roundRect">
            <a:avLst>
              <a:gd name="adj" fmla="val 390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559668" y="145483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559668" y="14548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72536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joins, linked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rename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3372536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372536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3701720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remove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2" name="Image 2" descr="C:\Users\User\AppData\Local\Temp\claude\C--Users-User-projects-Raptor--claude-worktrees-docs-rulings-slim-down-e83c74\bd625616-9217-44be-8d31-64893dff3b57\scratchpad\shots3\.deck\stu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7453004" y="1348454"/>
            <a:ext cx="180442" cy="144056"/>
          </a:xfrm>
          <a:prstGeom prst="roundRect">
            <a:avLst>
              <a:gd name="adj" fmla="val 2539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453004" y="151079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7453004" y="15107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7477849" y="1472165"/>
            <a:ext cx="740778" cy="136779"/>
          </a:xfrm>
          <a:prstGeom prst="roundRect">
            <a:avLst>
              <a:gd name="adj" fmla="val 2674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477849" y="120698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7477849" y="12069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7477849" y="1781442"/>
            <a:ext cx="740778" cy="147695"/>
          </a:xfrm>
          <a:prstGeom prst="roundRect">
            <a:avLst>
              <a:gd name="adj" fmla="val 2476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6287872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6287872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✎</a:t>
            </a:r>
            <a:endParaRPr lang="en-US" sz="1300" dirty="0"/>
          </a:p>
        </p:txBody>
      </p:sp>
      <p:sp>
        <p:nvSpPr>
          <p:cNvPr id="64" name="Shape 59"/>
          <p:cNvSpPr/>
          <p:nvPr/>
        </p:nvSpPr>
        <p:spPr>
          <a:xfrm>
            <a:off x="6287872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6287872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6" name="Text 61"/>
          <p:cNvSpPr txBox="1"/>
          <p:nvPr/>
        </p:nvSpPr>
        <p:spPr>
          <a:xfrm>
            <a:off x="6617056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course</a:t>
            </a:r>
            <a:endParaRPr lang="en-US" sz="1300" dirty="0"/>
          </a:p>
        </p:txBody>
      </p:sp>
      <p:sp>
        <p:nvSpPr>
          <p:cNvPr id="67" name="Shape 62"/>
          <p:cNvSpPr/>
          <p:nvPr/>
        </p:nvSpPr>
        <p:spPr>
          <a:xfrm>
            <a:off x="6287872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6617056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course</a:t>
            </a:r>
            <a:endParaRPr lang="en-US" sz="1300" dirty="0"/>
          </a:p>
        </p:txBody>
      </p:sp>
      <p:sp>
        <p:nvSpPr>
          <p:cNvPr id="69" name="Shape 64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0" name="Image 3" descr="C:\Users\User\AppData\Local\Temp\claude\C--Users-User-projects-Raptor--claude-worktrees-docs-rulings-slim-down-e83c74\bd625616-9217-44be-8d31-64893dff3b57\scratchpad\shots3\.deck\stu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10809604" y="2337490"/>
            <a:ext cx="356586" cy="151333"/>
          </a:xfrm>
          <a:prstGeom prst="roundRect">
            <a:avLst>
              <a:gd name="adj" fmla="val 2416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0809604" y="207231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10809604" y="207231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4" name="Shape 68"/>
          <p:cNvSpPr/>
          <p:nvPr/>
        </p:nvSpPr>
        <p:spPr>
          <a:xfrm>
            <a:off x="10810448" y="2512141"/>
            <a:ext cx="401484" cy="180442"/>
          </a:xfrm>
          <a:prstGeom prst="roundRect">
            <a:avLst>
              <a:gd name="adj" fmla="val 202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11239364" y="247891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70"/>
          <p:cNvSpPr txBox="1"/>
          <p:nvPr/>
        </p:nvSpPr>
        <p:spPr>
          <a:xfrm>
            <a:off x="11239364" y="247891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7" name="Shape 71"/>
          <p:cNvSpPr/>
          <p:nvPr/>
        </p:nvSpPr>
        <p:spPr>
          <a:xfrm>
            <a:off x="9203207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9203207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9" name="Text 73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Restore a deleted course</a:t>
            </a:r>
            <a:endParaRPr lang="en-US" sz="1300" dirty="0"/>
          </a:p>
        </p:txBody>
      </p:sp>
      <p:sp>
        <p:nvSpPr>
          <p:cNvPr id="80" name="Shape 74"/>
          <p:cNvSpPr/>
          <p:nvPr/>
        </p:nvSpPr>
        <p:spPr>
          <a:xfrm>
            <a:off x="9203207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1" name="Text 75"/>
          <p:cNvSpPr txBox="1"/>
          <p:nvPr/>
        </p:nvSpPr>
        <p:spPr>
          <a:xfrm>
            <a:off x="9203207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2" name="Text 76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order</a:t>
            </a:r>
            <a:endParaRPr lang="en-US" sz="1300" dirty="0"/>
          </a:p>
        </p:txBody>
      </p:sp>
      <p:sp>
        <p:nvSpPr>
          <p:cNvPr id="83" name="Shape 77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85" name="Text 79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86" name="Text 80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pick from the roster adds him in capitals with a linked dot; a typed new callsign adds a new crew member.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keeps his marks; × removes him and his marks on that chart.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course goes to the top and opens empty; a deleted one comes back with ↺ Restore.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"move to another course": remove and add again (starts clean).</a:t>
            </a:r>
            <a:endParaRPr lang="en-US" sz="1100" dirty="0"/>
          </a:p>
        </p:txBody>
      </p:sp>
      <p:sp>
        <p:nvSpPr>
          <p:cNvPr id="87" name="Text 81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8" name="Text 82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Add lists the roster; the pick is added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rename keeps the id; remove takes the work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course at the top; reorder re-slices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retest.test.tsx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deleted course comes back</a:t>
            </a:r>
            <a:endParaRPr lang="en-US" sz="1000" dirty="0"/>
          </a:p>
        </p:txBody>
      </p:sp>
      <p:sp>
        <p:nvSpPr>
          <p:cNvPr id="89" name="Text 83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31 / 42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11  ·  8 OF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import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— the same for everyone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076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fil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8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685447" y="1358330"/>
            <a:ext cx="295056" cy="151333"/>
          </a:xfrm>
          <a:prstGeom prst="roundRect">
            <a:avLst>
              <a:gd name="adj" fmla="val 2416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85447" y="15279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5447" y="15279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715790" y="1601593"/>
            <a:ext cx="837460" cy="151333"/>
          </a:xfrm>
          <a:prstGeom prst="roundRect">
            <a:avLst>
              <a:gd name="adj" fmla="val 2416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15790" y="133641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15790" y="133641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15790" y="1497635"/>
            <a:ext cx="837460" cy="151333"/>
          </a:xfrm>
          <a:prstGeom prst="roundRect">
            <a:avLst>
              <a:gd name="adj" fmla="val 2416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61640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⇪ File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446412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fil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44" y="1325880"/>
            <a:ext cx="2328672" cy="174650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802784" y="1874710"/>
            <a:ext cx="114463" cy="114463"/>
          </a:xfrm>
          <a:prstGeom prst="roundRect">
            <a:avLst>
              <a:gd name="adj" fmla="val 3195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802784" y="160953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802784" y="16095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128065" y="2120918"/>
            <a:ext cx="173589" cy="141630"/>
          </a:xfrm>
          <a:prstGeom prst="roundRect">
            <a:avLst>
              <a:gd name="adj" fmla="val 25825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329086" y="206829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329086" y="20682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207204" y="2704057"/>
            <a:ext cx="281897" cy="172679"/>
          </a:xfrm>
          <a:prstGeom prst="roundRect">
            <a:avLst>
              <a:gd name="adj" fmla="val 2118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516532" y="266695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516532" y="26669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787259" y="1958397"/>
            <a:ext cx="1701841" cy="187719"/>
          </a:xfrm>
          <a:prstGeom prst="roundRect">
            <a:avLst>
              <a:gd name="adj" fmla="val 19484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76976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72536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72536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3701720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courses too?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3372536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372536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3701720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3372536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372536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3701720" y="38496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6361748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3" name="Image 2" descr="C:\Users\User\AppData\Local\Temp\claude\C--Users-User-projects-Raptor--claude-worktrees-docs-rulings-slim-down-e83c74\bd625616-9217-44be-8d31-64893dff3b57\scratchpad\shots3\.deck\file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80" y="1325880"/>
            <a:ext cx="2328672" cy="1746504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6727268" y="1754932"/>
            <a:ext cx="1652495" cy="389398"/>
          </a:xfrm>
          <a:prstGeom prst="roundRect">
            <a:avLst>
              <a:gd name="adj" fmla="val 939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892311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287872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6617056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holds</a:t>
            </a:r>
            <a:endParaRPr lang="en-US" sz="1300" dirty="0"/>
          </a:p>
        </p:txBody>
      </p:sp>
      <p:sp>
        <p:nvSpPr>
          <p:cNvPr id="58" name="Shape 53"/>
          <p:cNvSpPr/>
          <p:nvPr/>
        </p:nvSpPr>
        <p:spPr>
          <a:xfrm>
            <a:off x="9277083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9" name="Image 3" descr="C:\Users\User\AppData\Local\Temp\claude\C--Users-User-projects-Raptor--claude-worktrees-docs-rulings-slim-down-e83c74\bd625616-9217-44be-8d31-64893dff3b57\scratchpad\shots3\.deck\file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515" y="1325880"/>
            <a:ext cx="2328672" cy="1746504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>
            <a:off x="9642604" y="1795606"/>
            <a:ext cx="1652495" cy="308051"/>
          </a:xfrm>
          <a:prstGeom prst="roundRect">
            <a:avLst>
              <a:gd name="adj" fmla="val 1187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0916746" y="2089549"/>
            <a:ext cx="378353" cy="180442"/>
          </a:xfrm>
          <a:prstGeom prst="roundRect">
            <a:avLst>
              <a:gd name="adj" fmla="val 202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1322531" y="205632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11322531" y="205632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9203207" y="329184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9532391" y="322783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 replace or add?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9203207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9203207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8" name="Text 62"/>
          <p:cNvSpPr txBox="1"/>
          <p:nvPr/>
        </p:nvSpPr>
        <p:spPr>
          <a:xfrm>
            <a:off x="9532391" y="35387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it</a:t>
            </a:r>
            <a:endParaRPr lang="en-US" sz="1300" dirty="0"/>
          </a:p>
        </p:txBody>
      </p:sp>
      <p:sp>
        <p:nvSpPr>
          <p:cNvPr id="69" name="Shape 63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1" name="Text 65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2" name="Text 66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opens with students unticked every time; ticking them shows the ⚠ warning.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charts-only file imports without asking about people and changes no marks.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already here asks Skip / Add as new / Replace; a file with people asks once.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damaged file is refused with a message saying what is wrong.</a:t>
            </a:r>
            <a:endParaRPr lang="en-US" sz="1100" dirty="0"/>
          </a:p>
        </p:txBody>
      </p:sp>
      <p:sp>
        <p:nvSpPr>
          <p:cNvPr id="73" name="Text 67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4" name="Text 68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Export starts with students unticked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charts-only import asks nothing, writes no mark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damaged files refused, with a reason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fileFormat.test.ts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file's shape</a:t>
            </a:r>
            <a:endParaRPr lang="en-US" sz="1000" dirty="0"/>
          </a:p>
        </p:txBody>
      </p:sp>
      <p:sp>
        <p:nvSpPr>
          <p:cNvPr id="75" name="Text 6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32 / 42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in, add a person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peopl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9424" y="1498633"/>
            <a:ext cx="1051658" cy="177571"/>
          </a:xfrm>
          <a:prstGeom prst="roundRect">
            <a:avLst>
              <a:gd name="adj" fmla="val 2059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9424" y="123345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9424" y="123345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9424" y="1708551"/>
            <a:ext cx="1051658" cy="184453"/>
          </a:xfrm>
          <a:prstGeom prst="roundRect">
            <a:avLst>
              <a:gd name="adj" fmla="val 1982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9424" y="144337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9424" y="144337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9424" y="1925353"/>
            <a:ext cx="1051658" cy="177571"/>
          </a:xfrm>
          <a:prstGeom prst="roundRect">
            <a:avLst>
              <a:gd name="adj" fmla="val 2059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9424" y="166017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9424" y="166017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9424" y="2300453"/>
            <a:ext cx="2073722" cy="160364"/>
          </a:xfrm>
          <a:prstGeom prst="roundRect">
            <a:avLst>
              <a:gd name="adj" fmla="val 2280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9424" y="203527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9424" y="203527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Callsign and initials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WSO or personnel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sign-in, if he uses the app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7200" y="403250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" y="4032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86384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person and sign-in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345104" y="1298448"/>
            <a:ext cx="2586152" cy="14787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1" descr="C:\Users\User\AppData\Local\Temp\claude\C--Users-User-projects-Raptor--claude-worktrees-docs-rulings-slim-down-e83c74\bd625616-9217-44be-8d31-64893dff3b57\scratchpad\shots3\.deck\peopl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423849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3415679" y="1620175"/>
            <a:ext cx="2373808" cy="265720"/>
          </a:xfrm>
          <a:prstGeom prst="roundRect">
            <a:avLst>
              <a:gd name="adj" fmla="val 1376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72536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list, both dots green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6260440" y="1298448"/>
            <a:ext cx="2586152" cy="14787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6" name="Image 2" descr="C:\Users\User\AppData\Local\Temp\claude\C--Users-User-projects-Raptor--claude-worktrees-docs-rulings-slim-down-e83c74\bd625616-9217-44be-8d31-64893dff3b57\scratchpad\shots3\.deck\people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423849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6331015" y="1651816"/>
            <a:ext cx="1598601" cy="198483"/>
          </a:xfrm>
          <a:prstGeom prst="roundRect">
            <a:avLst>
              <a:gd name="adj" fmla="val 1842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682728" y="138664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7682728" y="1386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6331015" y="1916810"/>
            <a:ext cx="1199132" cy="194528"/>
          </a:xfrm>
          <a:prstGeom prst="roundRect">
            <a:avLst>
              <a:gd name="adj" fmla="val 1880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331015" y="165163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6331015" y="16516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6331015" y="2098746"/>
            <a:ext cx="438510" cy="174752"/>
          </a:xfrm>
          <a:prstGeom prst="roundRect">
            <a:avLst>
              <a:gd name="adj" fmla="val 20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331015" y="183357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6331015" y="18335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6287872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287872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Text 54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man with no sign-in</a:t>
            </a:r>
            <a:endParaRPr lang="en-US" sz="1300" dirty="0"/>
          </a:p>
        </p:txBody>
      </p:sp>
      <p:sp>
        <p:nvSpPr>
          <p:cNvPr id="60" name="Shape 55"/>
          <p:cNvSpPr/>
          <p:nvPr/>
        </p:nvSpPr>
        <p:spPr>
          <a:xfrm>
            <a:off x="6287872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287872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2" name="Text 57"/>
          <p:cNvSpPr txBox="1"/>
          <p:nvPr/>
        </p:nvSpPr>
        <p:spPr>
          <a:xfrm>
            <a:off x="6617056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his defence mail</a:t>
            </a:r>
            <a:endParaRPr lang="en-US" sz="1300" dirty="0"/>
          </a:p>
        </p:txBody>
      </p:sp>
      <p:sp>
        <p:nvSpPr>
          <p:cNvPr id="63" name="Shape 58"/>
          <p:cNvSpPr/>
          <p:nvPr/>
        </p:nvSpPr>
        <p:spPr>
          <a:xfrm>
            <a:off x="6287872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6287872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Text 60"/>
          <p:cNvSpPr txBox="1"/>
          <p:nvPr/>
        </p:nvSpPr>
        <p:spPr>
          <a:xfrm>
            <a:off x="6617056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sign-in</a:t>
            </a:r>
            <a:endParaRPr lang="en-US" sz="1300" dirty="0"/>
          </a:p>
        </p:txBody>
      </p:sp>
      <p:sp>
        <p:nvSpPr>
          <p:cNvPr id="66" name="Shape 61"/>
          <p:cNvSpPr/>
          <p:nvPr/>
        </p:nvSpPr>
        <p:spPr>
          <a:xfrm>
            <a:off x="9175775" y="1298448"/>
            <a:ext cx="2586152" cy="14787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7" name="Image 3" descr="C:\Users\User\AppData\Local\Temp\claude\C--Users-User-projects-Raptor--claude-worktrees-docs-rulings-slim-down-e83c74\bd625616-9217-44be-8d31-64893dff3b57\scratchpad\shots3\.deck\people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423849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10820496" y="1701255"/>
            <a:ext cx="269675" cy="99604"/>
          </a:xfrm>
          <a:prstGeom prst="roundRect">
            <a:avLst>
              <a:gd name="adj" fmla="val 3672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9246351" y="1726964"/>
            <a:ext cx="1598601" cy="123335"/>
          </a:xfrm>
          <a:prstGeom prst="roundRect">
            <a:avLst>
              <a:gd name="adj" fmla="val 2965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9203207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sign-in dot turns green</a:t>
            </a:r>
            <a:endParaRPr lang="en-US" sz="1300" dirty="0"/>
          </a:p>
        </p:txBody>
      </p:sp>
      <p:sp>
        <p:nvSpPr>
          <p:cNvPr id="72" name="Shape 66"/>
          <p:cNvSpPr/>
          <p:nvPr/>
        </p:nvSpPr>
        <p:spPr>
          <a:xfrm>
            <a:off x="457200" y="4370832"/>
            <a:ext cx="11277295" cy="2029968"/>
          </a:xfrm>
          <a:prstGeom prst="roundRect">
            <a:avLst>
              <a:gd name="adj" fmla="val 4505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4" name="Text 68"/>
          <p:cNvSpPr txBox="1"/>
          <p:nvPr/>
        </p:nvSpPr>
        <p:spPr>
          <a:xfrm>
            <a:off x="685800" y="47823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5" name="Text 69"/>
          <p:cNvSpPr txBox="1"/>
          <p:nvPr/>
        </p:nvSpPr>
        <p:spPr>
          <a:xfrm>
            <a:off x="685800" y="50292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left blank: the button reads "Add person", no Role box; typing one changes both.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 the form clears; he is on People A to Z and has a Quals row.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with no sign-in offers Give sign-in · Archive · Delete · Cancel.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sign-in works at once; the top right reads "Nova · Member".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row is greyed and cannot be opened. A member has no Admin tab.</a:t>
            </a:r>
            <a:endParaRPr lang="en-US" sz="1100" dirty="0"/>
          </a:p>
        </p:txBody>
      </p:sp>
      <p:sp>
        <p:nvSpPr>
          <p:cNvPr id="76" name="Text 70"/>
          <p:cNvSpPr txBox="1"/>
          <p:nvPr/>
        </p:nvSpPr>
        <p:spPr>
          <a:xfrm>
            <a:off x="6949440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7" name="Text 71"/>
          <p:cNvSpPr txBox="1"/>
          <p:nvPr/>
        </p:nvSpPr>
        <p:spPr>
          <a:xfrm>
            <a:off x="694944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accounts-newperson.test.tsx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roster-only; Quals "+ Add person" opens 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a man on the roster his sign-in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onedoor-users.test.tsx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row per person, two dots; Post 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roster-add.test.ts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callsign, initials, seat and CAT checks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od-walk.mjs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walk: the list, the dots, Give sign-in</a:t>
            </a:r>
            <a:endParaRPr lang="en-US" sz="1000" dirty="0"/>
          </a:p>
        </p:txBody>
      </p:sp>
      <p:sp>
        <p:nvSpPr>
          <p:cNvPr id="78" name="Text 7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33 / 42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out, archive, delete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(post out) · Admin →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64228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leaving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58741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2841" y="2097573"/>
            <a:ext cx="634620" cy="201298"/>
          </a:xfrm>
          <a:prstGeom prst="roundRect">
            <a:avLst>
              <a:gd name="adj" fmla="val 181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2841" y="183239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2841" y="183239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2841" y="2299218"/>
            <a:ext cx="532993" cy="192718"/>
          </a:xfrm>
          <a:prstGeom prst="roundRect">
            <a:avLst>
              <a:gd name="adj" fmla="val 1897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2841" y="203404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2841" y="203404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3873" y="2628165"/>
            <a:ext cx="436528" cy="201298"/>
          </a:xfrm>
          <a:prstGeom prst="roundRect">
            <a:avLst>
              <a:gd name="adj" fmla="val 1817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873" y="236298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873" y="23629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3873" y="2492283"/>
            <a:ext cx="2355038" cy="135536"/>
          </a:xfrm>
          <a:prstGeom prst="roundRect">
            <a:avLst>
              <a:gd name="adj" fmla="val 2698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61640" y="197328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08703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0870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06874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day → PO: PO from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39793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39793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37964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 goes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370882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70882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69053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out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345104" y="1298448"/>
            <a:ext cx="2586152" cy="14787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1" descr="C:\Users\User\AppData\Local\Temp\claude\C--Users-User-projects-Raptor--claude-worktrees-docs-rulings-slim-down-e83c74\bd625616-9217-44be-8d31-64893dff3b57\scratchpad\shots3\.deck\leaving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423849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415679" y="1651816"/>
            <a:ext cx="1598601" cy="198483"/>
          </a:xfrm>
          <a:prstGeom prst="roundRect">
            <a:avLst>
              <a:gd name="adj" fmla="val 1842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767393" y="138664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767393" y="1386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980090" y="2098746"/>
            <a:ext cx="340991" cy="174752"/>
          </a:xfrm>
          <a:prstGeom prst="roundRect">
            <a:avLst>
              <a:gd name="adj" fmla="val 20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980090" y="183357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980090" y="18335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976976" y="197328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72536" y="308703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72536" y="30870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3701720" y="306874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Users: tap his row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3372536" y="339793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372536" y="339793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3701720" y="337964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6260440" y="1298448"/>
            <a:ext cx="2586152" cy="159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0" name="Image 2" descr="C:\Users\User\AppData\Local\Temp\claude\C--Users-User-projects-Raptor--claude-worktrees-docs-rulings-slim-down-e83c74\bd625616-9217-44be-8d31-64893dff3b57\scratchpad\shots3\.deck\leaving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542504"/>
          </a:xfrm>
          <a:prstGeom prst="rect">
            <a:avLst/>
          </a:prstGeom>
        </p:spPr>
      </p:pic>
      <p:sp>
        <p:nvSpPr>
          <p:cNvPr id="51" name="Shape 46"/>
          <p:cNvSpPr/>
          <p:nvPr/>
        </p:nvSpPr>
        <p:spPr>
          <a:xfrm>
            <a:off x="7505691" y="2361763"/>
            <a:ext cx="1199132" cy="202438"/>
          </a:xfrm>
          <a:prstGeom prst="roundRect">
            <a:avLst>
              <a:gd name="adj" fmla="val 1806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505691" y="209658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7505691" y="2096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331015" y="2626757"/>
            <a:ext cx="343587" cy="174752"/>
          </a:xfrm>
          <a:prstGeom prst="roundRect">
            <a:avLst>
              <a:gd name="adj" fmla="val 20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331015" y="2361581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331015" y="236158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6331015" y="2171916"/>
            <a:ext cx="1598601" cy="123335"/>
          </a:xfrm>
          <a:prstGeom prst="roundRect">
            <a:avLst>
              <a:gd name="adj" fmla="val 2965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8892311" y="1973285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287872" y="308703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287872" y="30870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Text 56"/>
          <p:cNvSpPr txBox="1"/>
          <p:nvPr/>
        </p:nvSpPr>
        <p:spPr>
          <a:xfrm>
            <a:off x="6617056" y="306874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Restore: his Post in date</a:t>
            </a:r>
            <a:endParaRPr lang="en-US" sz="1300" dirty="0"/>
          </a:p>
        </p:txBody>
      </p:sp>
      <p:sp>
        <p:nvSpPr>
          <p:cNvPr id="62" name="Shape 57"/>
          <p:cNvSpPr/>
          <p:nvPr/>
        </p:nvSpPr>
        <p:spPr>
          <a:xfrm>
            <a:off x="6287872" y="339793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287872" y="339793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6617056" y="337964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300" dirty="0"/>
          </a:p>
        </p:txBody>
      </p:sp>
      <p:sp>
        <p:nvSpPr>
          <p:cNvPr id="65" name="Shape 60"/>
          <p:cNvSpPr/>
          <p:nvPr/>
        </p:nvSpPr>
        <p:spPr>
          <a:xfrm>
            <a:off x="9175775" y="1298448"/>
            <a:ext cx="2586152" cy="14787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6" name="Image 3" descr="C:\Users\User\AppData\Local\Temp\claude\C--Users-User-projects-Raptor--claude-worktrees-docs-rulings-slim-down-e83c74\bd625616-9217-44be-8d31-64893dff3b57\scratchpad\shots3\.deck\leaving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423849"/>
          </a:xfrm>
          <a:prstGeom prst="rect">
            <a:avLst/>
          </a:prstGeom>
        </p:spPr>
      </p:pic>
      <p:sp>
        <p:nvSpPr>
          <p:cNvPr id="67" name="Shape 61"/>
          <p:cNvSpPr/>
          <p:nvPr/>
        </p:nvSpPr>
        <p:spPr>
          <a:xfrm>
            <a:off x="9945298" y="2098746"/>
            <a:ext cx="691701" cy="174752"/>
          </a:xfrm>
          <a:prstGeom prst="roundRect">
            <a:avLst>
              <a:gd name="adj" fmla="val 2093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9945298" y="183357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9945298" y="18335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4"/>
          <p:cNvSpPr/>
          <p:nvPr/>
        </p:nvSpPr>
        <p:spPr>
          <a:xfrm>
            <a:off x="9246351" y="2201580"/>
            <a:ext cx="2373808" cy="129268"/>
          </a:xfrm>
          <a:prstGeom prst="roundRect">
            <a:avLst>
              <a:gd name="adj" fmla="val 2829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9203207" y="308703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9203207" y="308703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3" name="Text 67"/>
          <p:cNvSpPr txBox="1"/>
          <p:nvPr/>
        </p:nvSpPr>
        <p:spPr>
          <a:xfrm>
            <a:off x="9532391" y="306874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asks twice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9203207" y="3443650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9532391" y="3379642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goes</a:t>
            </a:r>
            <a:endParaRPr lang="en-US" sz="1300" dirty="0"/>
          </a:p>
        </p:txBody>
      </p:sp>
      <p:sp>
        <p:nvSpPr>
          <p:cNvPr id="76" name="Shape 70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8" name="Text 72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9" name="Text 73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out: the sheet opens on the tapped day, Overseas Sqn chosen; nothing happens until the PO date.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is one tap: he moves to "Archived", both dots red, his sign-in says access suspended.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asks the Post in date; his next sign-in shows "Welcome back — check your quals and CAT".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needs two taps and names what goes before the second.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archive yourself, or the last admin who can sign in.</a:t>
            </a:r>
            <a:endParaRPr lang="en-US" sz="1100" dirty="0"/>
          </a:p>
        </p:txBody>
      </p:sp>
      <p:sp>
        <p:nvSpPr>
          <p:cNvPr id="80" name="Text 74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81" name="Text 75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e2e/onedoor.spec.ts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archive → away on the war → restore → welcome back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onedoor-users.test.tsx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archive one tap; restore asks Post in; delete twice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out from the grid; members see no PO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person-delete.test.ts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keeps flown days, clears days to come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suspend / enable; delete says what goes</a:t>
            </a:r>
            <a:endParaRPr lang="en-US" sz="1000" dirty="0"/>
          </a:p>
        </p:txBody>
      </p:sp>
      <p:sp>
        <p:nvSpPr>
          <p:cNvPr id="82" name="Text 7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34 / 42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14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Squadron settings and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Squadron config ·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12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setting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44" y="1325880"/>
            <a:ext cx="213360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7747" y="1590209"/>
            <a:ext cx="642451" cy="201507"/>
          </a:xfrm>
          <a:prstGeom prst="roundRect">
            <a:avLst>
              <a:gd name="adj" fmla="val 1815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7747" y="132503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747" y="132503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09163" y="1713484"/>
            <a:ext cx="111421" cy="92456"/>
          </a:xfrm>
          <a:prstGeom prst="roundRect">
            <a:avLst>
              <a:gd name="adj" fmla="val 3956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8016" y="163626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48016" y="16362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309163" y="2653453"/>
            <a:ext cx="1448477" cy="130387"/>
          </a:xfrm>
          <a:prstGeom prst="roundRect">
            <a:avLst>
              <a:gd name="adj" fmla="val 2805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09163" y="2388277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09163" y="238827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61640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Squadron config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section (Sims up)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templates…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543948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1" descr="C:\Users\User\AppData\Local\Temp\claude\C--Users-User-projects-Raptor--claude-worktrees-docs-rulings-slim-down-e83c74\bd625616-9217-44be-8d31-64893dff3b57\scratchpad\shots3\.deck\settings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80" y="1325880"/>
            <a:ext cx="2133600" cy="160020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553092" y="1307592"/>
            <a:ext cx="2170176" cy="1636776"/>
          </a:xfrm>
          <a:prstGeom prst="roundRect">
            <a:avLst>
              <a:gd name="adj" fmla="val 223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76976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372536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701720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editor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459284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2" descr="C:\Users\User\AppData\Local\Temp\claude\C--Users-User-projects-Raptor--claude-worktrees-docs-rulings-slim-down-e83c74\bd625616-9217-44be-8d31-64893dff3b57\scratchpad\shots3\.deck\settings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16" y="1325880"/>
            <a:ext cx="2133600" cy="160020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567129" y="1384144"/>
            <a:ext cx="371739" cy="96833"/>
          </a:xfrm>
          <a:prstGeom prst="roundRect">
            <a:avLst>
              <a:gd name="adj" fmla="val 37772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567129" y="1118968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567129" y="1118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7864086" y="1371834"/>
            <a:ext cx="178894" cy="121451"/>
          </a:xfrm>
          <a:prstGeom prst="roundRect">
            <a:avLst>
              <a:gd name="adj" fmla="val 3011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864086" y="151157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864086" y="15115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842003" y="2805860"/>
            <a:ext cx="199410" cy="105039"/>
          </a:xfrm>
          <a:prstGeom prst="roundRect">
            <a:avLst>
              <a:gd name="adj" fmla="val 3482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842003" y="254068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842003" y="25406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6495742" y="1480566"/>
            <a:ext cx="2142861" cy="140428"/>
          </a:xfrm>
          <a:prstGeom prst="roundRect">
            <a:avLst>
              <a:gd name="adj" fmla="val 26046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892311" y="197967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287872" y="30998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287872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6617056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find a rule</a:t>
            </a:r>
            <a:endParaRPr lang="en-US" sz="1300" dirty="0"/>
          </a:p>
        </p:txBody>
      </p:sp>
      <p:sp>
        <p:nvSpPr>
          <p:cNvPr id="55" name="Shape 50"/>
          <p:cNvSpPr/>
          <p:nvPr/>
        </p:nvSpPr>
        <p:spPr>
          <a:xfrm>
            <a:off x="6287872" y="34107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287872" y="3410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Text 52"/>
          <p:cNvSpPr txBox="1"/>
          <p:nvPr/>
        </p:nvSpPr>
        <p:spPr>
          <a:xfrm>
            <a:off x="6617056" y="339242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rules (then Done)</a:t>
            </a:r>
            <a:endParaRPr lang="en-US" sz="1300" dirty="0"/>
          </a:p>
        </p:txBody>
      </p:sp>
      <p:sp>
        <p:nvSpPr>
          <p:cNvPr id="58" name="Shape 53"/>
          <p:cNvSpPr/>
          <p:nvPr/>
        </p:nvSpPr>
        <p:spPr>
          <a:xfrm>
            <a:off x="6287872" y="3721608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6287872" y="37216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6617056" y="3703320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setting</a:t>
            </a:r>
            <a:endParaRPr lang="en-US" sz="1300" dirty="0"/>
          </a:p>
        </p:txBody>
      </p:sp>
      <p:sp>
        <p:nvSpPr>
          <p:cNvPr id="61" name="Shape 56"/>
          <p:cNvSpPr/>
          <p:nvPr/>
        </p:nvSpPr>
        <p:spPr>
          <a:xfrm>
            <a:off x="6287872" y="4078224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6617056" y="4014216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300" dirty="0"/>
          </a:p>
        </p:txBody>
      </p:sp>
      <p:sp>
        <p:nvSpPr>
          <p:cNvPr id="63" name="Shape 58"/>
          <p:cNvSpPr/>
          <p:nvPr/>
        </p:nvSpPr>
        <p:spPr>
          <a:xfrm>
            <a:off x="9374619" y="1298448"/>
            <a:ext cx="2188464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4" name="Image 3" descr="C:\Users\User\AppData\Local\Temp\claude\C--Users-User-projects-Raptor--claude-worktrees-docs-rulings-slim-down-e83c74\bd625616-9217-44be-8d31-64893dff3b57\scratchpad\shots3\.deck\settings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051" y="1325880"/>
            <a:ext cx="2133600" cy="1600200"/>
          </a:xfrm>
          <a:prstGeom prst="rect">
            <a:avLst/>
          </a:prstGeom>
        </p:spPr>
      </p:pic>
      <p:sp>
        <p:nvSpPr>
          <p:cNvPr id="65" name="Shape 59"/>
          <p:cNvSpPr/>
          <p:nvPr/>
        </p:nvSpPr>
        <p:spPr>
          <a:xfrm>
            <a:off x="9383763" y="1583912"/>
            <a:ext cx="2170176" cy="120682"/>
          </a:xfrm>
          <a:prstGeom prst="roundRect">
            <a:avLst>
              <a:gd name="adj" fmla="val 3030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9203207" y="314553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9532391" y="308152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"Rules modified" on the schedule</a:t>
            </a:r>
            <a:endParaRPr lang="en-US" sz="1300" dirty="0"/>
          </a:p>
        </p:txBody>
      </p:sp>
      <p:sp>
        <p:nvSpPr>
          <p:cNvPr id="68" name="Shape 62"/>
          <p:cNvSpPr/>
          <p:nvPr/>
        </p:nvSpPr>
        <p:spPr>
          <a:xfrm>
            <a:off x="457200" y="4370832"/>
            <a:ext cx="11277295" cy="2029968"/>
          </a:xfrm>
          <a:prstGeom prst="roundRect">
            <a:avLst>
              <a:gd name="adj" fmla="val 4505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0" name="Text 64"/>
          <p:cNvSpPr txBox="1"/>
          <p:nvPr/>
        </p:nvSpPr>
        <p:spPr>
          <a:xfrm>
            <a:off x="685800" y="47823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1" name="Text 65"/>
          <p:cNvSpPr txBox="1"/>
          <p:nvPr/>
        </p:nvSpPr>
        <p:spPr>
          <a:xfrm>
            <a:off x="685800" y="50292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has no Admin tab; Logic is read-only for him, with no Edit rules.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nudge renumbers the list; "Reset to standard order" puts it back.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setting outside its limits is refused and put back, with the limits named.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change every week shows "Rules modified" until "Reset to standard".</a:t>
            </a:r>
            <a:endParaRPr lang="en-US" sz="1100" dirty="0"/>
          </a:p>
        </p:txBody>
      </p:sp>
      <p:sp>
        <p:nvSpPr>
          <p:cNvPr id="72" name="Text 66"/>
          <p:cNvSpPr txBox="1"/>
          <p:nvPr/>
        </p:nvSpPr>
        <p:spPr>
          <a:xfrm>
            <a:off x="6949440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3" name="Text 67"/>
          <p:cNvSpPr txBox="1"/>
          <p:nvPr/>
        </p:nvSpPr>
        <p:spPr>
          <a:xfrm>
            <a:off x="694944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template openers; a nudge re-orders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Edit rules changes the engine; limits refused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DutyTplModal.test.tsx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new template, rows, delete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WaveTplModal.test.tsx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wave editor; members never see it</a:t>
            </a:r>
            <a:endParaRPr lang="en-US" sz="1000" dirty="0"/>
          </a:p>
        </p:txBody>
      </p:sp>
      <p:sp>
        <p:nvSpPr>
          <p:cNvPr id="74" name="Text 68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35 / 42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14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doors to the same editors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Squadron config ·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day's Templates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20597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settings-w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29" y="1901952"/>
            <a:ext cx="219456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755779" y="1932650"/>
            <a:ext cx="345737" cy="150223"/>
          </a:xfrm>
          <a:prstGeom prst="roundRect">
            <a:avLst>
              <a:gd name="adj" fmla="val 2434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55779" y="166747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55779" y="16674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793987" y="2397769"/>
            <a:ext cx="473100" cy="122791"/>
          </a:xfrm>
          <a:prstGeom prst="roundRect">
            <a:avLst>
              <a:gd name="adj" fmla="val 29787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93987" y="213259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93987" y="21325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Manage templates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07738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99178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board's + Block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71136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settings-w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901952"/>
            <a:ext cx="2194560" cy="164592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749661" y="2248730"/>
            <a:ext cx="276300" cy="132588"/>
          </a:xfrm>
          <a:prstGeom prst="roundRect">
            <a:avLst>
              <a:gd name="adj" fmla="val 27586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749661" y="198355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749661" y="198355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600727" y="2379399"/>
            <a:ext cx="154142" cy="130629"/>
          </a:xfrm>
          <a:prstGeom prst="roundRect">
            <a:avLst>
              <a:gd name="adj" fmla="val 280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782301" y="232127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782301" y="23212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307738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307738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4636922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Block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307738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307738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4636922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pencil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8158277" y="1481328"/>
            <a:ext cx="3576218" cy="310896"/>
          </a:xfrm>
          <a:prstGeom prst="roundRect">
            <a:avLst>
              <a:gd name="adj" fmla="val 17647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249717" y="1481328"/>
            <a:ext cx="3393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C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board's + Wave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8821674" y="1874520"/>
            <a:ext cx="22494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2" descr="C:\Users\User\AppData\Local\Temp\claude\C--Users-User-projects-Raptor--claude-worktrees-docs-rulings-slim-down-e83c74\bd625616-9217-44be-8d31-64893dff3b57\scratchpad\shots3\.deck\settings-w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106" y="1901952"/>
            <a:ext cx="2194560" cy="164592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9603947" y="2213180"/>
            <a:ext cx="247017" cy="125951"/>
          </a:xfrm>
          <a:prstGeom prst="roundRect">
            <a:avLst>
              <a:gd name="adj" fmla="val 2904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9603947" y="194800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603947" y="19480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10695641" y="2330098"/>
            <a:ext cx="139335" cy="124181"/>
          </a:xfrm>
          <a:prstGeom prst="roundRect">
            <a:avLst>
              <a:gd name="adj" fmla="val 2945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0862408" y="226874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0862408" y="22687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8158277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158277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8487461" y="3639312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Wave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8158277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8158277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Text 54"/>
          <p:cNvSpPr txBox="1"/>
          <p:nvPr/>
        </p:nvSpPr>
        <p:spPr>
          <a:xfrm>
            <a:off x="8487461" y="3922776"/>
            <a:ext cx="32470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⚙</a:t>
            </a:r>
            <a:endParaRPr lang="en-US" sz="1150" dirty="0"/>
          </a:p>
        </p:txBody>
      </p:sp>
      <p:sp>
        <p:nvSpPr>
          <p:cNvPr id="60" name="Shape 55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3" name="Text 58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door opens the same editor as Admin → Squadron config.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saved from one door shows at every other.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5" name="Text 60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daytplui.test.tsx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both entry points open one picker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Block offers the duty templates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wavepicker.test.tsx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pencil opens the editor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36 / 42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export and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 · Inputs · Admin →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expo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31288" cy="189846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53495" y="1396710"/>
            <a:ext cx="230124" cy="182662"/>
          </a:xfrm>
          <a:prstGeom prst="roundRect">
            <a:avLst>
              <a:gd name="adj" fmla="val 200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53495" y="159766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53495" y="15976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043342" y="1396710"/>
            <a:ext cx="230124" cy="182662"/>
          </a:xfrm>
          <a:prstGeom prst="roundRect">
            <a:avLst>
              <a:gd name="adj" fmla="val 200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26577" y="1597660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26577" y="15976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61640" y="212960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39967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3996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338138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71057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105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" y="369228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45104" y="1298448"/>
            <a:ext cx="2586152" cy="195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C:\Users\User\AppData\Local\Temp\claude\C--Users-User-projects-Raptor--claude-worktrees-docs-rulings-slim-down-e83c74\bd625616-9217-44be-8d31-64893dff3b57\scratchpad\shots3\.deck\export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36" y="1325880"/>
            <a:ext cx="2531288" cy="19000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976976" y="212960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372536" y="3445396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701720" y="338138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printable report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260440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2" descr="C:\Users\User\AppData\Local\Temp\claude\C--Users-User-projects-Raptor--claude-worktrees-docs-rulings-slim-down-e83c74\bd625616-9217-44be-8d31-64893dff3b57\scratchpad\shots3\.deck\export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72" y="1325880"/>
            <a:ext cx="2531288" cy="189846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294882" y="2203934"/>
            <a:ext cx="405609" cy="148384"/>
          </a:xfrm>
          <a:prstGeom prst="roundRect">
            <a:avLst>
              <a:gd name="adj" fmla="val 2465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94882" y="237060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294882" y="237060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892311" y="2129606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287872" y="339967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287872" y="33996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617056" y="338138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Export to Excel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9175775" y="1298448"/>
            <a:ext cx="2586152" cy="1953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3" descr="C:\Users\User\AppData\Local\Temp\claude\C--Users-User-projects-Raptor--claude-worktrees-docs-rulings-slim-down-e83c74\bd625616-9217-44be-8d31-64893dff3b57\scratchpad\shots3\.deck\export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07" y="1325880"/>
            <a:ext cx="2531288" cy="1898466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9199329" y="1831072"/>
            <a:ext cx="750268" cy="227135"/>
          </a:xfrm>
          <a:prstGeom prst="roundRect">
            <a:avLst>
              <a:gd name="adj" fmla="val 1610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9199329" y="1565896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9199329" y="15658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984028" y="1929510"/>
            <a:ext cx="1706533" cy="142759"/>
          </a:xfrm>
          <a:prstGeom prst="roundRect">
            <a:avLst>
              <a:gd name="adj" fmla="val 2562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984028" y="2684678"/>
            <a:ext cx="1706533" cy="142759"/>
          </a:xfrm>
          <a:prstGeom prst="roundRect">
            <a:avLst>
              <a:gd name="adj" fmla="val 2562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9203207" y="339967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203207" y="33996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9532391" y="3381388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Data</a:t>
            </a:r>
            <a:endParaRPr lang="en-US" sz="1300" dirty="0"/>
          </a:p>
        </p:txBody>
      </p:sp>
      <p:sp>
        <p:nvSpPr>
          <p:cNvPr id="51" name="Shape 45"/>
          <p:cNvSpPr/>
          <p:nvPr/>
        </p:nvSpPr>
        <p:spPr>
          <a:xfrm>
            <a:off x="9203207" y="375629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9532391" y="3692284"/>
            <a:ext cx="220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old data (asks twice)</a:t>
            </a:r>
            <a:endParaRPr lang="en-US" sz="1300" dirty="0"/>
          </a:p>
        </p:txBody>
      </p:sp>
      <p:sp>
        <p:nvSpPr>
          <p:cNvPr id="53" name="Shape 47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55" name="Text 49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schedule's CSV is 142-schedule.csv; a published day exports its issued version.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report is one block per day, marked RESTRICTED, each day stamped signed or working.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has no schedule export, but has Export to Excel on Inputs and Quals.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Data's Clear buttons stay grey until a date is picked; the first tap only counts.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58" name="Text 52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 encoding; both span ends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export-published.test.ts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published day exports as issued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printpdf.test.ts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report stands alone, by day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wipe.test.tsx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clearing takes clutter only; undoable</a:t>
            </a:r>
            <a:endParaRPr lang="en-US" sz="1000" dirty="0"/>
          </a:p>
        </p:txBody>
      </p:sp>
      <p:sp>
        <p:nvSpPr>
          <p:cNvPr id="59" name="Text 53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37 / 42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redo and the change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bar, every page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6965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User\AppData\Local\Temp\claude\C--Users-User-projects-Raptor--claude-worktrees-docs-rulings-slim-down-e83c74\bd625616-9217-44be-8d31-64893dff3b57\scratchpad\shots3\.deck\his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397" y="1325880"/>
            <a:ext cx="2328672" cy="17465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984589" y="1346800"/>
            <a:ext cx="153979" cy="108994"/>
          </a:xfrm>
          <a:prstGeom prst="roundRect">
            <a:avLst>
              <a:gd name="adj" fmla="val 3355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84589" y="147408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84589" y="1474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090438" y="1346800"/>
            <a:ext cx="153979" cy="108994"/>
          </a:xfrm>
          <a:prstGeom prst="roundRect">
            <a:avLst>
              <a:gd name="adj" fmla="val 3355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90438" y="147408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90438" y="147408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659807" y="2603754"/>
            <a:ext cx="259828" cy="103701"/>
          </a:xfrm>
          <a:prstGeom prst="roundRect">
            <a:avLst>
              <a:gd name="adj" fmla="val 3527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33418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913632"/>
            <a:ext cx="237744" cy="155448"/>
          </a:xfrm>
          <a:prstGeom prst="roundRect">
            <a:avLst>
              <a:gd name="adj" fmla="val 23529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change, taken back or put back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904080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C:\Users\User\AppData\Local\Temp\claude\C--Users-User-projects-Raptor--claude-worktrees-docs-rulings-slim-down-e83c74\bd625616-9217-44be-8d31-64893dff3b57\scratchpad\shots3\.deck\hist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512" y="1325880"/>
            <a:ext cx="2328672" cy="174650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123568" y="1324516"/>
            <a:ext cx="171249" cy="148269"/>
          </a:xfrm>
          <a:prstGeom prst="roundRect">
            <a:avLst>
              <a:gd name="adj" fmla="val 24669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23568" y="149107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123568" y="14910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702186" y="1661561"/>
            <a:ext cx="546595" cy="145077"/>
          </a:xfrm>
          <a:prstGeom prst="roundRect">
            <a:avLst>
              <a:gd name="adj" fmla="val 2521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702186" y="1396385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702186" y="139638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530232" y="1844765"/>
            <a:ext cx="179947" cy="122735"/>
          </a:xfrm>
          <a:prstGeom prst="roundRect">
            <a:avLst>
              <a:gd name="adj" fmla="val 29801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530232" y="198578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530232" y="19857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20533" y="2052828"/>
            <a:ext cx="237744" cy="292608"/>
          </a:xfrm>
          <a:prstGeom prst="rightArrow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44314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344314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4673498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clock: the change history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4344314" y="355701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4344314" y="3557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4673498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4344314" y="3867912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344314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4673498" y="3849624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Who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8791194" y="1298448"/>
            <a:ext cx="2383536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2" name="Image 2" descr="C:\Users\User\AppData\Local\Temp\claude\C--Users-User-projects-Raptor--claude-worktrees-docs-rulings-slim-down-e83c74\bd625616-9217-44be-8d31-64893dff3b57\scratchpad\shots3\.deck\hist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626" y="1325880"/>
            <a:ext cx="2328672" cy="1746504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10113965" y="1681341"/>
            <a:ext cx="1000652" cy="188204"/>
          </a:xfrm>
          <a:prstGeom prst="roundRect">
            <a:avLst>
              <a:gd name="adj" fmla="val 1943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9839645" y="1651999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9839645" y="165199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231429" y="324612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231429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8560613" y="3227832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change: go to it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8313725" y="3639312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8560613" y="3538728"/>
            <a:ext cx="31738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stays open</a:t>
            </a:r>
            <a:endParaRPr lang="en-US" sz="1300" dirty="0"/>
          </a:p>
        </p:txBody>
      </p:sp>
      <p:sp>
        <p:nvSpPr>
          <p:cNvPr id="61" name="Shape 56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63" name="Text 58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64" name="Text 59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is grey until there is something to undo; it takes back only your own changes.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window is movable; gold dots mark every detail with a history.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to you" holds others' changes until "Mark all as seen"; your own are never new.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undo list empties at sign-in and sign-out.</a:t>
            </a:r>
            <a:endParaRPr lang="en-US" sz="1100" dirty="0"/>
          </a:p>
        </p:txBody>
      </p:sp>
      <p:sp>
        <p:nvSpPr>
          <p:cNvPr id="65" name="Text 60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66" name="Text 61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e2e/changeswin.spec.ts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window, gold dots, Group by Item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histlist.test.tsx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ways in; a click jumps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undo-wire.test.ts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undo and redo are wired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session-undo.test.ts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undo is per sign-in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topbar-pair.test.tsx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the pair shows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38 / 42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17  ·  1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leave filed — where it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— nobody touches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325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6592" y="1719072"/>
            <a:ext cx="207873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r1-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024" y="1746504"/>
            <a:ext cx="2023872" cy="15179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98599" y="2193118"/>
            <a:ext cx="135886" cy="126912"/>
          </a:xfrm>
          <a:prstGeom prst="roundRect">
            <a:avLst>
              <a:gd name="adj" fmla="val 2882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8599" y="1927942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8599" y="192794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594821" y="2143889"/>
            <a:ext cx="468782" cy="162467"/>
          </a:xfrm>
          <a:prstGeom prst="roundRect">
            <a:avLst>
              <a:gd name="adj" fmla="val 2251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94821" y="187871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94821" y="187871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80948" y="2138419"/>
            <a:ext cx="468782" cy="162467"/>
          </a:xfrm>
          <a:prstGeom prst="roundRect">
            <a:avLst>
              <a:gd name="adj" fmla="val 22513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80948" y="231917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80948" y="23191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374136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355848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picks the day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657600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3639312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" y="3922776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566160" y="2423160"/>
            <a:ext cx="320040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77640" y="1463040"/>
            <a:ext cx="0" cy="251460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06908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BY ITSELF IN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041648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9" name="Image 1" descr="C:\Users\User\AppData\Local\Temp\claude\C--Users-User-projects-Raptor--claude-worktrees-docs-rulings-slim-down-e83c74\bd625616-9217-44be-8d31-64893dff3b57\scratchpad\shots3\.deck\r1-una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344168"/>
            <a:ext cx="1133856" cy="850392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4050792" y="1716100"/>
            <a:ext cx="964463" cy="111843"/>
          </a:xfrm>
          <a:prstGeom prst="roundRect">
            <a:avLst>
              <a:gd name="adj" fmla="val 3270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069080" y="224028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Unavailable block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663842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2" descr="C:\Users\User\AppData\Local\Temp\claude\C--Users-User-projects-Raptor--claude-worktrees-docs-rulings-slim-down-e83c74\bd625616-9217-44be-8d31-64893dff3b57\scratchpad\shots3\.deck\r1-war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274" y="1344168"/>
            <a:ext cx="1133856" cy="850392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6697741" y="1607713"/>
            <a:ext cx="1104726" cy="154425"/>
          </a:xfrm>
          <a:prstGeom prst="roundRect">
            <a:avLst>
              <a:gd name="adj" fmla="val 2368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691274" y="224028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leave + flying" for each seat he held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9286037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9" name="Image 3" descr="C:\Users\User\AppData\Local\Temp\claude\C--Users-User-projects-Raptor--claude-worktrees-docs-rulings-slim-down-e83c74\bd625616-9217-44be-8d31-64893dff3b57\scratchpad\shots3\.deck\r1-lw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469" y="1344168"/>
            <a:ext cx="1133856" cy="850392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10329437" y="1995609"/>
            <a:ext cx="110380" cy="99070"/>
          </a:xfrm>
          <a:prstGeom prst="roundRect">
            <a:avLst>
              <a:gd name="adj" fmla="val 3691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313469" y="224028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LL, approved, with the blue "from Inputs" edge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53" name="Shape 47"/>
          <p:cNvSpPr/>
          <p:nvPr/>
        </p:nvSpPr>
        <p:spPr>
          <a:xfrm>
            <a:off x="4041648" y="273405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4" name="Image 4" descr="C:\Users\User\AppData\Local\Temp\claude\C--Users-User-projects-Raptor--claude-worktrees-docs-rulings-slim-down-e83c74\bd625616-9217-44be-8d31-64893dff3b57\scratchpad\shots3\.deck\r1-palett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761488"/>
            <a:ext cx="1133856" cy="850392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4547311" y="3494837"/>
            <a:ext cx="238811" cy="99441"/>
          </a:xfrm>
          <a:prstGeom prst="roundRect">
            <a:avLst>
              <a:gd name="adj" fmla="val 3678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4069080" y="365760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list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struck through, the reason on hover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58" name="Shape 51"/>
          <p:cNvSpPr/>
          <p:nvPr/>
        </p:nvSpPr>
        <p:spPr>
          <a:xfrm>
            <a:off x="6663842" y="2734056"/>
            <a:ext cx="1187678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9" name="Image 5" descr="C:\Users\User\AppData\Local\Temp\claude\C--Users-User-projects-Raptor--claude-worktrees-docs-rulings-slim-down-e83c74\bd625616-9217-44be-8d31-64893dff3b57\scratchpad\shots3\.deck\r1-chi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274" y="2761488"/>
            <a:ext cx="1132814" cy="850392"/>
          </a:xfrm>
          <a:prstGeom prst="rect">
            <a:avLst/>
          </a:prstGeom>
        </p:spPr>
      </p:pic>
      <p:sp>
        <p:nvSpPr>
          <p:cNvPr id="60" name="Shape 52"/>
          <p:cNvSpPr/>
          <p:nvPr/>
        </p:nvSpPr>
        <p:spPr>
          <a:xfrm>
            <a:off x="6682198" y="3010343"/>
            <a:ext cx="120072" cy="82767"/>
          </a:xfrm>
          <a:prstGeom prst="roundRect">
            <a:avLst>
              <a:gd name="adj" fmla="val 4419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7688277" y="2743200"/>
            <a:ext cx="128621" cy="98231"/>
          </a:xfrm>
          <a:prstGeom prst="roundRect">
            <a:avLst>
              <a:gd name="adj" fmla="val 3723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6691274" y="365760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new" on the day; the clock counts it</a:t>
            </a:r>
            <a:endParaRPr lang="en-US" sz="1050" dirty="0"/>
          </a:p>
        </p:txBody>
      </p:sp>
      <p:sp>
        <p:nvSpPr>
          <p:cNvPr id="63" name="Shape 55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64" name="Shape 56"/>
          <p:cNvSpPr/>
          <p:nvPr/>
        </p:nvSpPr>
        <p:spPr>
          <a:xfrm>
            <a:off x="9286037" y="2734056"/>
            <a:ext cx="11874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5" name="Image 6" descr="C:\Users\User\AppData\Local\Temp\claude\C--Users-User-projects-Raptor--claude-worktrees-docs-rulings-slim-down-e83c74\bd625616-9217-44be-8d31-64893dff3b57\scratchpad\shots3\.deck\r1-pending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469" y="2761488"/>
            <a:ext cx="1132576" cy="850392"/>
          </a:xfrm>
          <a:prstGeom prst="rect">
            <a:avLst/>
          </a:prstGeom>
        </p:spPr>
      </p:pic>
      <p:sp>
        <p:nvSpPr>
          <p:cNvPr id="66" name="Shape 57"/>
          <p:cNvSpPr/>
          <p:nvPr/>
        </p:nvSpPr>
        <p:spPr>
          <a:xfrm>
            <a:off x="9419588" y="3018387"/>
            <a:ext cx="221987" cy="98561"/>
          </a:xfrm>
          <a:prstGeom prst="roundRect">
            <a:avLst>
              <a:gd name="adj" fmla="val 3711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9302581" y="3147961"/>
            <a:ext cx="1081407" cy="204140"/>
          </a:xfrm>
          <a:prstGeom prst="roundRect">
            <a:avLst>
              <a:gd name="adj" fmla="val 1791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9313469" y="3657600"/>
            <a:ext cx="2421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day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pending", the sign-offs fall</a:t>
            </a:r>
            <a:endParaRPr lang="en-US" sz="1050" dirty="0"/>
          </a:p>
        </p:txBody>
      </p:sp>
      <p:sp>
        <p:nvSpPr>
          <p:cNvPr id="69" name="Shape 60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71" name="Text 62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72" name="Text 63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needs a refresh: the schedule, Inputs calendar and Leave War show it at once.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 War's manning counts for that day drop by one.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published day members still see the issued version until the next AL.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does not light for inputs; the day's chip and the clock are the notice.</a:t>
            </a:r>
            <a:endParaRPr lang="en-US" sz="1100" dirty="0"/>
          </a:p>
        </p:txBody>
      </p:sp>
      <p:sp>
        <p:nvSpPr>
          <p:cNvPr id="73" name="Text 64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74" name="Text 65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Inputs-filed LL shows on the war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leave and downchit close the day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latepub.test.tsx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filed after publishing: 1 pending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someone else's change is new to you</a:t>
            </a:r>
            <a:endParaRPr lang="en-US" sz="1000" dirty="0"/>
          </a:p>
        </p:txBody>
      </p:sp>
      <p:sp>
        <p:nvSpPr>
          <p:cNvPr id="75" name="Text 6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39 / 42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17  ·  2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activity, and a downchit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— nobody touches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325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7616" y="1719072"/>
            <a:ext cx="2456688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inputs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48" y="1746504"/>
            <a:ext cx="2401824" cy="18013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97958" y="2960142"/>
            <a:ext cx="2387202" cy="224671"/>
          </a:xfrm>
          <a:prstGeom prst="roundRect">
            <a:avLst>
              <a:gd name="adj" fmla="val 1628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9496" y="373989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3639312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with times, or 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9496" y="4023360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" y="3922776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(ATT C), on Inputs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66160" y="2423160"/>
            <a:ext cx="320040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77640" y="1463040"/>
            <a:ext cx="0" cy="251460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6908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BY ITSELF IN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041648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1" descr="C:\Users\User\AppData\Local\Temp\claude\C--Users-User-projects-Raptor--claude-worktrees-docs-rulings-slim-down-e83c74\bd625616-9217-44be-8d31-64893dff3b57\scratchpad\shots3\.deck\r2-grou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344168"/>
            <a:ext cx="1133856" cy="85039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075546" y="1709899"/>
            <a:ext cx="1118899" cy="118676"/>
          </a:xfrm>
          <a:prstGeom prst="roundRect">
            <a:avLst>
              <a:gd name="adj" fmla="val 30820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069080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lands on the Ground Programme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974940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2" descr="C:\Users\User\AppData\Local\Temp\claude\C--Users-User-projects-Raptor--claude-worktrees-docs-rulings-slim-down-e83c74\bd625616-9217-44be-8d31-64893dff3b57\scratchpad\shots3\.deck\r3-m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372" y="1344168"/>
            <a:ext cx="1133856" cy="85039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014659" y="1530077"/>
            <a:ext cx="289893" cy="171746"/>
          </a:xfrm>
          <a:prstGeom prst="roundRect">
            <a:avLst>
              <a:gd name="adj" fmla="val 2129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002372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downchit leads the tracker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4041648" y="273405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3" descr="C:\Users\User\AppData\Local\Temp\claude\C--Users-User-projects-Raptor--claude-worktrees-docs-rulings-slim-down-e83c74\bd625616-9217-44be-8d31-64893dff3b57\scratchpad\shots3\.deck\r3-lw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761488"/>
            <a:ext cx="1133856" cy="850392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5085481" y="3412929"/>
            <a:ext cx="110380" cy="99070"/>
          </a:xfrm>
          <a:prstGeom prst="roundRect">
            <a:avLst>
              <a:gd name="adj" fmla="val 3691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069080" y="365760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downchit shows on his day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with times lands as a Ground Programme row on the week, the board and View-only.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never reaches the Leave War; a downchit does.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downchit never wears LATE; each seat he holds raises "Downchit + flying".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Duty asks the OIL question before it is saved.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inputground.test.ts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activity lands on its day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medicalview.test.tsx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Medical count is live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spanned ATT C shows on the war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lateinput.test.ts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downchits are never LATE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40 / 42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17  ·  3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 War and Inputs, both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— nobody touches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325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719072"/>
            <a:ext cx="283464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run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46504"/>
            <a:ext cx="2779776" cy="20848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176195" y="3206617"/>
            <a:ext cx="178552" cy="176698"/>
          </a:xfrm>
          <a:prstGeom prst="roundRect">
            <a:avLst>
              <a:gd name="adj" fmla="val 20700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76195" y="340160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76195" y="34016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48679" y="2884040"/>
            <a:ext cx="435978" cy="199607"/>
          </a:xfrm>
          <a:prstGeom prst="roundRect">
            <a:avLst>
              <a:gd name="adj" fmla="val 183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48679" y="2618864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48679" y="26188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80527" y="3045064"/>
            <a:ext cx="430681" cy="199607"/>
          </a:xfrm>
          <a:prstGeom prst="roundRect">
            <a:avLst>
              <a:gd name="adj" fmla="val 18324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38640" y="302142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38640" y="30214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941064"/>
            <a:ext cx="246888" cy="24688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941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3922776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approves a bid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566160" y="2423160"/>
            <a:ext cx="320040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77640" y="1463040"/>
            <a:ext cx="0" cy="251460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6908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BY ITSELF 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041648" y="1316736"/>
            <a:ext cx="1187718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1" descr="C:\Users\User\AppData\Local\Temp\claude\C--Users-User-projects-Raptor--claude-worktrees-docs-rulings-slim-down-e83c74\bd625616-9217-44be-8d31-64893dff3b57\scratchpad\shots3\.deck\r5-l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344168"/>
            <a:ext cx="1132854" cy="850392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5072224" y="1973810"/>
            <a:ext cx="116805" cy="103964"/>
          </a:xfrm>
          <a:prstGeom prst="roundRect">
            <a:avLst>
              <a:gd name="adj" fmla="val 35181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069080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 turns green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7974940" y="1316736"/>
            <a:ext cx="156667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2" descr="C:\Users\User\AppData\Local\Temp\claude\C--Users-User-projects-Raptor--claude-worktrees-docs-rulings-slim-down-e83c74\bd625616-9217-44be-8d31-64893dff3b57\scratchpad\shots3\.deck\r5-inpu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372" y="1344168"/>
            <a:ext cx="1511808" cy="850392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8001864" y="1705520"/>
            <a:ext cx="1530604" cy="141961"/>
          </a:xfrm>
          <a:prstGeom prst="roundRect">
            <a:avLst>
              <a:gd name="adj" fmla="val 25765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002372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leave input appears at once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4041648" y="273405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3" name="Image 3" descr="C:\Users\User\AppData\Local\Temp\claude\C--Users-User-projects-Raptor--claude-worktrees-docs-rulings-slim-down-e83c74\bd625616-9217-44be-8d31-64893dff3b57\scratchpad\shots3\.deck\r1-lw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761488"/>
            <a:ext cx="1133856" cy="850392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5085048" y="3412929"/>
            <a:ext cx="110380" cy="99070"/>
          </a:xfrm>
          <a:prstGeom prst="roundRect">
            <a:avLst>
              <a:gd name="adj" fmla="val 36919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069080" y="365760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way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leave filed on Inputs shows on the war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48" name="Text 42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9" name="Text 43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 alone never reaches Inputs; Approve does, before the war is published (D418).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war changes no input.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Duty credited FO reaches the war only when that day is published.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3-day LL run becomes one input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refusing a mid-span day splits 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oilsync.test.ts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publishing the Saturday lands FO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41 / 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17  ·  4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changed on Quals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0920" y="6035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A9CF"/>
          </a:solidFill>
          <a:ln w="12700">
            <a:solidFill>
              <a:srgbClr val="1FA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0" y="6035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13648" y="603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— nobody touches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201168"/>
            <a:ext cx="201168" cy="201168"/>
          </a:xfrm>
          <a:prstGeom prst="ellipse">
            <a:avLst/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201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182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210312"/>
            <a:ext cx="274320" cy="182880"/>
          </a:xfrm>
          <a:prstGeom prst="roundRect">
            <a:avLst>
              <a:gd name="adj" fmla="val 25000"/>
            </a:avLst>
          </a:prstGeom>
          <a:ln w="25400">
            <a:solidFill>
              <a:srgbClr val="23A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88168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EF7D1A"/>
          </a:solidFill>
          <a:ln w="12700">
            <a:solidFill>
              <a:srgbClr val="EF7D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325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7616" y="1719072"/>
            <a:ext cx="2456688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C:\Users\User\AppData\Local\Temp\claude\C--Users-User-projects-Raptor--claude-worktrees-docs-rulings-slim-down-e83c74\bd625616-9217-44be-8d31-64893dff3b57\scratchpad\shots3\.deck\qual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48" y="1746504"/>
            <a:ext cx="2401824" cy="18013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01668" y="1814004"/>
            <a:ext cx="434629" cy="160081"/>
          </a:xfrm>
          <a:prstGeom prst="roundRect">
            <a:avLst>
              <a:gd name="adj" fmla="val 22848"/>
            </a:avLst>
          </a:prstGeom>
          <a:ln w="31750">
            <a:solidFill>
              <a:srgbClr val="EF7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1668" y="1992373"/>
            <a:ext cx="246888" cy="246888"/>
          </a:xfrm>
          <a:prstGeom prst="ellipse">
            <a:avLst/>
          </a:prstGeom>
          <a:solidFill>
            <a:srgbClr val="EF7D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1668" y="199237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23300" y="2197545"/>
            <a:ext cx="283764" cy="160081"/>
          </a:xfrm>
          <a:prstGeom prst="roundRect">
            <a:avLst>
              <a:gd name="adj" fmla="val 22848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496" y="3739896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3639312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renames a callsign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9496" y="4023360"/>
            <a:ext cx="82296" cy="82296"/>
          </a:xfrm>
          <a:prstGeom prst="ellipse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3922776"/>
            <a:ext cx="2688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Quals (Enable editing)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566160" y="2423160"/>
            <a:ext cx="320040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77640" y="1463040"/>
            <a:ext cx="0" cy="251460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6908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BY ITSELF IN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041648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C:\Users\User\AppData\Local\Temp\claude\C--Users-User-projects-Raptor--claude-worktrees-docs-rulings-slim-down-e83c74\bd625616-9217-44be-8d31-64893dff3b57\scratchpad\shots3\.deck\r6-sch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344168"/>
            <a:ext cx="1133856" cy="85039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15791" y="1719644"/>
            <a:ext cx="238811" cy="99441"/>
          </a:xfrm>
          <a:prstGeom prst="roundRect">
            <a:avLst>
              <a:gd name="adj" fmla="val 36782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069080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puck of his, renamed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977640" y="175564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7974940" y="1316736"/>
            <a:ext cx="1188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2" descr="C:\Users\User\AppData\Local\Temp\claude\C--Users-User-projects-Raptor--claude-worktrees-docs-rulings-slim-down-e83c74\bd625616-9217-44be-8d31-64893dff3b57\scratchpad\shots3\.deck\r6-lw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372" y="1344168"/>
            <a:ext cx="1133856" cy="850392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8048320" y="1872891"/>
            <a:ext cx="307315" cy="110292"/>
          </a:xfrm>
          <a:prstGeom prst="roundRect">
            <a:avLst>
              <a:gd name="adj" fmla="val 33163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002372" y="224028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War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row's name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3977640" y="3172968"/>
            <a:ext cx="64008" cy="0"/>
          </a:xfrm>
          <a:prstGeom prst="line">
            <a:avLst/>
          </a:prstGeom>
          <a:noFill/>
          <a:ln w="25400">
            <a:solidFill>
              <a:srgbClr val="0F2236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4041648" y="2734056"/>
            <a:ext cx="156667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9" name="Image 3" descr="C:\Users\User\AppData\Local\Temp\claude\C--Users-User-projects-Raptor--claude-worktrees-docs-rulings-slim-down-e83c74\bd625616-9217-44be-8d31-64893dff3b57\scratchpad\shots3\.deck\r6-admi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761488"/>
            <a:ext cx="1511808" cy="850392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103218" y="2924365"/>
            <a:ext cx="1443533" cy="184480"/>
          </a:xfrm>
          <a:prstGeom prst="roundRect">
            <a:avLst>
              <a:gd name="adj" fmla="val 19827"/>
            </a:avLst>
          </a:prstGeom>
          <a:ln w="31750">
            <a:solidFill>
              <a:srgbClr val="23A55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069080" y="3657600"/>
            <a:ext cx="373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Users  </a:t>
            </a:r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row, same person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57200" y="4315968"/>
            <a:ext cx="11277295" cy="2084832"/>
          </a:xfrm>
          <a:prstGeom prst="roundRect">
            <a:avLst>
              <a:gd name="adj" fmla="val 4386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85800" y="4425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in the running app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685800" y="4974336"/>
            <a:ext cx="59893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person never changes — only his label — so nothing is lost or duplicated.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lapsed qualification ticked off on Quals warns on the week at once, with a Q mark.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☐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a man posts him out of the war from that day and keeps his flown pucks.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6949440" y="4727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cover it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6949440" y="4974336"/>
            <a:ext cx="4617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personid.test.ts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rename moves nothing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latepub.test.tsx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lapsed AAR warns at once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onedoor.test.ts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archiving keeps every puck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· how the app works · 42 / 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RAPTOR — how the app works</dc:title>
  <dc:subject>PptxGenJS Presentation</dc:subject>
  <dc:creator>PptxGenJS</dc:creator>
  <cp:lastModifiedBy>PptxGenJS</cp:lastModifiedBy>
  <cp:revision>1</cp:revision>
  <dcterms:created xsi:type="dcterms:W3CDTF">2026-09-29T09:46:42Z</dcterms:created>
  <dcterms:modified xsi:type="dcterms:W3CDTF">2026-09-29T09:46:42Z</dcterms:modified>
</cp:coreProperties>
</file>