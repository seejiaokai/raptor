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RAPTOR is a purpose-built squadron operations system: it replaces the spreadsheet-and-chat way of building the flying programme with one tool that plans the week, validates every line against the rules, places crew by qualification and crew-rest, and keeps the manpower picture in sync across leave and duties. This deck walks the capability set as it stands today, the near-term roadmap, and the roll-out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commanders already know about squadron scheduling: the programme lives in a spreadsheet, leave and medical live elsewhere, changes go out over chat, and the same facts get re-typed into every sheet. Rule breaches — crew rest, double-bookings, missing briefs — are caught only if a busy planner happens to see them, and there is no live read of how many crew are actually available. RAPTOR removes the re-keying and makes the checking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map of the system. Six parts, but one data set underneath — the scheduler, the rules engine and the crew palette all read the same events, and Leave War, the manning red line and the calendar all move together. The next slides take each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scheduler is the core. It holds an entire week — flying waves, duty crews, simulator slots, ground events and every member's personal inputs — on one board that works on a desktop or a phone. Planners reuse whole-day templates, keep drafts of a day and switch the live one instantly, undo anything, and see a full edit history. When a day is ready it is published and signed off, and any later change goes out as a tracked amendment rather than a silent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sets RAPTOR apart. The moment a line changes, the engine re-checks the whole day: crew rest measured from the last commitment of any kind the day before, double-bookings across every activity, briefs that are missing or impossibly timed, and qualification currency against the ladder. It grades what it finds — HARD means a rule is broken and must be answered, ADVISORY means tight but acceptable with eyes open, NOTE is context. Deliberately a soft bar: it never silently blocks the planner, but nothing slips through unseen. Malformed inputs — a brief after take-off, a nonsense time — are refused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Placing crew is where the rules engine and the roster meet. The availability palette only offers crew who are qualified and current for that line; anyone short on crew rest is struck out with the reason shown; and anyone already committed — flying, on duty, on leave — drops out on their own. Eligible crew get a green ring. And if a planner overrides and places someone anyway, the breach is flagged right on the puck — so the decision is always visible, never buried.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re-keying problem, solved. Leave is approved once in Leave War and appears on the programme as a proper leave input — so availability, the crew palette and the warnings all update together. File leave on the schedule side and the balances draw down. Medical inputs and up-chits ride the same two-way wires, and standing a weekend or public-holiday duty credits OIL automatically when the day is published. One fact, entered once, true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of the same job: knowing the manpower floor, and planning against it. Management sets the thresholds — how many pilots, WSOs, SXO, duty crew the day needs — and every row turns amber then red the moment manning drops below that red line, so a shortfall is impossible to miss. The thresholds are squadron-editable, not hard-coded. Alongside it, a month calendar lets schedulers lay manpower out ahead: the whole month at a glance, drag crew between days, hold to add, and assign a whole group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 is in place; the next three months are about making it robust and completing the tracking picture. The priority is extensive testing alongside the RAID office to prove RAPTOR stands up to daily operational use. In parallel: a dedicated home for medical leave and up-chits that also reminds you before they lapse, and an upgrade tracker that follows each student's progression through the syllabus. These are the pieces commanders specifically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trust a tool that touches the flying programme? Because it was not hand-coded once and hoped over. It was built through more than 500 rounds of AI-assisted development and correction, and every single change must pass six automated gates — thousands of checks in total, from unit tests to a real-browser run to performance ceilings — before it can ship. A red result blocks publication. That is the discipline behind the robustness we are now hardening with the RAID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roll-out is deliberately staged. 142 Squadron is first — the next three months are extensive testing and daily-use hardening there, with the RAID office. Once robustness is demonstrated, the same proven product extends to 149 Squadron, and from there potentially to a wider FG roll-out. Each step stands on a system already tested at the level below it, so we are never betting the whole group on an unproven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RAPTOR brings the programme, the rules, the crew and the manpower picture into one place — planned, checked and synced, with no re-keying and nothing slipping through unseen. The near-term ask is simple: test it hard with the RAID office, then put it in 142 Squadron's hands. One squadron, one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526"/>
        </a:solidFill>
      </p:bgPr>
    </p:bg>
    <p:spTree>
      <p:nvGrpSpPr>
        <p:cNvPr id="1" name=""/>
        <p:cNvGrpSpPr/>
        <p:nvPr/>
      </p:nvGrpSpPr>
      <p:grpSpPr>
        <a:xfrm>
          <a:off x="0" y="0"/>
          <a:ext cx="0" cy="0"/>
          <a:chOff x="0" y="0"/>
          <a:chExt cx="0" cy="0"/>
        </a:xfrm>
      </p:grpSpPr>
      <p:sp>
        <p:nvSpPr>
          <p:cNvPr id="2" name="Shape 0"/>
          <p:cNvSpPr/>
          <p:nvPr/>
        </p:nvSpPr>
        <p:spPr>
          <a:xfrm>
            <a:off x="0" y="4480560"/>
            <a:ext cx="12188952" cy="2377440"/>
          </a:xfrm>
          <a:prstGeom prst="rect">
            <a:avLst/>
          </a:prstGeom>
          <a:solidFill>
            <a:srgbClr val="0E1E36"/>
          </a:solidFill>
          <a:ln/>
        </p:spPr>
      </p:sp>
      <p:sp>
        <p:nvSpPr>
          <p:cNvPr id="3" name="Shape 1"/>
          <p:cNvSpPr/>
          <p:nvPr/>
        </p:nvSpPr>
        <p:spPr>
          <a:xfrm>
            <a:off x="-2011680" y="3291840"/>
            <a:ext cx="5943600" cy="5943600"/>
          </a:xfrm>
          <a:prstGeom prst="ellipse">
            <a:avLst/>
          </a:prstGeom>
          <a:ln w="12700">
            <a:solidFill>
              <a:srgbClr val="27446F"/>
            </a:solidFill>
            <a:prstDash val="solid"/>
          </a:ln>
        </p:spPr>
      </p:sp>
      <p:sp>
        <p:nvSpPr>
          <p:cNvPr id="4" name="Shape 2"/>
          <p:cNvSpPr/>
          <p:nvPr/>
        </p:nvSpPr>
        <p:spPr>
          <a:xfrm>
            <a:off x="-1097280" y="4206240"/>
            <a:ext cx="4114800" cy="4114800"/>
          </a:xfrm>
          <a:prstGeom prst="ellipse">
            <a:avLst/>
          </a:prstGeom>
          <a:ln w="12700">
            <a:solidFill>
              <a:srgbClr val="27446F"/>
            </a:solidFill>
            <a:prstDash val="solid"/>
          </a:ln>
        </p:spPr>
      </p:sp>
      <p:sp>
        <p:nvSpPr>
          <p:cNvPr id="5" name="Shape 3"/>
          <p:cNvSpPr/>
          <p:nvPr/>
        </p:nvSpPr>
        <p:spPr>
          <a:xfrm>
            <a:off x="-320040" y="4983480"/>
            <a:ext cx="2560320" cy="2560320"/>
          </a:xfrm>
          <a:prstGeom prst="ellipse">
            <a:avLst/>
          </a:prstGeom>
          <a:ln w="12700">
            <a:solidFill>
              <a:srgbClr val="F5A623">
                <a:alpha val="60000"/>
              </a:srgbClr>
            </a:solidFill>
            <a:prstDash val="solid"/>
          </a:ln>
        </p:spPr>
      </p:sp>
      <p:sp>
        <p:nvSpPr>
          <p:cNvPr id="6" name="Shape 4"/>
          <p:cNvSpPr/>
          <p:nvPr/>
        </p:nvSpPr>
        <p:spPr>
          <a:xfrm>
            <a:off x="685800" y="640080"/>
            <a:ext cx="566928" cy="566928"/>
          </a:xfrm>
          <a:prstGeom prst="ellipse">
            <a:avLst/>
          </a:prstGeom>
          <a:solidFill>
            <a:srgbClr val="0E1E36"/>
          </a:solidFill>
          <a:ln w="19050">
            <a:solidFill>
              <a:srgbClr val="F5A623"/>
            </a:solidFill>
            <a:prstDash val="solid"/>
          </a:ln>
        </p:spPr>
      </p:sp>
      <p:pic>
        <p:nvPicPr>
          <p:cNvPr id="7" name="Image 0" descr="preencoded.png">    </p:cNvPr>
          <p:cNvPicPr>
            <a:picLocks noChangeAspect="1"/>
          </p:cNvPicPr>
          <p:nvPr/>
        </p:nvPicPr>
        <p:blipFill>
          <a:blip r:embed="rId1"/>
          <a:stretch>
            <a:fillRect/>
          </a:stretch>
        </p:blipFill>
        <p:spPr>
          <a:xfrm>
            <a:off x="833201" y="787481"/>
            <a:ext cx="272125" cy="272125"/>
          </a:xfrm>
          <a:prstGeom prst="rect">
            <a:avLst/>
          </a:prstGeom>
        </p:spPr>
      </p:pic>
      <p:sp>
        <p:nvSpPr>
          <p:cNvPr id="8" name="Text 5"/>
          <p:cNvSpPr/>
          <p:nvPr/>
        </p:nvSpPr>
        <p:spPr>
          <a:xfrm>
            <a:off x="1371600" y="658368"/>
            <a:ext cx="7315200" cy="502920"/>
          </a:xfrm>
          <a:prstGeom prst="rect">
            <a:avLst/>
          </a:prstGeom>
          <a:noFill/>
          <a:ln/>
        </p:spPr>
        <p:txBody>
          <a:bodyPr wrap="square" lIns="0" tIns="0" rIns="0" bIns="0" rtlCol="0" anchor="ctr"/>
          <a:lstStyle/>
          <a:p>
            <a:pPr indent="0" marL="0">
              <a:buNone/>
            </a:pPr>
            <a:r>
              <a:rPr lang="en-US" sz="1300" b="1" spc="300" kern="0" dirty="0">
                <a:solidFill>
                  <a:srgbClr val="94A9C9"/>
                </a:solidFill>
                <a:latin typeface="Arial" pitchFamily="34" charset="0"/>
                <a:ea typeface="Arial" pitchFamily="34" charset="-122"/>
                <a:cs typeface="Arial" pitchFamily="34" charset="-120"/>
              </a:rPr>
              <a:t>SQUADRON OPERATIONS SYSTEM</a:t>
            </a:r>
            <a:endParaRPr lang="en-US" sz="1300" dirty="0"/>
          </a:p>
        </p:txBody>
      </p:sp>
      <p:sp>
        <p:nvSpPr>
          <p:cNvPr id="9" name="Text 6"/>
          <p:cNvSpPr/>
          <p:nvPr/>
        </p:nvSpPr>
        <p:spPr>
          <a:xfrm>
            <a:off x="658368" y="1965960"/>
            <a:ext cx="10058400" cy="1554480"/>
          </a:xfrm>
          <a:prstGeom prst="rect">
            <a:avLst/>
          </a:prstGeom>
          <a:noFill/>
          <a:ln/>
        </p:spPr>
        <p:txBody>
          <a:bodyPr wrap="square" lIns="0" tIns="0" rIns="0" bIns="0" rtlCol="0" anchor="ctr"/>
          <a:lstStyle/>
          <a:p>
            <a:pPr algn="l" indent="0" marL="0">
              <a:buNone/>
            </a:pPr>
            <a:r>
              <a:rPr lang="en-US" sz="12000" b="1" spc="200" kern="0" dirty="0">
                <a:solidFill>
                  <a:srgbClr val="F2F6FC"/>
                </a:solidFill>
                <a:latin typeface="Arial" pitchFamily="34" charset="0"/>
                <a:ea typeface="Arial" pitchFamily="34" charset="-122"/>
                <a:cs typeface="Arial" pitchFamily="34" charset="-120"/>
              </a:rPr>
              <a:t>RAPTOR</a:t>
            </a:r>
            <a:endParaRPr lang="en-US" sz="12000" dirty="0"/>
          </a:p>
        </p:txBody>
      </p:sp>
      <p:sp>
        <p:nvSpPr>
          <p:cNvPr id="10" name="Text 7"/>
          <p:cNvSpPr/>
          <p:nvPr/>
        </p:nvSpPr>
        <p:spPr>
          <a:xfrm>
            <a:off x="685800" y="3611880"/>
            <a:ext cx="9601200" cy="548640"/>
          </a:xfrm>
          <a:prstGeom prst="rect">
            <a:avLst/>
          </a:prstGeom>
          <a:noFill/>
          <a:ln/>
        </p:spPr>
        <p:txBody>
          <a:bodyPr wrap="square" lIns="0" tIns="0" rIns="0" bIns="0" rtlCol="0" anchor="ctr"/>
          <a:lstStyle/>
          <a:p>
            <a:pPr algn="l" indent="0" marL="0">
              <a:buNone/>
            </a:pPr>
            <a:r>
              <a:rPr lang="en-US" sz="2000" dirty="0">
                <a:solidFill>
                  <a:srgbClr val="6FA8DC"/>
                </a:solidFill>
                <a:latin typeface="Calibri" pitchFamily="34" charset="0"/>
                <a:ea typeface="Calibri" pitchFamily="34" charset="-122"/>
                <a:cs typeface="Calibri" pitchFamily="34" charset="-120"/>
              </a:rPr>
              <a:t>The flying programme, the flagging engine, and the manpower picture — </a:t>
            </a:r>
            <a:pPr algn="l" indent="0" marL="0">
              <a:buNone/>
            </a:pPr>
            <a:r>
              <a:rPr lang="en-US" sz="2000" b="1" dirty="0">
                <a:solidFill>
                  <a:srgbClr val="FFC559"/>
                </a:solidFill>
                <a:latin typeface="Calibri" pitchFamily="34" charset="0"/>
                <a:ea typeface="Calibri" pitchFamily="34" charset="-122"/>
                <a:cs typeface="Calibri" pitchFamily="34" charset="-120"/>
              </a:rPr>
              <a:t>one system.</a:t>
            </a:r>
            <a:endParaRPr lang="en-US" sz="2000" dirty="0"/>
          </a:p>
        </p:txBody>
      </p:sp>
      <p:sp>
        <p:nvSpPr>
          <p:cNvPr id="11" name="Shape 8"/>
          <p:cNvSpPr/>
          <p:nvPr/>
        </p:nvSpPr>
        <p:spPr>
          <a:xfrm>
            <a:off x="685800" y="5212080"/>
            <a:ext cx="2743200" cy="365760"/>
          </a:xfrm>
          <a:prstGeom prst="roundRect">
            <a:avLst>
              <a:gd name="adj" fmla="val 50000"/>
            </a:avLst>
          </a:prstGeom>
          <a:solidFill>
            <a:srgbClr val="0E1E36"/>
          </a:solidFill>
          <a:ln w="15875">
            <a:solidFill>
              <a:srgbClr val="F5A623"/>
            </a:solidFill>
            <a:prstDash val="solid"/>
          </a:ln>
        </p:spPr>
      </p:sp>
      <p:sp>
        <p:nvSpPr>
          <p:cNvPr id="12" name="Shape 9"/>
          <p:cNvSpPr/>
          <p:nvPr/>
        </p:nvSpPr>
        <p:spPr>
          <a:xfrm>
            <a:off x="813816" y="5330952"/>
            <a:ext cx="128016" cy="128016"/>
          </a:xfrm>
          <a:prstGeom prst="ellipse">
            <a:avLst/>
          </a:prstGeom>
          <a:solidFill>
            <a:srgbClr val="F5A623"/>
          </a:solidFill>
          <a:ln/>
        </p:spPr>
      </p:sp>
      <p:sp>
        <p:nvSpPr>
          <p:cNvPr id="13" name="Text 10"/>
          <p:cNvSpPr/>
          <p:nvPr/>
        </p:nvSpPr>
        <p:spPr>
          <a:xfrm>
            <a:off x="996696" y="5212080"/>
            <a:ext cx="2377440" cy="365760"/>
          </a:xfrm>
          <a:prstGeom prst="rect">
            <a:avLst/>
          </a:prstGeom>
          <a:noFill/>
          <a:ln/>
        </p:spPr>
        <p:txBody>
          <a:bodyPr wrap="square" lIns="0" tIns="0" rIns="0" bIns="0" rtlCol="0" anchor="ctr"/>
          <a:lstStyle/>
          <a:p>
            <a:pPr algn="l" indent="0" marL="0">
              <a:buNone/>
            </a:pPr>
            <a:r>
              <a:rPr lang="en-US" sz="1150" b="1" dirty="0">
                <a:solidFill>
                  <a:srgbClr val="F2F6FC"/>
                </a:solidFill>
                <a:latin typeface="Calibri" pitchFamily="34" charset="0"/>
                <a:ea typeface="Calibri" pitchFamily="34" charset="-122"/>
                <a:cs typeface="Calibri" pitchFamily="34" charset="-120"/>
              </a:rPr>
              <a:t>Application in progress</a:t>
            </a:r>
            <a:endParaRPr lang="en-US" sz="1150" dirty="0"/>
          </a:p>
        </p:txBody>
      </p:sp>
      <p:sp>
        <p:nvSpPr>
          <p:cNvPr id="14" name="Shape 11"/>
          <p:cNvSpPr/>
          <p:nvPr/>
        </p:nvSpPr>
        <p:spPr>
          <a:xfrm>
            <a:off x="3611880" y="5212080"/>
            <a:ext cx="3017520" cy="365760"/>
          </a:xfrm>
          <a:prstGeom prst="roundRect">
            <a:avLst>
              <a:gd name="adj" fmla="val 50000"/>
            </a:avLst>
          </a:prstGeom>
          <a:solidFill>
            <a:srgbClr val="0E1E36"/>
          </a:solidFill>
          <a:ln w="15875">
            <a:solidFill>
              <a:srgbClr val="6FA8DC"/>
            </a:solidFill>
            <a:prstDash val="solid"/>
          </a:ln>
        </p:spPr>
      </p:sp>
      <p:sp>
        <p:nvSpPr>
          <p:cNvPr id="15" name="Shape 12"/>
          <p:cNvSpPr/>
          <p:nvPr/>
        </p:nvSpPr>
        <p:spPr>
          <a:xfrm>
            <a:off x="3739896" y="5330952"/>
            <a:ext cx="128016" cy="128016"/>
          </a:xfrm>
          <a:prstGeom prst="ellipse">
            <a:avLst/>
          </a:prstGeom>
          <a:solidFill>
            <a:srgbClr val="6FA8DC"/>
          </a:solidFill>
          <a:ln/>
        </p:spPr>
      </p:sp>
      <p:sp>
        <p:nvSpPr>
          <p:cNvPr id="16" name="Text 13"/>
          <p:cNvSpPr/>
          <p:nvPr/>
        </p:nvSpPr>
        <p:spPr>
          <a:xfrm>
            <a:off x="3922776" y="5212080"/>
            <a:ext cx="2651760" cy="365760"/>
          </a:xfrm>
          <a:prstGeom prst="rect">
            <a:avLst/>
          </a:prstGeom>
          <a:noFill/>
          <a:ln/>
        </p:spPr>
        <p:txBody>
          <a:bodyPr wrap="square" lIns="0" tIns="0" rIns="0" bIns="0" rtlCol="0" anchor="ctr"/>
          <a:lstStyle/>
          <a:p>
            <a:pPr algn="l" indent="0" marL="0">
              <a:buNone/>
            </a:pPr>
            <a:r>
              <a:rPr lang="en-US" sz="1150" b="1" dirty="0">
                <a:solidFill>
                  <a:srgbClr val="F2F6FC"/>
                </a:solidFill>
                <a:latin typeface="Calibri" pitchFamily="34" charset="0"/>
                <a:ea typeface="Calibri" pitchFamily="34" charset="-122"/>
                <a:cs typeface="Calibri" pitchFamily="34" charset="-120"/>
              </a:rPr>
              <a:t>Commander briefing · Aug 2026</a:t>
            </a:r>
            <a:endParaRPr lang="en-US" sz="1150" dirty="0"/>
          </a:p>
        </p:txBody>
      </p:sp>
      <p:sp>
        <p:nvSpPr>
          <p:cNvPr id="17" name="Shape 14"/>
          <p:cNvSpPr/>
          <p:nvPr/>
        </p:nvSpPr>
        <p:spPr>
          <a:xfrm>
            <a:off x="6858000" y="5212080"/>
            <a:ext cx="2743200" cy="365760"/>
          </a:xfrm>
          <a:prstGeom prst="roundRect">
            <a:avLst>
              <a:gd name="adj" fmla="val 50000"/>
            </a:avLst>
          </a:prstGeom>
          <a:solidFill>
            <a:srgbClr val="0E1E36"/>
          </a:solidFill>
          <a:ln w="15875">
            <a:solidFill>
              <a:srgbClr val="37C46E"/>
            </a:solidFill>
            <a:prstDash val="solid"/>
          </a:ln>
        </p:spPr>
      </p:sp>
      <p:sp>
        <p:nvSpPr>
          <p:cNvPr id="18" name="Shape 15"/>
          <p:cNvSpPr/>
          <p:nvPr/>
        </p:nvSpPr>
        <p:spPr>
          <a:xfrm>
            <a:off x="6986016" y="5330952"/>
            <a:ext cx="128016" cy="128016"/>
          </a:xfrm>
          <a:prstGeom prst="ellipse">
            <a:avLst/>
          </a:prstGeom>
          <a:solidFill>
            <a:srgbClr val="37C46E"/>
          </a:solidFill>
          <a:ln/>
        </p:spPr>
      </p:sp>
      <p:sp>
        <p:nvSpPr>
          <p:cNvPr id="19" name="Text 16"/>
          <p:cNvSpPr/>
          <p:nvPr/>
        </p:nvSpPr>
        <p:spPr>
          <a:xfrm>
            <a:off x="7168896" y="5212080"/>
            <a:ext cx="2377440" cy="365760"/>
          </a:xfrm>
          <a:prstGeom prst="rect">
            <a:avLst/>
          </a:prstGeom>
          <a:noFill/>
          <a:ln/>
        </p:spPr>
        <p:txBody>
          <a:bodyPr wrap="square" lIns="0" tIns="0" rIns="0" bIns="0" rtlCol="0" anchor="ctr"/>
          <a:lstStyle/>
          <a:p>
            <a:pPr algn="l" indent="0" marL="0">
              <a:buNone/>
            </a:pPr>
            <a:r>
              <a:rPr lang="en-US" sz="1150" b="1" dirty="0">
                <a:solidFill>
                  <a:srgbClr val="F2F6FC"/>
                </a:solidFill>
                <a:latin typeface="Calibri" pitchFamily="34" charset="0"/>
                <a:ea typeface="Calibri" pitchFamily="34" charset="-122"/>
                <a:cs typeface="Calibri" pitchFamily="34" charset="-120"/>
              </a:rPr>
              <a:t>Built &amp; tested with AI</a:t>
            </a:r>
            <a:endParaRPr lang="en-US" sz="1150" dirty="0"/>
          </a:p>
        </p:txBody>
      </p:sp>
      <p:sp>
        <p:nvSpPr>
          <p:cNvPr id="20" name="Text 17"/>
          <p:cNvSpPr/>
          <p:nvPr/>
        </p:nvSpPr>
        <p:spPr>
          <a:xfrm>
            <a:off x="685800" y="6126480"/>
            <a:ext cx="10058400" cy="365760"/>
          </a:xfrm>
          <a:prstGeom prst="rect">
            <a:avLst/>
          </a:prstGeom>
          <a:noFill/>
          <a:ln/>
        </p:spPr>
        <p:txBody>
          <a:bodyPr wrap="square" lIns="0" tIns="0" rIns="0" bIns="0" rtlCol="0" anchor="ctr"/>
          <a:lstStyle/>
          <a:p>
            <a:pPr indent="0" marL="0">
              <a:buNone/>
            </a:pPr>
            <a:r>
              <a:rPr lang="en-US" sz="1300" dirty="0">
                <a:solidFill>
                  <a:srgbClr val="6C82A6"/>
                </a:solidFill>
                <a:latin typeface="Calibri" pitchFamily="34" charset="0"/>
                <a:ea typeface="Calibri" pitchFamily="34" charset="-122"/>
                <a:cs typeface="Calibri" pitchFamily="34" charset="-120"/>
              </a:rPr>
              <a:t>Prepared for squadron command  ·  Roll-out: 142 SQN → 149 SQN → FG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526"/>
        </a:solidFill>
      </p:bgPr>
    </p:bg>
    <p:spTree>
      <p:nvGrpSpPr>
        <p:cNvPr id="1" name=""/>
        <p:cNvGrpSpPr/>
        <p:nvPr/>
      </p:nvGrpSpPr>
      <p:grpSpPr>
        <a:xfrm>
          <a:off x="0" y="0"/>
          <a:ext cx="0" cy="0"/>
          <a:chOff x="0" y="0"/>
          <a:chExt cx="0" cy="0"/>
        </a:xfrm>
      </p:grpSpPr>
      <p:sp>
        <p:nvSpPr>
          <p:cNvPr id="2" name="Shape 0"/>
          <p:cNvSpPr/>
          <p:nvPr/>
        </p:nvSpPr>
        <p:spPr>
          <a:xfrm>
            <a:off x="10634472" y="-914400"/>
            <a:ext cx="2377440" cy="2377440"/>
          </a:xfrm>
          <a:prstGeom prst="ellipse">
            <a:avLst/>
          </a:prstGeom>
          <a:ln w="15875">
            <a:solidFill>
              <a:srgbClr val="27446F"/>
            </a:solidFill>
            <a:prstDash val="solid"/>
          </a:ln>
        </p:spPr>
      </p:sp>
      <p:sp>
        <p:nvSpPr>
          <p:cNvPr id="3" name="Shape 1"/>
          <p:cNvSpPr/>
          <p:nvPr/>
        </p:nvSpPr>
        <p:spPr>
          <a:xfrm>
            <a:off x="11045952" y="-502920"/>
            <a:ext cx="1554480" cy="1554480"/>
          </a:xfrm>
          <a:prstGeom prst="ellipse">
            <a:avLst/>
          </a:prstGeom>
          <a:ln w="12700">
            <a:solidFill>
              <a:srgbClr val="F5A623">
                <a:alpha val="45000"/>
              </a:srgbClr>
            </a:solidFill>
            <a:prstDash val="solid"/>
          </a:ln>
        </p:spPr>
      </p:sp>
      <p:sp>
        <p:nvSpPr>
          <p:cNvPr id="4" name="Text 2"/>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02</a:t>
            </a:r>
            <a:endParaRPr lang="en-US" sz="1000" dirty="0"/>
          </a:p>
        </p:txBody>
      </p:sp>
      <p:sp>
        <p:nvSpPr>
          <p:cNvPr id="5" name="Text 3"/>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6" name="Text 4"/>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THE PROBLEM WE SET OUT TO SOLVE</a:t>
            </a:r>
            <a:endParaRPr lang="en-US" sz="1250" dirty="0"/>
          </a:p>
        </p:txBody>
      </p:sp>
      <p:sp>
        <p:nvSpPr>
          <p:cNvPr id="7" name="Text 5"/>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Scheduling a squadron is high-stakes, and today it is manual</a:t>
            </a:r>
            <a:endParaRPr lang="en-US" sz="3400" dirty="0"/>
          </a:p>
        </p:txBody>
      </p:sp>
      <p:sp>
        <p:nvSpPr>
          <p:cNvPr id="8" name="Shape 6"/>
          <p:cNvSpPr/>
          <p:nvPr/>
        </p:nvSpPr>
        <p:spPr>
          <a:xfrm>
            <a:off x="685800" y="1938528"/>
            <a:ext cx="10789920" cy="868680"/>
          </a:xfrm>
          <a:prstGeom prst="roundRect">
            <a:avLst>
              <a:gd name="adj" fmla="val 8421"/>
            </a:avLst>
          </a:prstGeom>
          <a:solidFill>
            <a:srgbClr val="13294A"/>
          </a:solidFill>
          <a:ln w="12700">
            <a:solidFill>
              <a:srgbClr val="27446F"/>
            </a:solidFill>
            <a:prstDash val="solid"/>
          </a:ln>
        </p:spPr>
      </p:sp>
      <p:sp>
        <p:nvSpPr>
          <p:cNvPr id="9" name="Shape 7"/>
          <p:cNvSpPr/>
          <p:nvPr/>
        </p:nvSpPr>
        <p:spPr>
          <a:xfrm>
            <a:off x="914400" y="2121408"/>
            <a:ext cx="493776" cy="493776"/>
          </a:xfrm>
          <a:prstGeom prst="ellipse">
            <a:avLst/>
          </a:prstGeom>
          <a:solidFill>
            <a:srgbClr val="0E1E36"/>
          </a:solidFill>
          <a:ln w="19050">
            <a:solidFill>
              <a:srgbClr val="E8563F"/>
            </a:solidFill>
            <a:prstDash val="solid"/>
          </a:ln>
        </p:spPr>
      </p:sp>
      <p:pic>
        <p:nvPicPr>
          <p:cNvPr id="10" name="Image 0" descr="preencoded.png">    </p:cNvPr>
          <p:cNvPicPr>
            <a:picLocks noChangeAspect="1"/>
          </p:cNvPicPr>
          <p:nvPr/>
        </p:nvPicPr>
        <p:blipFill>
          <a:blip r:embed="rId1"/>
          <a:stretch>
            <a:fillRect/>
          </a:stretch>
        </p:blipFill>
        <p:spPr>
          <a:xfrm>
            <a:off x="1042782" y="2249790"/>
            <a:ext cx="237012" cy="237012"/>
          </a:xfrm>
          <a:prstGeom prst="rect">
            <a:avLst/>
          </a:prstGeom>
        </p:spPr>
      </p:pic>
      <p:sp>
        <p:nvSpPr>
          <p:cNvPr id="11" name="Text 8"/>
          <p:cNvSpPr/>
          <p:nvPr/>
        </p:nvSpPr>
        <p:spPr>
          <a:xfrm>
            <a:off x="1600200" y="2029968"/>
            <a:ext cx="3017520" cy="41148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Scattered inputs</a:t>
            </a:r>
            <a:endParaRPr lang="en-US" sz="1600" dirty="0"/>
          </a:p>
        </p:txBody>
      </p:sp>
      <p:sp>
        <p:nvSpPr>
          <p:cNvPr id="12" name="Text 9"/>
          <p:cNvSpPr/>
          <p:nvPr/>
        </p:nvSpPr>
        <p:spPr>
          <a:xfrm>
            <a:off x="4663440" y="2011680"/>
            <a:ext cx="6629400" cy="713232"/>
          </a:xfrm>
          <a:prstGeom prst="rect">
            <a:avLst/>
          </a:prstGeom>
          <a:noFill/>
          <a:ln/>
        </p:spPr>
        <p:txBody>
          <a:bodyPr wrap="square" lIns="0" tIns="0" rIns="0" bIns="0" rtlCol="0" anchor="ctr"/>
          <a:lstStyle/>
          <a:p>
            <a:pPr indent="0" marL="0">
              <a:buNone/>
            </a:pPr>
            <a:r>
              <a:rPr lang="en-US" sz="1350" dirty="0">
                <a:solidFill>
                  <a:srgbClr val="94A9C9"/>
                </a:solidFill>
                <a:latin typeface="Calibri" pitchFamily="34" charset="0"/>
                <a:ea typeface="Calibri" pitchFamily="34" charset="-122"/>
                <a:cs typeface="Calibri" pitchFamily="34" charset="-120"/>
              </a:rPr>
              <a:t>Programme in one spreadsheet, leave in another, changes over chat — no single source of truth.</a:t>
            </a:r>
            <a:endParaRPr lang="en-US" sz="1350" dirty="0"/>
          </a:p>
        </p:txBody>
      </p:sp>
      <p:sp>
        <p:nvSpPr>
          <p:cNvPr id="13" name="Shape 10"/>
          <p:cNvSpPr/>
          <p:nvPr/>
        </p:nvSpPr>
        <p:spPr>
          <a:xfrm>
            <a:off x="685800" y="2916936"/>
            <a:ext cx="10789920" cy="868680"/>
          </a:xfrm>
          <a:prstGeom prst="roundRect">
            <a:avLst>
              <a:gd name="adj" fmla="val 8421"/>
            </a:avLst>
          </a:prstGeom>
          <a:solidFill>
            <a:srgbClr val="13294A"/>
          </a:solidFill>
          <a:ln w="12700">
            <a:solidFill>
              <a:srgbClr val="27446F"/>
            </a:solidFill>
            <a:prstDash val="solid"/>
          </a:ln>
        </p:spPr>
      </p:sp>
      <p:sp>
        <p:nvSpPr>
          <p:cNvPr id="14" name="Shape 11"/>
          <p:cNvSpPr/>
          <p:nvPr/>
        </p:nvSpPr>
        <p:spPr>
          <a:xfrm>
            <a:off x="914400" y="3099816"/>
            <a:ext cx="493776" cy="493776"/>
          </a:xfrm>
          <a:prstGeom prst="ellipse">
            <a:avLst/>
          </a:prstGeom>
          <a:solidFill>
            <a:srgbClr val="0E1E36"/>
          </a:solidFill>
          <a:ln w="19050">
            <a:solidFill>
              <a:srgbClr val="E8563F"/>
            </a:solidFill>
            <a:prstDash val="solid"/>
          </a:ln>
        </p:spPr>
      </p:sp>
      <p:pic>
        <p:nvPicPr>
          <p:cNvPr id="15" name="Image 1" descr="preencoded.png">    </p:cNvPr>
          <p:cNvPicPr>
            <a:picLocks noChangeAspect="1"/>
          </p:cNvPicPr>
          <p:nvPr/>
        </p:nvPicPr>
        <p:blipFill>
          <a:blip r:embed="rId2"/>
          <a:stretch>
            <a:fillRect/>
          </a:stretch>
        </p:blipFill>
        <p:spPr>
          <a:xfrm>
            <a:off x="1042782" y="3228198"/>
            <a:ext cx="237012" cy="237012"/>
          </a:xfrm>
          <a:prstGeom prst="rect">
            <a:avLst/>
          </a:prstGeom>
        </p:spPr>
      </p:pic>
      <p:sp>
        <p:nvSpPr>
          <p:cNvPr id="16" name="Text 12"/>
          <p:cNvSpPr/>
          <p:nvPr/>
        </p:nvSpPr>
        <p:spPr>
          <a:xfrm>
            <a:off x="1600200" y="3008376"/>
            <a:ext cx="3017520" cy="41148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Re-keyed everything</a:t>
            </a:r>
            <a:endParaRPr lang="en-US" sz="1600" dirty="0"/>
          </a:p>
        </p:txBody>
      </p:sp>
      <p:sp>
        <p:nvSpPr>
          <p:cNvPr id="17" name="Text 13"/>
          <p:cNvSpPr/>
          <p:nvPr/>
        </p:nvSpPr>
        <p:spPr>
          <a:xfrm>
            <a:off x="4663440" y="2990088"/>
            <a:ext cx="6629400" cy="713232"/>
          </a:xfrm>
          <a:prstGeom prst="rect">
            <a:avLst/>
          </a:prstGeom>
          <a:noFill/>
          <a:ln/>
        </p:spPr>
        <p:txBody>
          <a:bodyPr wrap="square" lIns="0" tIns="0" rIns="0" bIns="0" rtlCol="0" anchor="ctr"/>
          <a:lstStyle/>
          <a:p>
            <a:pPr indent="0" marL="0">
              <a:buNone/>
            </a:pPr>
            <a:r>
              <a:rPr lang="en-US" sz="1350" dirty="0">
                <a:solidFill>
                  <a:srgbClr val="94A9C9"/>
                </a:solidFill>
                <a:latin typeface="Calibri" pitchFamily="34" charset="0"/>
                <a:ea typeface="Calibri" pitchFamily="34" charset="-122"/>
                <a:cs typeface="Calibri" pitchFamily="34" charset="-120"/>
              </a:rPr>
              <a:t>Approved leave, medical, duties re-typed into every sheet by hand — the same fact entered many times.</a:t>
            </a:r>
            <a:endParaRPr lang="en-US" sz="1350" dirty="0"/>
          </a:p>
        </p:txBody>
      </p:sp>
      <p:sp>
        <p:nvSpPr>
          <p:cNvPr id="18" name="Shape 14"/>
          <p:cNvSpPr/>
          <p:nvPr/>
        </p:nvSpPr>
        <p:spPr>
          <a:xfrm>
            <a:off x="685800" y="3895344"/>
            <a:ext cx="10789920" cy="868680"/>
          </a:xfrm>
          <a:prstGeom prst="roundRect">
            <a:avLst>
              <a:gd name="adj" fmla="val 8421"/>
            </a:avLst>
          </a:prstGeom>
          <a:solidFill>
            <a:srgbClr val="13294A"/>
          </a:solidFill>
          <a:ln w="12700">
            <a:solidFill>
              <a:srgbClr val="27446F"/>
            </a:solidFill>
            <a:prstDash val="solid"/>
          </a:ln>
        </p:spPr>
      </p:sp>
      <p:sp>
        <p:nvSpPr>
          <p:cNvPr id="19" name="Shape 15"/>
          <p:cNvSpPr/>
          <p:nvPr/>
        </p:nvSpPr>
        <p:spPr>
          <a:xfrm>
            <a:off x="914400" y="4078224"/>
            <a:ext cx="493776" cy="493776"/>
          </a:xfrm>
          <a:prstGeom prst="ellipse">
            <a:avLst/>
          </a:prstGeom>
          <a:solidFill>
            <a:srgbClr val="0E1E36"/>
          </a:solidFill>
          <a:ln w="19050">
            <a:solidFill>
              <a:srgbClr val="E8563F"/>
            </a:solidFill>
            <a:prstDash val="solid"/>
          </a:ln>
        </p:spPr>
      </p:sp>
      <p:pic>
        <p:nvPicPr>
          <p:cNvPr id="20" name="Image 2" descr="preencoded.png">    </p:cNvPr>
          <p:cNvPicPr>
            <a:picLocks noChangeAspect="1"/>
          </p:cNvPicPr>
          <p:nvPr/>
        </p:nvPicPr>
        <p:blipFill>
          <a:blip r:embed="rId3"/>
          <a:stretch>
            <a:fillRect/>
          </a:stretch>
        </p:blipFill>
        <p:spPr>
          <a:xfrm>
            <a:off x="1042782" y="4206606"/>
            <a:ext cx="237012" cy="237012"/>
          </a:xfrm>
          <a:prstGeom prst="rect">
            <a:avLst/>
          </a:prstGeom>
        </p:spPr>
      </p:pic>
      <p:sp>
        <p:nvSpPr>
          <p:cNvPr id="21" name="Text 16"/>
          <p:cNvSpPr/>
          <p:nvPr/>
        </p:nvSpPr>
        <p:spPr>
          <a:xfrm>
            <a:off x="1600200" y="3986784"/>
            <a:ext cx="3017520" cy="41148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Errors caught by eye</a:t>
            </a:r>
            <a:endParaRPr lang="en-US" sz="1600" dirty="0"/>
          </a:p>
        </p:txBody>
      </p:sp>
      <p:sp>
        <p:nvSpPr>
          <p:cNvPr id="22" name="Text 17"/>
          <p:cNvSpPr/>
          <p:nvPr/>
        </p:nvSpPr>
        <p:spPr>
          <a:xfrm>
            <a:off x="4663440" y="3968496"/>
            <a:ext cx="6629400" cy="713232"/>
          </a:xfrm>
          <a:prstGeom prst="rect">
            <a:avLst/>
          </a:prstGeom>
          <a:noFill/>
          <a:ln/>
        </p:spPr>
        <p:txBody>
          <a:bodyPr wrap="square" lIns="0" tIns="0" rIns="0" bIns="0" rtlCol="0" anchor="ctr"/>
          <a:lstStyle/>
          <a:p>
            <a:pPr indent="0" marL="0">
              <a:buNone/>
            </a:pPr>
            <a:r>
              <a:rPr lang="en-US" sz="1350" dirty="0">
                <a:solidFill>
                  <a:srgbClr val="94A9C9"/>
                </a:solidFill>
                <a:latin typeface="Calibri" pitchFamily="34" charset="0"/>
                <a:ea typeface="Calibri" pitchFamily="34" charset="-122"/>
                <a:cs typeface="Calibri" pitchFamily="34" charset="-120"/>
              </a:rPr>
              <a:t>Crew-rest breaches, double-bookings and missing briefs depend on a tired planner spotting them.</a:t>
            </a:r>
            <a:endParaRPr lang="en-US" sz="1350" dirty="0"/>
          </a:p>
        </p:txBody>
      </p:sp>
      <p:sp>
        <p:nvSpPr>
          <p:cNvPr id="23" name="Shape 18"/>
          <p:cNvSpPr/>
          <p:nvPr/>
        </p:nvSpPr>
        <p:spPr>
          <a:xfrm>
            <a:off x="685800" y="4873752"/>
            <a:ext cx="10789920" cy="868680"/>
          </a:xfrm>
          <a:prstGeom prst="roundRect">
            <a:avLst>
              <a:gd name="adj" fmla="val 8421"/>
            </a:avLst>
          </a:prstGeom>
          <a:solidFill>
            <a:srgbClr val="13294A"/>
          </a:solidFill>
          <a:ln w="12700">
            <a:solidFill>
              <a:srgbClr val="27446F"/>
            </a:solidFill>
            <a:prstDash val="solid"/>
          </a:ln>
        </p:spPr>
      </p:sp>
      <p:sp>
        <p:nvSpPr>
          <p:cNvPr id="24" name="Shape 19"/>
          <p:cNvSpPr/>
          <p:nvPr/>
        </p:nvSpPr>
        <p:spPr>
          <a:xfrm>
            <a:off x="914400" y="5056632"/>
            <a:ext cx="493776" cy="493776"/>
          </a:xfrm>
          <a:prstGeom prst="ellipse">
            <a:avLst/>
          </a:prstGeom>
          <a:solidFill>
            <a:srgbClr val="0E1E36"/>
          </a:solidFill>
          <a:ln w="19050">
            <a:solidFill>
              <a:srgbClr val="E8563F"/>
            </a:solidFill>
            <a:prstDash val="solid"/>
          </a:ln>
        </p:spPr>
      </p:sp>
      <p:pic>
        <p:nvPicPr>
          <p:cNvPr id="25" name="Image 3" descr="preencoded.png">    </p:cNvPr>
          <p:cNvPicPr>
            <a:picLocks noChangeAspect="1"/>
          </p:cNvPicPr>
          <p:nvPr/>
        </p:nvPicPr>
        <p:blipFill>
          <a:blip r:embed="rId4"/>
          <a:stretch>
            <a:fillRect/>
          </a:stretch>
        </p:blipFill>
        <p:spPr>
          <a:xfrm>
            <a:off x="1042782" y="5185014"/>
            <a:ext cx="237012" cy="237012"/>
          </a:xfrm>
          <a:prstGeom prst="rect">
            <a:avLst/>
          </a:prstGeom>
        </p:spPr>
      </p:pic>
      <p:sp>
        <p:nvSpPr>
          <p:cNvPr id="26" name="Text 20"/>
          <p:cNvSpPr/>
          <p:nvPr/>
        </p:nvSpPr>
        <p:spPr>
          <a:xfrm>
            <a:off x="1600200" y="4965192"/>
            <a:ext cx="3017520" cy="41148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No live manpower picture</a:t>
            </a:r>
            <a:endParaRPr lang="en-US" sz="1600" dirty="0"/>
          </a:p>
        </p:txBody>
      </p:sp>
      <p:sp>
        <p:nvSpPr>
          <p:cNvPr id="27" name="Text 21"/>
          <p:cNvSpPr/>
          <p:nvPr/>
        </p:nvSpPr>
        <p:spPr>
          <a:xfrm>
            <a:off x="4663440" y="4946904"/>
            <a:ext cx="6629400" cy="713232"/>
          </a:xfrm>
          <a:prstGeom prst="rect">
            <a:avLst/>
          </a:prstGeom>
          <a:noFill/>
          <a:ln/>
        </p:spPr>
        <p:txBody>
          <a:bodyPr wrap="square" lIns="0" tIns="0" rIns="0" bIns="0" rtlCol="0" anchor="ctr"/>
          <a:lstStyle/>
          <a:p>
            <a:pPr indent="0" marL="0">
              <a:buNone/>
            </a:pPr>
            <a:r>
              <a:rPr lang="en-US" sz="1350" dirty="0">
                <a:solidFill>
                  <a:srgbClr val="94A9C9"/>
                </a:solidFill>
                <a:latin typeface="Calibri" pitchFamily="34" charset="0"/>
                <a:ea typeface="Calibri" pitchFamily="34" charset="-122"/>
                <a:cs typeface="Calibri" pitchFamily="34" charset="-120"/>
              </a:rPr>
              <a:t>How many crew are actually available tomorrow? Worked out by hand, every day.</a:t>
            </a:r>
            <a:endParaRPr lang="en-US" sz="1350" dirty="0"/>
          </a:p>
        </p:txBody>
      </p:sp>
      <p:sp>
        <p:nvSpPr>
          <p:cNvPr id="28" name="Text 22"/>
          <p:cNvSpPr/>
          <p:nvPr/>
        </p:nvSpPr>
        <p:spPr>
          <a:xfrm>
            <a:off x="685800" y="5943600"/>
            <a:ext cx="10789920" cy="310896"/>
          </a:xfrm>
          <a:prstGeom prst="rect">
            <a:avLst/>
          </a:prstGeom>
          <a:noFill/>
          <a:ln/>
        </p:spPr>
        <p:txBody>
          <a:bodyPr wrap="square" lIns="0" tIns="0" rIns="0" bIns="0" rtlCol="0" anchor="ctr"/>
          <a:lstStyle/>
          <a:p>
            <a:pPr indent="0" marL="0">
              <a:buNone/>
            </a:pPr>
            <a:r>
              <a:rPr lang="en-US" sz="1450" i="1" dirty="0">
                <a:solidFill>
                  <a:srgbClr val="FFC559"/>
                </a:solidFill>
                <a:latin typeface="Calibri" pitchFamily="34" charset="0"/>
                <a:ea typeface="Calibri" pitchFamily="34" charset="-122"/>
                <a:cs typeface="Calibri" pitchFamily="34" charset="-120"/>
              </a:rPr>
              <a:t>RAPTOR folds all four into one validated, always-current system.</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526"/>
        </a:solidFill>
      </p:bgPr>
    </p:bg>
    <p:spTree>
      <p:nvGrpSpPr>
        <p:cNvPr id="1" name=""/>
        <p:cNvGrpSpPr/>
        <p:nvPr/>
      </p:nvGrpSpPr>
      <p:grpSpPr>
        <a:xfrm>
          <a:off x="0" y="0"/>
          <a:ext cx="0" cy="0"/>
          <a:chOff x="0" y="0"/>
          <a:chExt cx="0" cy="0"/>
        </a:xfrm>
      </p:grpSpPr>
      <p:sp>
        <p:nvSpPr>
          <p:cNvPr id="2" name="Text 0"/>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03</a:t>
            </a:r>
            <a:endParaRPr lang="en-US" sz="1000" dirty="0"/>
          </a:p>
        </p:txBody>
      </p:sp>
      <p:sp>
        <p:nvSpPr>
          <p:cNvPr id="3" name="Text 1"/>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4" name="Text 2"/>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ONE SYSTEM, SIX CONNECTED PARTS</a:t>
            </a:r>
            <a:endParaRPr lang="en-US" sz="1250" dirty="0"/>
          </a:p>
        </p:txBody>
      </p:sp>
      <p:sp>
        <p:nvSpPr>
          <p:cNvPr id="5" name="Text 3"/>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What RAPTOR does</a:t>
            </a:r>
            <a:endParaRPr lang="en-US" sz="3400" dirty="0"/>
          </a:p>
        </p:txBody>
      </p:sp>
      <p:sp>
        <p:nvSpPr>
          <p:cNvPr id="6" name="Shape 4"/>
          <p:cNvSpPr/>
          <p:nvPr/>
        </p:nvSpPr>
        <p:spPr>
          <a:xfrm>
            <a:off x="685800" y="1847088"/>
            <a:ext cx="3456432" cy="1938528"/>
          </a:xfrm>
          <a:prstGeom prst="roundRect">
            <a:avLst>
              <a:gd name="adj" fmla="val 4717"/>
            </a:avLst>
          </a:prstGeom>
          <a:solidFill>
            <a:srgbClr val="13294A"/>
          </a:solidFill>
          <a:ln w="12700">
            <a:solidFill>
              <a:srgbClr val="27446F"/>
            </a:solidFill>
            <a:prstDash val="solid"/>
          </a:ln>
        </p:spPr>
      </p:sp>
      <p:sp>
        <p:nvSpPr>
          <p:cNvPr id="7" name="Shape 5"/>
          <p:cNvSpPr/>
          <p:nvPr/>
        </p:nvSpPr>
        <p:spPr>
          <a:xfrm>
            <a:off x="941832" y="2084832"/>
            <a:ext cx="530352" cy="530352"/>
          </a:xfrm>
          <a:prstGeom prst="ellipse">
            <a:avLst/>
          </a:prstGeom>
          <a:solidFill>
            <a:srgbClr val="0E1E36"/>
          </a:solidFill>
          <a:ln w="19050">
            <a:solidFill>
              <a:srgbClr val="F5A623"/>
            </a:solidFill>
            <a:prstDash val="solid"/>
          </a:ln>
        </p:spPr>
      </p:sp>
      <p:pic>
        <p:nvPicPr>
          <p:cNvPr id="8" name="Image 0" descr="preencoded.png">    </p:cNvPr>
          <p:cNvPicPr>
            <a:picLocks noChangeAspect="1"/>
          </p:cNvPicPr>
          <p:nvPr/>
        </p:nvPicPr>
        <p:blipFill>
          <a:blip r:embed="rId1"/>
          <a:stretch>
            <a:fillRect/>
          </a:stretch>
        </p:blipFill>
        <p:spPr>
          <a:xfrm>
            <a:off x="1079724" y="2222724"/>
            <a:ext cx="254569" cy="254569"/>
          </a:xfrm>
          <a:prstGeom prst="rect">
            <a:avLst/>
          </a:prstGeom>
        </p:spPr>
      </p:pic>
      <p:sp>
        <p:nvSpPr>
          <p:cNvPr id="9" name="Text 6"/>
          <p:cNvSpPr/>
          <p:nvPr/>
        </p:nvSpPr>
        <p:spPr>
          <a:xfrm>
            <a:off x="3273552" y="2011680"/>
            <a:ext cx="685800" cy="457200"/>
          </a:xfrm>
          <a:prstGeom prst="rect">
            <a:avLst/>
          </a:prstGeom>
          <a:noFill/>
          <a:ln/>
        </p:spPr>
        <p:txBody>
          <a:bodyPr wrap="square" lIns="0" tIns="0" rIns="0" bIns="0" rtlCol="0" anchor="ctr"/>
          <a:lstStyle/>
          <a:p>
            <a:pPr algn="r" indent="0" marL="0">
              <a:buNone/>
            </a:pPr>
            <a:r>
              <a:rPr lang="en-US" sz="2200" b="1" dirty="0">
                <a:solidFill>
                  <a:srgbClr val="27446F"/>
                </a:solidFill>
                <a:latin typeface="Arial" pitchFamily="34" charset="0"/>
                <a:ea typeface="Arial" pitchFamily="34" charset="-122"/>
                <a:cs typeface="Arial" pitchFamily="34" charset="-120"/>
              </a:rPr>
              <a:t>01</a:t>
            </a:r>
            <a:endParaRPr lang="en-US" sz="2200" dirty="0"/>
          </a:p>
        </p:txBody>
      </p:sp>
      <p:sp>
        <p:nvSpPr>
          <p:cNvPr id="10" name="Text 7"/>
          <p:cNvSpPr/>
          <p:nvPr/>
        </p:nvSpPr>
        <p:spPr>
          <a:xfrm>
            <a:off x="941832" y="2688336"/>
            <a:ext cx="2999232" cy="530352"/>
          </a:xfrm>
          <a:prstGeom prst="rect">
            <a:avLst/>
          </a:prstGeom>
          <a:noFill/>
          <a:ln/>
        </p:spPr>
        <p:txBody>
          <a:bodyPr wrap="square" lIns="0" tIns="0" rIns="0" bIns="0" rtlCol="0" anchor="t"/>
          <a:lstStyle/>
          <a:p>
            <a:pPr indent="0" marL="0">
              <a:buNone/>
            </a:pPr>
            <a:r>
              <a:rPr lang="en-US" sz="1500" b="1" dirty="0">
                <a:solidFill>
                  <a:srgbClr val="F2F6FC"/>
                </a:solidFill>
                <a:latin typeface="Arial" pitchFamily="34" charset="0"/>
                <a:ea typeface="Arial" pitchFamily="34" charset="-122"/>
                <a:cs typeface="Arial" pitchFamily="34" charset="-120"/>
              </a:rPr>
              <a:t>Scheduling on steroids</a:t>
            </a:r>
            <a:endParaRPr lang="en-US" sz="1500" dirty="0"/>
          </a:p>
        </p:txBody>
      </p:sp>
      <p:sp>
        <p:nvSpPr>
          <p:cNvPr id="11" name="Text 8"/>
          <p:cNvSpPr/>
          <p:nvPr/>
        </p:nvSpPr>
        <p:spPr>
          <a:xfrm>
            <a:off x="941832" y="3236976"/>
            <a:ext cx="2999232" cy="475488"/>
          </a:xfrm>
          <a:prstGeom prst="rect">
            <a:avLst/>
          </a:prstGeom>
          <a:noFill/>
          <a:ln/>
        </p:spPr>
        <p:txBody>
          <a:bodyPr wrap="square" lIns="0" tIns="0" rIns="0" bIns="0" rtlCol="0" anchor="t"/>
          <a:lstStyle/>
          <a:p>
            <a:pPr indent="0" marL="0">
              <a:buNone/>
            </a:pPr>
            <a:r>
              <a:rPr lang="en-US" sz="1100" dirty="0">
                <a:solidFill>
                  <a:srgbClr val="94A9C9"/>
                </a:solidFill>
                <a:latin typeface="Calibri" pitchFamily="34" charset="0"/>
                <a:ea typeface="Calibri" pitchFamily="34" charset="-122"/>
                <a:cs typeface="Calibri" pitchFamily="34" charset="-120"/>
              </a:rPr>
              <a:t>Waves, duties, sims, ground events and personal inputs — a full week, on a board built to plan.</a:t>
            </a:r>
            <a:endParaRPr lang="en-US" sz="1100" dirty="0"/>
          </a:p>
        </p:txBody>
      </p:sp>
      <p:sp>
        <p:nvSpPr>
          <p:cNvPr id="12" name="Shape 9"/>
          <p:cNvSpPr/>
          <p:nvPr/>
        </p:nvSpPr>
        <p:spPr>
          <a:xfrm>
            <a:off x="4398264" y="1847088"/>
            <a:ext cx="3456432" cy="1938528"/>
          </a:xfrm>
          <a:prstGeom prst="roundRect">
            <a:avLst>
              <a:gd name="adj" fmla="val 4717"/>
            </a:avLst>
          </a:prstGeom>
          <a:solidFill>
            <a:srgbClr val="13294A"/>
          </a:solidFill>
          <a:ln w="12700">
            <a:solidFill>
              <a:srgbClr val="27446F"/>
            </a:solidFill>
            <a:prstDash val="solid"/>
          </a:ln>
        </p:spPr>
      </p:sp>
      <p:sp>
        <p:nvSpPr>
          <p:cNvPr id="13" name="Shape 10"/>
          <p:cNvSpPr/>
          <p:nvPr/>
        </p:nvSpPr>
        <p:spPr>
          <a:xfrm>
            <a:off x="4654296" y="2084832"/>
            <a:ext cx="530352" cy="530352"/>
          </a:xfrm>
          <a:prstGeom prst="ellipse">
            <a:avLst/>
          </a:prstGeom>
          <a:solidFill>
            <a:srgbClr val="0E1E36"/>
          </a:solidFill>
          <a:ln w="19050">
            <a:solidFill>
              <a:srgbClr val="F5A623"/>
            </a:solidFill>
            <a:prstDash val="solid"/>
          </a:ln>
        </p:spPr>
      </p:sp>
      <p:pic>
        <p:nvPicPr>
          <p:cNvPr id="14" name="Image 1" descr="preencoded.png">    </p:cNvPr>
          <p:cNvPicPr>
            <a:picLocks noChangeAspect="1"/>
          </p:cNvPicPr>
          <p:nvPr/>
        </p:nvPicPr>
        <p:blipFill>
          <a:blip r:embed="rId2"/>
          <a:stretch>
            <a:fillRect/>
          </a:stretch>
        </p:blipFill>
        <p:spPr>
          <a:xfrm>
            <a:off x="4792188" y="2222724"/>
            <a:ext cx="254569" cy="254569"/>
          </a:xfrm>
          <a:prstGeom prst="rect">
            <a:avLst/>
          </a:prstGeom>
        </p:spPr>
      </p:pic>
      <p:sp>
        <p:nvSpPr>
          <p:cNvPr id="15" name="Text 11"/>
          <p:cNvSpPr/>
          <p:nvPr/>
        </p:nvSpPr>
        <p:spPr>
          <a:xfrm>
            <a:off x="6986016" y="2011680"/>
            <a:ext cx="685800" cy="457200"/>
          </a:xfrm>
          <a:prstGeom prst="rect">
            <a:avLst/>
          </a:prstGeom>
          <a:noFill/>
          <a:ln/>
        </p:spPr>
        <p:txBody>
          <a:bodyPr wrap="square" lIns="0" tIns="0" rIns="0" bIns="0" rtlCol="0" anchor="ctr"/>
          <a:lstStyle/>
          <a:p>
            <a:pPr algn="r" indent="0" marL="0">
              <a:buNone/>
            </a:pPr>
            <a:r>
              <a:rPr lang="en-US" sz="2200" b="1" dirty="0">
                <a:solidFill>
                  <a:srgbClr val="27446F"/>
                </a:solidFill>
                <a:latin typeface="Arial" pitchFamily="34" charset="0"/>
                <a:ea typeface="Arial" pitchFamily="34" charset="-122"/>
                <a:cs typeface="Arial" pitchFamily="34" charset="-120"/>
              </a:rPr>
              <a:t>02</a:t>
            </a:r>
            <a:endParaRPr lang="en-US" sz="2200" dirty="0"/>
          </a:p>
        </p:txBody>
      </p:sp>
      <p:sp>
        <p:nvSpPr>
          <p:cNvPr id="16" name="Text 12"/>
          <p:cNvSpPr/>
          <p:nvPr/>
        </p:nvSpPr>
        <p:spPr>
          <a:xfrm>
            <a:off x="4654296" y="2688336"/>
            <a:ext cx="2999232" cy="530352"/>
          </a:xfrm>
          <a:prstGeom prst="rect">
            <a:avLst/>
          </a:prstGeom>
          <a:noFill/>
          <a:ln/>
        </p:spPr>
        <p:txBody>
          <a:bodyPr wrap="square" lIns="0" tIns="0" rIns="0" bIns="0" rtlCol="0" anchor="t"/>
          <a:lstStyle/>
          <a:p>
            <a:pPr indent="0" marL="0">
              <a:buNone/>
            </a:pPr>
            <a:r>
              <a:rPr lang="en-US" sz="1500" b="1" dirty="0">
                <a:solidFill>
                  <a:srgbClr val="F2F6FC"/>
                </a:solidFill>
                <a:latin typeface="Arial" pitchFamily="34" charset="0"/>
                <a:ea typeface="Arial" pitchFamily="34" charset="-122"/>
                <a:cs typeface="Arial" pitchFamily="34" charset="-120"/>
              </a:rPr>
              <a:t>Rules flagging engine</a:t>
            </a:r>
            <a:endParaRPr lang="en-US" sz="1500" dirty="0"/>
          </a:p>
        </p:txBody>
      </p:sp>
      <p:sp>
        <p:nvSpPr>
          <p:cNvPr id="17" name="Text 13"/>
          <p:cNvSpPr/>
          <p:nvPr/>
        </p:nvSpPr>
        <p:spPr>
          <a:xfrm>
            <a:off x="4654296" y="3236976"/>
            <a:ext cx="2999232" cy="475488"/>
          </a:xfrm>
          <a:prstGeom prst="rect">
            <a:avLst/>
          </a:prstGeom>
          <a:noFill/>
          <a:ln/>
        </p:spPr>
        <p:txBody>
          <a:bodyPr wrap="square" lIns="0" tIns="0" rIns="0" bIns="0" rtlCol="0" anchor="t"/>
          <a:lstStyle/>
          <a:p>
            <a:pPr indent="0" marL="0">
              <a:buNone/>
            </a:pPr>
            <a:r>
              <a:rPr lang="en-US" sz="1100" dirty="0">
                <a:solidFill>
                  <a:srgbClr val="94A9C9"/>
                </a:solidFill>
                <a:latin typeface="Calibri" pitchFamily="34" charset="0"/>
                <a:ea typeface="Calibri" pitchFamily="34" charset="-122"/>
                <a:cs typeface="Calibri" pitchFamily="34" charset="-120"/>
              </a:rPr>
              <a:t>Crew rest, clashes, briefs and quals validated on every line, flagged the moment they break.</a:t>
            </a:r>
            <a:endParaRPr lang="en-US" sz="1100" dirty="0"/>
          </a:p>
        </p:txBody>
      </p:sp>
      <p:sp>
        <p:nvSpPr>
          <p:cNvPr id="18" name="Shape 14"/>
          <p:cNvSpPr/>
          <p:nvPr/>
        </p:nvSpPr>
        <p:spPr>
          <a:xfrm>
            <a:off x="8110728" y="1847088"/>
            <a:ext cx="3456432" cy="1938528"/>
          </a:xfrm>
          <a:prstGeom prst="roundRect">
            <a:avLst>
              <a:gd name="adj" fmla="val 4717"/>
            </a:avLst>
          </a:prstGeom>
          <a:solidFill>
            <a:srgbClr val="13294A"/>
          </a:solidFill>
          <a:ln w="12700">
            <a:solidFill>
              <a:srgbClr val="27446F"/>
            </a:solidFill>
            <a:prstDash val="solid"/>
          </a:ln>
        </p:spPr>
      </p:sp>
      <p:sp>
        <p:nvSpPr>
          <p:cNvPr id="19" name="Shape 15"/>
          <p:cNvSpPr/>
          <p:nvPr/>
        </p:nvSpPr>
        <p:spPr>
          <a:xfrm>
            <a:off x="8366760" y="2084832"/>
            <a:ext cx="530352" cy="530352"/>
          </a:xfrm>
          <a:prstGeom prst="ellipse">
            <a:avLst/>
          </a:prstGeom>
          <a:solidFill>
            <a:srgbClr val="0E1E36"/>
          </a:solidFill>
          <a:ln w="19050">
            <a:solidFill>
              <a:srgbClr val="6FA8DC"/>
            </a:solidFill>
            <a:prstDash val="solid"/>
          </a:ln>
        </p:spPr>
      </p:sp>
      <p:pic>
        <p:nvPicPr>
          <p:cNvPr id="20" name="Image 2" descr="preencoded.png">    </p:cNvPr>
          <p:cNvPicPr>
            <a:picLocks noChangeAspect="1"/>
          </p:cNvPicPr>
          <p:nvPr/>
        </p:nvPicPr>
        <p:blipFill>
          <a:blip r:embed="rId3"/>
          <a:stretch>
            <a:fillRect/>
          </a:stretch>
        </p:blipFill>
        <p:spPr>
          <a:xfrm>
            <a:off x="8504652" y="2222724"/>
            <a:ext cx="254569" cy="254569"/>
          </a:xfrm>
          <a:prstGeom prst="rect">
            <a:avLst/>
          </a:prstGeom>
        </p:spPr>
      </p:pic>
      <p:sp>
        <p:nvSpPr>
          <p:cNvPr id="21" name="Text 16"/>
          <p:cNvSpPr/>
          <p:nvPr/>
        </p:nvSpPr>
        <p:spPr>
          <a:xfrm>
            <a:off x="10698480" y="2011680"/>
            <a:ext cx="685800" cy="457200"/>
          </a:xfrm>
          <a:prstGeom prst="rect">
            <a:avLst/>
          </a:prstGeom>
          <a:noFill/>
          <a:ln/>
        </p:spPr>
        <p:txBody>
          <a:bodyPr wrap="square" lIns="0" tIns="0" rIns="0" bIns="0" rtlCol="0" anchor="ctr"/>
          <a:lstStyle/>
          <a:p>
            <a:pPr algn="r" indent="0" marL="0">
              <a:buNone/>
            </a:pPr>
            <a:r>
              <a:rPr lang="en-US" sz="2200" b="1" dirty="0">
                <a:solidFill>
                  <a:srgbClr val="27446F"/>
                </a:solidFill>
                <a:latin typeface="Arial" pitchFamily="34" charset="0"/>
                <a:ea typeface="Arial" pitchFamily="34" charset="-122"/>
                <a:cs typeface="Arial" pitchFamily="34" charset="-120"/>
              </a:rPr>
              <a:t>03</a:t>
            </a:r>
            <a:endParaRPr lang="en-US" sz="2200" dirty="0"/>
          </a:p>
        </p:txBody>
      </p:sp>
      <p:sp>
        <p:nvSpPr>
          <p:cNvPr id="22" name="Text 17"/>
          <p:cNvSpPr/>
          <p:nvPr/>
        </p:nvSpPr>
        <p:spPr>
          <a:xfrm>
            <a:off x="8366760" y="2688336"/>
            <a:ext cx="2999232" cy="530352"/>
          </a:xfrm>
          <a:prstGeom prst="rect">
            <a:avLst/>
          </a:prstGeom>
          <a:noFill/>
          <a:ln/>
        </p:spPr>
        <p:txBody>
          <a:bodyPr wrap="square" lIns="0" tIns="0" rIns="0" bIns="0" rtlCol="0" anchor="t"/>
          <a:lstStyle/>
          <a:p>
            <a:pPr indent="0" marL="0">
              <a:buNone/>
            </a:pPr>
            <a:r>
              <a:rPr lang="en-US" sz="1500" b="1" dirty="0">
                <a:solidFill>
                  <a:srgbClr val="F2F6FC"/>
                </a:solidFill>
                <a:latin typeface="Arial" pitchFamily="34" charset="0"/>
                <a:ea typeface="Arial" pitchFamily="34" charset="-122"/>
                <a:cs typeface="Arial" pitchFamily="34" charset="-120"/>
              </a:rPr>
              <a:t>Qual-aware crew placement</a:t>
            </a:r>
            <a:endParaRPr lang="en-US" sz="1500" dirty="0"/>
          </a:p>
        </p:txBody>
      </p:sp>
      <p:sp>
        <p:nvSpPr>
          <p:cNvPr id="23" name="Text 18"/>
          <p:cNvSpPr/>
          <p:nvPr/>
        </p:nvSpPr>
        <p:spPr>
          <a:xfrm>
            <a:off x="8366760" y="3236976"/>
            <a:ext cx="2999232" cy="475488"/>
          </a:xfrm>
          <a:prstGeom prst="rect">
            <a:avLst/>
          </a:prstGeom>
          <a:noFill/>
          <a:ln/>
        </p:spPr>
        <p:txBody>
          <a:bodyPr wrap="square" lIns="0" tIns="0" rIns="0" bIns="0" rtlCol="0" anchor="t"/>
          <a:lstStyle/>
          <a:p>
            <a:pPr indent="0" marL="0">
              <a:buNone/>
            </a:pPr>
            <a:r>
              <a:rPr lang="en-US" sz="1100" dirty="0">
                <a:solidFill>
                  <a:srgbClr val="94A9C9"/>
                </a:solidFill>
                <a:latin typeface="Calibri" pitchFamily="34" charset="0"/>
                <a:ea typeface="Calibri" pitchFamily="34" charset="-122"/>
                <a:cs typeface="Calibri" pitchFamily="34" charset="-120"/>
              </a:rPr>
              <a:t>The palette knows who is current, rested and free — and rings who is eligible.</a:t>
            </a:r>
            <a:endParaRPr lang="en-US" sz="1100" dirty="0"/>
          </a:p>
        </p:txBody>
      </p:sp>
      <p:sp>
        <p:nvSpPr>
          <p:cNvPr id="24" name="Shape 19"/>
          <p:cNvSpPr/>
          <p:nvPr/>
        </p:nvSpPr>
        <p:spPr>
          <a:xfrm>
            <a:off x="685800" y="4041648"/>
            <a:ext cx="3456432" cy="1938528"/>
          </a:xfrm>
          <a:prstGeom prst="roundRect">
            <a:avLst>
              <a:gd name="adj" fmla="val 4717"/>
            </a:avLst>
          </a:prstGeom>
          <a:solidFill>
            <a:srgbClr val="13294A"/>
          </a:solidFill>
          <a:ln w="12700">
            <a:solidFill>
              <a:srgbClr val="27446F"/>
            </a:solidFill>
            <a:prstDash val="solid"/>
          </a:ln>
        </p:spPr>
      </p:sp>
      <p:sp>
        <p:nvSpPr>
          <p:cNvPr id="25" name="Shape 20"/>
          <p:cNvSpPr/>
          <p:nvPr/>
        </p:nvSpPr>
        <p:spPr>
          <a:xfrm>
            <a:off x="941832" y="4279392"/>
            <a:ext cx="530352" cy="530352"/>
          </a:xfrm>
          <a:prstGeom prst="ellipse">
            <a:avLst/>
          </a:prstGeom>
          <a:solidFill>
            <a:srgbClr val="0E1E36"/>
          </a:solidFill>
          <a:ln w="19050">
            <a:solidFill>
              <a:srgbClr val="6FA8DC"/>
            </a:solidFill>
            <a:prstDash val="solid"/>
          </a:ln>
        </p:spPr>
      </p:sp>
      <p:pic>
        <p:nvPicPr>
          <p:cNvPr id="26" name="Image 3" descr="preencoded.png">    </p:cNvPr>
          <p:cNvPicPr>
            <a:picLocks noChangeAspect="1"/>
          </p:cNvPicPr>
          <p:nvPr/>
        </p:nvPicPr>
        <p:blipFill>
          <a:blip r:embed="rId4"/>
          <a:stretch>
            <a:fillRect/>
          </a:stretch>
        </p:blipFill>
        <p:spPr>
          <a:xfrm>
            <a:off x="1079724" y="4417284"/>
            <a:ext cx="254569" cy="254569"/>
          </a:xfrm>
          <a:prstGeom prst="rect">
            <a:avLst/>
          </a:prstGeom>
        </p:spPr>
      </p:pic>
      <p:sp>
        <p:nvSpPr>
          <p:cNvPr id="27" name="Text 21"/>
          <p:cNvSpPr/>
          <p:nvPr/>
        </p:nvSpPr>
        <p:spPr>
          <a:xfrm>
            <a:off x="3273552" y="4206240"/>
            <a:ext cx="685800" cy="457200"/>
          </a:xfrm>
          <a:prstGeom prst="rect">
            <a:avLst/>
          </a:prstGeom>
          <a:noFill/>
          <a:ln/>
        </p:spPr>
        <p:txBody>
          <a:bodyPr wrap="square" lIns="0" tIns="0" rIns="0" bIns="0" rtlCol="0" anchor="ctr"/>
          <a:lstStyle/>
          <a:p>
            <a:pPr algn="r" indent="0" marL="0">
              <a:buNone/>
            </a:pPr>
            <a:r>
              <a:rPr lang="en-US" sz="2200" b="1" dirty="0">
                <a:solidFill>
                  <a:srgbClr val="27446F"/>
                </a:solidFill>
                <a:latin typeface="Arial" pitchFamily="34" charset="0"/>
                <a:ea typeface="Arial" pitchFamily="34" charset="-122"/>
                <a:cs typeface="Arial" pitchFamily="34" charset="-120"/>
              </a:rPr>
              <a:t>04</a:t>
            </a:r>
            <a:endParaRPr lang="en-US" sz="2200" dirty="0"/>
          </a:p>
        </p:txBody>
      </p:sp>
      <p:sp>
        <p:nvSpPr>
          <p:cNvPr id="28" name="Text 22"/>
          <p:cNvSpPr/>
          <p:nvPr/>
        </p:nvSpPr>
        <p:spPr>
          <a:xfrm>
            <a:off x="941832" y="4882896"/>
            <a:ext cx="2999232" cy="530352"/>
          </a:xfrm>
          <a:prstGeom prst="rect">
            <a:avLst/>
          </a:prstGeom>
          <a:noFill/>
          <a:ln/>
        </p:spPr>
        <p:txBody>
          <a:bodyPr wrap="square" lIns="0" tIns="0" rIns="0" bIns="0" rtlCol="0" anchor="t"/>
          <a:lstStyle/>
          <a:p>
            <a:pPr indent="0" marL="0">
              <a:buNone/>
            </a:pPr>
            <a:r>
              <a:rPr lang="en-US" sz="1500" b="1" dirty="0">
                <a:solidFill>
                  <a:srgbClr val="F2F6FC"/>
                </a:solidFill>
                <a:latin typeface="Arial" pitchFamily="34" charset="0"/>
                <a:ea typeface="Arial" pitchFamily="34" charset="-122"/>
                <a:cs typeface="Arial" pitchFamily="34" charset="-120"/>
              </a:rPr>
              <a:t>Synced Leave War</a:t>
            </a:r>
            <a:endParaRPr lang="en-US" sz="1500" dirty="0"/>
          </a:p>
        </p:txBody>
      </p:sp>
      <p:sp>
        <p:nvSpPr>
          <p:cNvPr id="29" name="Text 23"/>
          <p:cNvSpPr/>
          <p:nvPr/>
        </p:nvSpPr>
        <p:spPr>
          <a:xfrm>
            <a:off x="941832" y="5431536"/>
            <a:ext cx="2999232" cy="475488"/>
          </a:xfrm>
          <a:prstGeom prst="rect">
            <a:avLst/>
          </a:prstGeom>
          <a:noFill/>
          <a:ln/>
        </p:spPr>
        <p:txBody>
          <a:bodyPr wrap="square" lIns="0" tIns="0" rIns="0" bIns="0" rtlCol="0" anchor="t"/>
          <a:lstStyle/>
          <a:p>
            <a:pPr indent="0" marL="0">
              <a:buNone/>
            </a:pPr>
            <a:r>
              <a:rPr lang="en-US" sz="1100" dirty="0">
                <a:solidFill>
                  <a:srgbClr val="94A9C9"/>
                </a:solidFill>
                <a:latin typeface="Calibri" pitchFamily="34" charset="0"/>
                <a:ea typeface="Calibri" pitchFamily="34" charset="-122"/>
                <a:cs typeface="Calibri" pitchFamily="34" charset="-120"/>
              </a:rPr>
              <a:t>Approve leave once; it flows to the schedule and back. Medical and OIL ride the same wires.</a:t>
            </a:r>
            <a:endParaRPr lang="en-US" sz="1100" dirty="0"/>
          </a:p>
        </p:txBody>
      </p:sp>
      <p:sp>
        <p:nvSpPr>
          <p:cNvPr id="30" name="Shape 24"/>
          <p:cNvSpPr/>
          <p:nvPr/>
        </p:nvSpPr>
        <p:spPr>
          <a:xfrm>
            <a:off x="4398264" y="4041648"/>
            <a:ext cx="3456432" cy="1938528"/>
          </a:xfrm>
          <a:prstGeom prst="roundRect">
            <a:avLst>
              <a:gd name="adj" fmla="val 4717"/>
            </a:avLst>
          </a:prstGeom>
          <a:solidFill>
            <a:srgbClr val="13294A"/>
          </a:solidFill>
          <a:ln w="12700">
            <a:solidFill>
              <a:srgbClr val="27446F"/>
            </a:solidFill>
            <a:prstDash val="solid"/>
          </a:ln>
        </p:spPr>
      </p:sp>
      <p:sp>
        <p:nvSpPr>
          <p:cNvPr id="31" name="Shape 25"/>
          <p:cNvSpPr/>
          <p:nvPr/>
        </p:nvSpPr>
        <p:spPr>
          <a:xfrm>
            <a:off x="4654296" y="4279392"/>
            <a:ext cx="530352" cy="530352"/>
          </a:xfrm>
          <a:prstGeom prst="ellipse">
            <a:avLst/>
          </a:prstGeom>
          <a:solidFill>
            <a:srgbClr val="0E1E36"/>
          </a:solidFill>
          <a:ln w="19050">
            <a:solidFill>
              <a:srgbClr val="37C46E"/>
            </a:solidFill>
            <a:prstDash val="solid"/>
          </a:ln>
        </p:spPr>
      </p:sp>
      <p:pic>
        <p:nvPicPr>
          <p:cNvPr id="32" name="Image 4" descr="preencoded.png">    </p:cNvPr>
          <p:cNvPicPr>
            <a:picLocks noChangeAspect="1"/>
          </p:cNvPicPr>
          <p:nvPr/>
        </p:nvPicPr>
        <p:blipFill>
          <a:blip r:embed="rId5"/>
          <a:stretch>
            <a:fillRect/>
          </a:stretch>
        </p:blipFill>
        <p:spPr>
          <a:xfrm>
            <a:off x="4792188" y="4417284"/>
            <a:ext cx="254569" cy="254569"/>
          </a:xfrm>
          <a:prstGeom prst="rect">
            <a:avLst/>
          </a:prstGeom>
        </p:spPr>
      </p:pic>
      <p:sp>
        <p:nvSpPr>
          <p:cNvPr id="33" name="Text 26"/>
          <p:cNvSpPr/>
          <p:nvPr/>
        </p:nvSpPr>
        <p:spPr>
          <a:xfrm>
            <a:off x="6986016" y="4206240"/>
            <a:ext cx="685800" cy="457200"/>
          </a:xfrm>
          <a:prstGeom prst="rect">
            <a:avLst/>
          </a:prstGeom>
          <a:noFill/>
          <a:ln/>
        </p:spPr>
        <p:txBody>
          <a:bodyPr wrap="square" lIns="0" tIns="0" rIns="0" bIns="0" rtlCol="0" anchor="ctr"/>
          <a:lstStyle/>
          <a:p>
            <a:pPr algn="r" indent="0" marL="0">
              <a:buNone/>
            </a:pPr>
            <a:r>
              <a:rPr lang="en-US" sz="2200" b="1" dirty="0">
                <a:solidFill>
                  <a:srgbClr val="27446F"/>
                </a:solidFill>
                <a:latin typeface="Arial" pitchFamily="34" charset="0"/>
                <a:ea typeface="Arial" pitchFamily="34" charset="-122"/>
                <a:cs typeface="Arial" pitchFamily="34" charset="-120"/>
              </a:rPr>
              <a:t>05</a:t>
            </a:r>
            <a:endParaRPr lang="en-US" sz="2200" dirty="0"/>
          </a:p>
        </p:txBody>
      </p:sp>
      <p:sp>
        <p:nvSpPr>
          <p:cNvPr id="34" name="Text 27"/>
          <p:cNvSpPr/>
          <p:nvPr/>
        </p:nvSpPr>
        <p:spPr>
          <a:xfrm>
            <a:off x="4654296" y="4882896"/>
            <a:ext cx="2999232" cy="530352"/>
          </a:xfrm>
          <a:prstGeom prst="rect">
            <a:avLst/>
          </a:prstGeom>
          <a:noFill/>
          <a:ln/>
        </p:spPr>
        <p:txBody>
          <a:bodyPr wrap="square" lIns="0" tIns="0" rIns="0" bIns="0" rtlCol="0" anchor="t"/>
          <a:lstStyle/>
          <a:p>
            <a:pPr indent="0" marL="0">
              <a:buNone/>
            </a:pPr>
            <a:r>
              <a:rPr lang="en-US" sz="1500" b="1" dirty="0">
                <a:solidFill>
                  <a:srgbClr val="F2F6FC"/>
                </a:solidFill>
                <a:latin typeface="Arial" pitchFamily="34" charset="0"/>
                <a:ea typeface="Arial" pitchFamily="34" charset="-122"/>
                <a:cs typeface="Arial" pitchFamily="34" charset="-120"/>
              </a:rPr>
              <a:t>Manpower red line</a:t>
            </a:r>
            <a:endParaRPr lang="en-US" sz="1500" dirty="0"/>
          </a:p>
        </p:txBody>
      </p:sp>
      <p:sp>
        <p:nvSpPr>
          <p:cNvPr id="35" name="Text 28"/>
          <p:cNvSpPr/>
          <p:nvPr/>
        </p:nvSpPr>
        <p:spPr>
          <a:xfrm>
            <a:off x="4654296" y="5431536"/>
            <a:ext cx="2999232" cy="475488"/>
          </a:xfrm>
          <a:prstGeom prst="rect">
            <a:avLst/>
          </a:prstGeom>
          <a:noFill/>
          <a:ln/>
        </p:spPr>
        <p:txBody>
          <a:bodyPr wrap="square" lIns="0" tIns="0" rIns="0" bIns="0" rtlCol="0" anchor="t"/>
          <a:lstStyle/>
          <a:p>
            <a:pPr indent="0" marL="0">
              <a:buNone/>
            </a:pPr>
            <a:r>
              <a:rPr lang="en-US" sz="1100" dirty="0">
                <a:solidFill>
                  <a:srgbClr val="94A9C9"/>
                </a:solidFill>
                <a:latin typeface="Calibri" pitchFamily="34" charset="0"/>
                <a:ea typeface="Calibri" pitchFamily="34" charset="-122"/>
                <a:cs typeface="Calibri" pitchFamily="34" charset="-120"/>
              </a:rPr>
              <a:t>Squadron-set thresholds turn the day amber or red the moment manning drops below the line.</a:t>
            </a:r>
            <a:endParaRPr lang="en-US" sz="1100" dirty="0"/>
          </a:p>
        </p:txBody>
      </p:sp>
      <p:sp>
        <p:nvSpPr>
          <p:cNvPr id="36" name="Shape 29"/>
          <p:cNvSpPr/>
          <p:nvPr/>
        </p:nvSpPr>
        <p:spPr>
          <a:xfrm>
            <a:off x="8110728" y="4041648"/>
            <a:ext cx="3456432" cy="1938528"/>
          </a:xfrm>
          <a:prstGeom prst="roundRect">
            <a:avLst>
              <a:gd name="adj" fmla="val 4717"/>
            </a:avLst>
          </a:prstGeom>
          <a:solidFill>
            <a:srgbClr val="13294A"/>
          </a:solidFill>
          <a:ln w="12700">
            <a:solidFill>
              <a:srgbClr val="27446F"/>
            </a:solidFill>
            <a:prstDash val="solid"/>
          </a:ln>
        </p:spPr>
      </p:sp>
      <p:sp>
        <p:nvSpPr>
          <p:cNvPr id="37" name="Shape 30"/>
          <p:cNvSpPr/>
          <p:nvPr/>
        </p:nvSpPr>
        <p:spPr>
          <a:xfrm>
            <a:off x="8366760" y="4279392"/>
            <a:ext cx="530352" cy="530352"/>
          </a:xfrm>
          <a:prstGeom prst="ellipse">
            <a:avLst/>
          </a:prstGeom>
          <a:solidFill>
            <a:srgbClr val="0E1E36"/>
          </a:solidFill>
          <a:ln w="19050">
            <a:solidFill>
              <a:srgbClr val="37C46E"/>
            </a:solidFill>
            <a:prstDash val="solid"/>
          </a:ln>
        </p:spPr>
      </p:sp>
      <p:pic>
        <p:nvPicPr>
          <p:cNvPr id="38" name="Image 5" descr="preencoded.png">    </p:cNvPr>
          <p:cNvPicPr>
            <a:picLocks noChangeAspect="1"/>
          </p:cNvPicPr>
          <p:nvPr/>
        </p:nvPicPr>
        <p:blipFill>
          <a:blip r:embed="rId6"/>
          <a:stretch>
            <a:fillRect/>
          </a:stretch>
        </p:blipFill>
        <p:spPr>
          <a:xfrm>
            <a:off x="8504652" y="4417284"/>
            <a:ext cx="254569" cy="254569"/>
          </a:xfrm>
          <a:prstGeom prst="rect">
            <a:avLst/>
          </a:prstGeom>
        </p:spPr>
      </p:pic>
      <p:sp>
        <p:nvSpPr>
          <p:cNvPr id="39" name="Text 31"/>
          <p:cNvSpPr/>
          <p:nvPr/>
        </p:nvSpPr>
        <p:spPr>
          <a:xfrm>
            <a:off x="10698480" y="4206240"/>
            <a:ext cx="685800" cy="457200"/>
          </a:xfrm>
          <a:prstGeom prst="rect">
            <a:avLst/>
          </a:prstGeom>
          <a:noFill/>
          <a:ln/>
        </p:spPr>
        <p:txBody>
          <a:bodyPr wrap="square" lIns="0" tIns="0" rIns="0" bIns="0" rtlCol="0" anchor="ctr"/>
          <a:lstStyle/>
          <a:p>
            <a:pPr algn="r" indent="0" marL="0">
              <a:buNone/>
            </a:pPr>
            <a:r>
              <a:rPr lang="en-US" sz="2200" b="1" dirty="0">
                <a:solidFill>
                  <a:srgbClr val="27446F"/>
                </a:solidFill>
                <a:latin typeface="Arial" pitchFamily="34" charset="0"/>
                <a:ea typeface="Arial" pitchFamily="34" charset="-122"/>
                <a:cs typeface="Arial" pitchFamily="34" charset="-120"/>
              </a:rPr>
              <a:t>06</a:t>
            </a:r>
            <a:endParaRPr lang="en-US" sz="2200" dirty="0"/>
          </a:p>
        </p:txBody>
      </p:sp>
      <p:sp>
        <p:nvSpPr>
          <p:cNvPr id="40" name="Text 32"/>
          <p:cNvSpPr/>
          <p:nvPr/>
        </p:nvSpPr>
        <p:spPr>
          <a:xfrm>
            <a:off x="8366760" y="4882896"/>
            <a:ext cx="2999232" cy="530352"/>
          </a:xfrm>
          <a:prstGeom prst="rect">
            <a:avLst/>
          </a:prstGeom>
          <a:noFill/>
          <a:ln/>
        </p:spPr>
        <p:txBody>
          <a:bodyPr wrap="square" lIns="0" tIns="0" rIns="0" bIns="0" rtlCol="0" anchor="t"/>
          <a:lstStyle/>
          <a:p>
            <a:pPr indent="0" marL="0">
              <a:buNone/>
            </a:pPr>
            <a:r>
              <a:rPr lang="en-US" sz="1500" b="1" dirty="0">
                <a:solidFill>
                  <a:srgbClr val="F2F6FC"/>
                </a:solidFill>
                <a:latin typeface="Arial" pitchFamily="34" charset="0"/>
                <a:ea typeface="Arial" pitchFamily="34" charset="-122"/>
                <a:cs typeface="Arial" pitchFamily="34" charset="-120"/>
              </a:rPr>
              <a:t>Planning calendar</a:t>
            </a:r>
            <a:endParaRPr lang="en-US" sz="1500" dirty="0"/>
          </a:p>
        </p:txBody>
      </p:sp>
      <p:sp>
        <p:nvSpPr>
          <p:cNvPr id="41" name="Text 33"/>
          <p:cNvSpPr/>
          <p:nvPr/>
        </p:nvSpPr>
        <p:spPr>
          <a:xfrm>
            <a:off x="8366760" y="5431536"/>
            <a:ext cx="2999232" cy="475488"/>
          </a:xfrm>
          <a:prstGeom prst="rect">
            <a:avLst/>
          </a:prstGeom>
          <a:noFill/>
          <a:ln/>
        </p:spPr>
        <p:txBody>
          <a:bodyPr wrap="square" lIns="0" tIns="0" rIns="0" bIns="0" rtlCol="0" anchor="t"/>
          <a:lstStyle/>
          <a:p>
            <a:pPr indent="0" marL="0">
              <a:buNone/>
            </a:pPr>
            <a:r>
              <a:rPr lang="en-US" sz="1100" dirty="0">
                <a:solidFill>
                  <a:srgbClr val="94A9C9"/>
                </a:solidFill>
                <a:latin typeface="Calibri" pitchFamily="34" charset="0"/>
                <a:ea typeface="Calibri" pitchFamily="34" charset="-122"/>
                <a:cs typeface="Calibri" pitchFamily="34" charset="-120"/>
              </a:rPr>
              <a:t>A month view schedulers use to lay out manpower — drag, hold-to-add, plan ahead.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526"/>
        </a:solidFill>
      </p:bgPr>
    </p:bg>
    <p:spTree>
      <p:nvGrpSpPr>
        <p:cNvPr id="1" name=""/>
        <p:cNvGrpSpPr/>
        <p:nvPr/>
      </p:nvGrpSpPr>
      <p:grpSpPr>
        <a:xfrm>
          <a:off x="0" y="0"/>
          <a:ext cx="0" cy="0"/>
          <a:chOff x="0" y="0"/>
          <a:chExt cx="0" cy="0"/>
        </a:xfrm>
      </p:grpSpPr>
      <p:sp>
        <p:nvSpPr>
          <p:cNvPr id="2" name="Shape 0"/>
          <p:cNvSpPr/>
          <p:nvPr/>
        </p:nvSpPr>
        <p:spPr>
          <a:xfrm>
            <a:off x="10634472" y="-914400"/>
            <a:ext cx="2377440" cy="2377440"/>
          </a:xfrm>
          <a:prstGeom prst="ellipse">
            <a:avLst/>
          </a:prstGeom>
          <a:ln w="15875">
            <a:solidFill>
              <a:srgbClr val="27446F"/>
            </a:solidFill>
            <a:prstDash val="solid"/>
          </a:ln>
        </p:spPr>
      </p:sp>
      <p:sp>
        <p:nvSpPr>
          <p:cNvPr id="3" name="Shape 1"/>
          <p:cNvSpPr/>
          <p:nvPr/>
        </p:nvSpPr>
        <p:spPr>
          <a:xfrm>
            <a:off x="11045952" y="-502920"/>
            <a:ext cx="1554480" cy="1554480"/>
          </a:xfrm>
          <a:prstGeom prst="ellipse">
            <a:avLst/>
          </a:prstGeom>
          <a:ln w="12700">
            <a:solidFill>
              <a:srgbClr val="F5A623">
                <a:alpha val="45000"/>
              </a:srgbClr>
            </a:solidFill>
            <a:prstDash val="solid"/>
          </a:ln>
        </p:spPr>
      </p:sp>
      <p:sp>
        <p:nvSpPr>
          <p:cNvPr id="4" name="Text 2"/>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04</a:t>
            </a:r>
            <a:endParaRPr lang="en-US" sz="1000" dirty="0"/>
          </a:p>
        </p:txBody>
      </p:sp>
      <p:sp>
        <p:nvSpPr>
          <p:cNvPr id="5" name="Text 3"/>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6" name="Text 4"/>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CAPABILITY 01 — THE CORE</a:t>
            </a:r>
            <a:endParaRPr lang="en-US" sz="1250" dirty="0"/>
          </a:p>
        </p:txBody>
      </p:sp>
      <p:sp>
        <p:nvSpPr>
          <p:cNvPr id="7" name="Text 5"/>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A scheduling app on steroids</a:t>
            </a:r>
            <a:endParaRPr lang="en-US" sz="3400" dirty="0"/>
          </a:p>
        </p:txBody>
      </p:sp>
      <p:sp>
        <p:nvSpPr>
          <p:cNvPr id="8" name="Text 6"/>
          <p:cNvSpPr/>
          <p:nvPr/>
        </p:nvSpPr>
        <p:spPr>
          <a:xfrm>
            <a:off x="685800" y="1691640"/>
            <a:ext cx="5577840" cy="914400"/>
          </a:xfrm>
          <a:prstGeom prst="rect">
            <a:avLst/>
          </a:prstGeom>
          <a:noFill/>
          <a:ln/>
        </p:spPr>
        <p:txBody>
          <a:bodyPr wrap="square" lIns="0" tIns="0" rIns="0" bIns="0" rtlCol="0" anchor="ctr"/>
          <a:lstStyle/>
          <a:p>
            <a:pPr indent="0" marL="0">
              <a:buNone/>
            </a:pPr>
            <a:r>
              <a:rPr lang="en-US" sz="1450" dirty="0">
                <a:solidFill>
                  <a:srgbClr val="94A9C9"/>
                </a:solidFill>
                <a:latin typeface="Calibri" pitchFamily="34" charset="0"/>
                <a:ea typeface="Calibri" pitchFamily="34" charset="-122"/>
                <a:cs typeface="Calibri" pitchFamily="34" charset="-120"/>
              </a:rPr>
              <a:t>Everything that flies, stands duty or trains in one week — planned on a board built for the job, then published with a proper amendment trail.</a:t>
            </a:r>
            <a:endParaRPr lang="en-US" sz="1450" dirty="0"/>
          </a:p>
        </p:txBody>
      </p:sp>
      <p:sp>
        <p:nvSpPr>
          <p:cNvPr id="9" name="Shape 7"/>
          <p:cNvSpPr/>
          <p:nvPr/>
        </p:nvSpPr>
        <p:spPr>
          <a:xfrm>
            <a:off x="6537960" y="1783080"/>
            <a:ext cx="512064" cy="512064"/>
          </a:xfrm>
          <a:prstGeom prst="ellipse">
            <a:avLst/>
          </a:prstGeom>
          <a:solidFill>
            <a:srgbClr val="0E1E36"/>
          </a:solidFill>
          <a:ln w="19050">
            <a:solidFill>
              <a:srgbClr val="F5A623"/>
            </a:solidFill>
            <a:prstDash val="solid"/>
          </a:ln>
        </p:spPr>
      </p:sp>
      <p:pic>
        <p:nvPicPr>
          <p:cNvPr id="10" name="Image 0" descr="preencoded.png">    </p:cNvPr>
          <p:cNvPicPr>
            <a:picLocks noChangeAspect="1"/>
          </p:cNvPicPr>
          <p:nvPr/>
        </p:nvPicPr>
        <p:blipFill>
          <a:blip r:embed="rId1"/>
          <a:stretch>
            <a:fillRect/>
          </a:stretch>
        </p:blipFill>
        <p:spPr>
          <a:xfrm>
            <a:off x="6671097" y="1916217"/>
            <a:ext cx="245791" cy="245791"/>
          </a:xfrm>
          <a:prstGeom prst="rect">
            <a:avLst/>
          </a:prstGeom>
        </p:spPr>
      </p:pic>
      <p:sp>
        <p:nvSpPr>
          <p:cNvPr id="11" name="Text 8"/>
          <p:cNvSpPr/>
          <p:nvPr/>
        </p:nvSpPr>
        <p:spPr>
          <a:xfrm>
            <a:off x="7178040" y="1728216"/>
            <a:ext cx="4297680" cy="310896"/>
          </a:xfrm>
          <a:prstGeom prst="rect">
            <a:avLst/>
          </a:prstGeom>
          <a:noFill/>
          <a:ln/>
        </p:spPr>
        <p:txBody>
          <a:bodyPr wrap="square" lIns="0" tIns="0" rIns="0" bIns="0" rtlCol="0" anchor="ctr"/>
          <a:lstStyle/>
          <a:p>
            <a:pPr indent="0" marL="0">
              <a:buNone/>
            </a:pPr>
            <a:r>
              <a:rPr lang="en-US" sz="1500" b="1" dirty="0">
                <a:solidFill>
                  <a:srgbClr val="F2F6FC"/>
                </a:solidFill>
                <a:latin typeface="Arial" pitchFamily="34" charset="0"/>
                <a:ea typeface="Arial" pitchFamily="34" charset="-122"/>
                <a:cs typeface="Arial" pitchFamily="34" charset="-120"/>
              </a:rPr>
              <a:t>Full programme in view</a:t>
            </a:r>
            <a:endParaRPr lang="en-US" sz="1500" dirty="0"/>
          </a:p>
        </p:txBody>
      </p:sp>
      <p:sp>
        <p:nvSpPr>
          <p:cNvPr id="12" name="Text 9"/>
          <p:cNvSpPr/>
          <p:nvPr/>
        </p:nvSpPr>
        <p:spPr>
          <a:xfrm>
            <a:off x="7178040" y="2039112"/>
            <a:ext cx="4251960" cy="502920"/>
          </a:xfrm>
          <a:prstGeom prst="rect">
            <a:avLst/>
          </a:prstGeom>
          <a:noFill/>
          <a:ln/>
        </p:spPr>
        <p:txBody>
          <a:bodyPr wrap="square" lIns="0" tIns="0" rIns="0" bIns="0" rtlCol="0" anchor="ctr"/>
          <a:lstStyle/>
          <a:p>
            <a:pPr indent="0" marL="0">
              <a:buNone/>
            </a:pPr>
            <a:r>
              <a:rPr lang="en-US" sz="1150" dirty="0">
                <a:solidFill>
                  <a:srgbClr val="94A9C9"/>
                </a:solidFill>
                <a:latin typeface="Calibri" pitchFamily="34" charset="0"/>
                <a:ea typeface="Calibri" pitchFamily="34" charset="-122"/>
                <a:cs typeface="Calibri" pitchFamily="34" charset="-120"/>
              </a:rPr>
              <a:t>Flying waves, duty crews, simulator slots, ground events and personal inputs — all in one week.</a:t>
            </a:r>
            <a:endParaRPr lang="en-US" sz="1150" dirty="0"/>
          </a:p>
        </p:txBody>
      </p:sp>
      <p:sp>
        <p:nvSpPr>
          <p:cNvPr id="13" name="Shape 10"/>
          <p:cNvSpPr/>
          <p:nvPr/>
        </p:nvSpPr>
        <p:spPr>
          <a:xfrm>
            <a:off x="6537960" y="2715768"/>
            <a:ext cx="512064" cy="512064"/>
          </a:xfrm>
          <a:prstGeom prst="ellipse">
            <a:avLst/>
          </a:prstGeom>
          <a:solidFill>
            <a:srgbClr val="0E1E36"/>
          </a:solidFill>
          <a:ln w="19050">
            <a:solidFill>
              <a:srgbClr val="F5A623"/>
            </a:solidFill>
            <a:prstDash val="solid"/>
          </a:ln>
        </p:spPr>
      </p:sp>
      <p:pic>
        <p:nvPicPr>
          <p:cNvPr id="14" name="Image 1" descr="preencoded.png">    </p:cNvPr>
          <p:cNvPicPr>
            <a:picLocks noChangeAspect="1"/>
          </p:cNvPicPr>
          <p:nvPr/>
        </p:nvPicPr>
        <p:blipFill>
          <a:blip r:embed="rId2"/>
          <a:stretch>
            <a:fillRect/>
          </a:stretch>
        </p:blipFill>
        <p:spPr>
          <a:xfrm>
            <a:off x="6671097" y="2848905"/>
            <a:ext cx="245791" cy="245791"/>
          </a:xfrm>
          <a:prstGeom prst="rect">
            <a:avLst/>
          </a:prstGeom>
        </p:spPr>
      </p:pic>
      <p:sp>
        <p:nvSpPr>
          <p:cNvPr id="15" name="Text 11"/>
          <p:cNvSpPr/>
          <p:nvPr/>
        </p:nvSpPr>
        <p:spPr>
          <a:xfrm>
            <a:off x="7178040" y="2660904"/>
            <a:ext cx="4297680" cy="310896"/>
          </a:xfrm>
          <a:prstGeom prst="rect">
            <a:avLst/>
          </a:prstGeom>
          <a:noFill/>
          <a:ln/>
        </p:spPr>
        <p:txBody>
          <a:bodyPr wrap="square" lIns="0" tIns="0" rIns="0" bIns="0" rtlCol="0" anchor="ctr"/>
          <a:lstStyle/>
          <a:p>
            <a:pPr indent="0" marL="0">
              <a:buNone/>
            </a:pPr>
            <a:r>
              <a:rPr lang="en-US" sz="1500" b="1" dirty="0">
                <a:solidFill>
                  <a:srgbClr val="F2F6FC"/>
                </a:solidFill>
                <a:latin typeface="Arial" pitchFamily="34" charset="0"/>
                <a:ea typeface="Arial" pitchFamily="34" charset="-122"/>
                <a:cs typeface="Arial" pitchFamily="34" charset="-120"/>
              </a:rPr>
              <a:t>Desktop &amp; phone board</a:t>
            </a:r>
            <a:endParaRPr lang="en-US" sz="1500" dirty="0"/>
          </a:p>
        </p:txBody>
      </p:sp>
      <p:sp>
        <p:nvSpPr>
          <p:cNvPr id="16" name="Text 12"/>
          <p:cNvSpPr/>
          <p:nvPr/>
        </p:nvSpPr>
        <p:spPr>
          <a:xfrm>
            <a:off x="7178040" y="2971800"/>
            <a:ext cx="4251960" cy="502920"/>
          </a:xfrm>
          <a:prstGeom prst="rect">
            <a:avLst/>
          </a:prstGeom>
          <a:noFill/>
          <a:ln/>
        </p:spPr>
        <p:txBody>
          <a:bodyPr wrap="square" lIns="0" tIns="0" rIns="0" bIns="0" rtlCol="0" anchor="ctr"/>
          <a:lstStyle/>
          <a:p>
            <a:pPr indent="0" marL="0">
              <a:buNone/>
            </a:pPr>
            <a:r>
              <a:rPr lang="en-US" sz="1150" dirty="0">
                <a:solidFill>
                  <a:srgbClr val="94A9C9"/>
                </a:solidFill>
                <a:latin typeface="Calibri" pitchFamily="34" charset="0"/>
                <a:ea typeface="Calibri" pitchFamily="34" charset="-122"/>
                <a:cs typeface="Calibri" pitchFamily="34" charset="-120"/>
              </a:rPr>
              <a:t>A full-screen day board that works at a desk or on a phone, with drag-to-place and next-week peek.</a:t>
            </a:r>
            <a:endParaRPr lang="en-US" sz="1150" dirty="0"/>
          </a:p>
        </p:txBody>
      </p:sp>
      <p:sp>
        <p:nvSpPr>
          <p:cNvPr id="17" name="Shape 13"/>
          <p:cNvSpPr/>
          <p:nvPr/>
        </p:nvSpPr>
        <p:spPr>
          <a:xfrm>
            <a:off x="6537960" y="3648456"/>
            <a:ext cx="512064" cy="512064"/>
          </a:xfrm>
          <a:prstGeom prst="ellipse">
            <a:avLst/>
          </a:prstGeom>
          <a:solidFill>
            <a:srgbClr val="0E1E36"/>
          </a:solidFill>
          <a:ln w="19050">
            <a:solidFill>
              <a:srgbClr val="F5A623"/>
            </a:solidFill>
            <a:prstDash val="solid"/>
          </a:ln>
        </p:spPr>
      </p:sp>
      <p:pic>
        <p:nvPicPr>
          <p:cNvPr id="18" name="Image 2" descr="preencoded.png">    </p:cNvPr>
          <p:cNvPicPr>
            <a:picLocks noChangeAspect="1"/>
          </p:cNvPicPr>
          <p:nvPr/>
        </p:nvPicPr>
        <p:blipFill>
          <a:blip r:embed="rId3"/>
          <a:stretch>
            <a:fillRect/>
          </a:stretch>
        </p:blipFill>
        <p:spPr>
          <a:xfrm>
            <a:off x="6671097" y="3781593"/>
            <a:ext cx="245791" cy="245791"/>
          </a:xfrm>
          <a:prstGeom prst="rect">
            <a:avLst/>
          </a:prstGeom>
        </p:spPr>
      </p:pic>
      <p:sp>
        <p:nvSpPr>
          <p:cNvPr id="19" name="Text 14"/>
          <p:cNvSpPr/>
          <p:nvPr/>
        </p:nvSpPr>
        <p:spPr>
          <a:xfrm>
            <a:off x="7178040" y="3593592"/>
            <a:ext cx="4297680" cy="310896"/>
          </a:xfrm>
          <a:prstGeom prst="rect">
            <a:avLst/>
          </a:prstGeom>
          <a:noFill/>
          <a:ln/>
        </p:spPr>
        <p:txBody>
          <a:bodyPr wrap="square" lIns="0" tIns="0" rIns="0" bIns="0" rtlCol="0" anchor="ctr"/>
          <a:lstStyle/>
          <a:p>
            <a:pPr indent="0" marL="0">
              <a:buNone/>
            </a:pPr>
            <a:r>
              <a:rPr lang="en-US" sz="1500" b="1" dirty="0">
                <a:solidFill>
                  <a:srgbClr val="F2F6FC"/>
                </a:solidFill>
                <a:latin typeface="Arial" pitchFamily="34" charset="0"/>
                <a:ea typeface="Arial" pitchFamily="34" charset="-122"/>
                <a:cs typeface="Arial" pitchFamily="34" charset="-120"/>
              </a:rPr>
              <a:t>Templates &amp; drafts</a:t>
            </a:r>
            <a:endParaRPr lang="en-US" sz="1500" dirty="0"/>
          </a:p>
        </p:txBody>
      </p:sp>
      <p:sp>
        <p:nvSpPr>
          <p:cNvPr id="20" name="Text 15"/>
          <p:cNvSpPr/>
          <p:nvPr/>
        </p:nvSpPr>
        <p:spPr>
          <a:xfrm>
            <a:off x="7178040" y="3904488"/>
            <a:ext cx="4251960" cy="502920"/>
          </a:xfrm>
          <a:prstGeom prst="rect">
            <a:avLst/>
          </a:prstGeom>
          <a:noFill/>
          <a:ln/>
        </p:spPr>
        <p:txBody>
          <a:bodyPr wrap="square" lIns="0" tIns="0" rIns="0" bIns="0" rtlCol="0" anchor="ctr"/>
          <a:lstStyle/>
          <a:p>
            <a:pPr indent="0" marL="0">
              <a:buNone/>
            </a:pPr>
            <a:r>
              <a:rPr lang="en-US" sz="1150" dirty="0">
                <a:solidFill>
                  <a:srgbClr val="94A9C9"/>
                </a:solidFill>
                <a:latin typeface="Calibri" pitchFamily="34" charset="0"/>
                <a:ea typeface="Calibri" pitchFamily="34" charset="-122"/>
                <a:cs typeface="Calibri" pitchFamily="34" charset="-120"/>
              </a:rPr>
              <a:t>Reuse whole-day templates; keep alternate versions of a day and switch the live one in a tap.</a:t>
            </a:r>
            <a:endParaRPr lang="en-US" sz="1150" dirty="0"/>
          </a:p>
        </p:txBody>
      </p:sp>
      <p:sp>
        <p:nvSpPr>
          <p:cNvPr id="21" name="Shape 16"/>
          <p:cNvSpPr/>
          <p:nvPr/>
        </p:nvSpPr>
        <p:spPr>
          <a:xfrm>
            <a:off x="6537960" y="4581144"/>
            <a:ext cx="512064" cy="512064"/>
          </a:xfrm>
          <a:prstGeom prst="ellipse">
            <a:avLst/>
          </a:prstGeom>
          <a:solidFill>
            <a:srgbClr val="0E1E36"/>
          </a:solidFill>
          <a:ln w="19050">
            <a:solidFill>
              <a:srgbClr val="F5A623"/>
            </a:solidFill>
            <a:prstDash val="solid"/>
          </a:ln>
        </p:spPr>
      </p:sp>
      <p:pic>
        <p:nvPicPr>
          <p:cNvPr id="22" name="Image 3" descr="preencoded.png">    </p:cNvPr>
          <p:cNvPicPr>
            <a:picLocks noChangeAspect="1"/>
          </p:cNvPicPr>
          <p:nvPr/>
        </p:nvPicPr>
        <p:blipFill>
          <a:blip r:embed="rId4"/>
          <a:stretch>
            <a:fillRect/>
          </a:stretch>
        </p:blipFill>
        <p:spPr>
          <a:xfrm>
            <a:off x="6671097" y="4714281"/>
            <a:ext cx="245791" cy="245791"/>
          </a:xfrm>
          <a:prstGeom prst="rect">
            <a:avLst/>
          </a:prstGeom>
        </p:spPr>
      </p:pic>
      <p:sp>
        <p:nvSpPr>
          <p:cNvPr id="23" name="Text 17"/>
          <p:cNvSpPr/>
          <p:nvPr/>
        </p:nvSpPr>
        <p:spPr>
          <a:xfrm>
            <a:off x="7178040" y="4526280"/>
            <a:ext cx="4297680" cy="310896"/>
          </a:xfrm>
          <a:prstGeom prst="rect">
            <a:avLst/>
          </a:prstGeom>
          <a:noFill/>
          <a:ln/>
        </p:spPr>
        <p:txBody>
          <a:bodyPr wrap="square" lIns="0" tIns="0" rIns="0" bIns="0" rtlCol="0" anchor="ctr"/>
          <a:lstStyle/>
          <a:p>
            <a:pPr indent="0" marL="0">
              <a:buNone/>
            </a:pPr>
            <a:r>
              <a:rPr lang="en-US" sz="1500" b="1" dirty="0">
                <a:solidFill>
                  <a:srgbClr val="F2F6FC"/>
                </a:solidFill>
                <a:latin typeface="Arial" pitchFamily="34" charset="0"/>
                <a:ea typeface="Arial" pitchFamily="34" charset="-122"/>
                <a:cs typeface="Arial" pitchFamily="34" charset="-120"/>
              </a:rPr>
              <a:t>Undo, redo &amp; edit history</a:t>
            </a:r>
            <a:endParaRPr lang="en-US" sz="1500" dirty="0"/>
          </a:p>
        </p:txBody>
      </p:sp>
      <p:sp>
        <p:nvSpPr>
          <p:cNvPr id="24" name="Text 18"/>
          <p:cNvSpPr/>
          <p:nvPr/>
        </p:nvSpPr>
        <p:spPr>
          <a:xfrm>
            <a:off x="7178040" y="4837176"/>
            <a:ext cx="4251960" cy="502920"/>
          </a:xfrm>
          <a:prstGeom prst="rect">
            <a:avLst/>
          </a:prstGeom>
          <a:noFill/>
          <a:ln/>
        </p:spPr>
        <p:txBody>
          <a:bodyPr wrap="square" lIns="0" tIns="0" rIns="0" bIns="0" rtlCol="0" anchor="ctr"/>
          <a:lstStyle/>
          <a:p>
            <a:pPr indent="0" marL="0">
              <a:buNone/>
            </a:pPr>
            <a:r>
              <a:rPr lang="en-US" sz="1150" dirty="0">
                <a:solidFill>
                  <a:srgbClr val="94A9C9"/>
                </a:solidFill>
                <a:latin typeface="Calibri" pitchFamily="34" charset="0"/>
                <a:ea typeface="Calibri" pitchFamily="34" charset="-122"/>
                <a:cs typeface="Calibri" pitchFamily="34" charset="-120"/>
              </a:rPr>
              <a:t>Every change is reversible and logged — who changed what, newest first.</a:t>
            </a:r>
            <a:endParaRPr lang="en-US" sz="1150" dirty="0"/>
          </a:p>
        </p:txBody>
      </p:sp>
      <p:sp>
        <p:nvSpPr>
          <p:cNvPr id="25" name="Shape 19"/>
          <p:cNvSpPr/>
          <p:nvPr/>
        </p:nvSpPr>
        <p:spPr>
          <a:xfrm>
            <a:off x="6537960" y="5513832"/>
            <a:ext cx="512064" cy="512064"/>
          </a:xfrm>
          <a:prstGeom prst="ellipse">
            <a:avLst/>
          </a:prstGeom>
          <a:solidFill>
            <a:srgbClr val="0E1E36"/>
          </a:solidFill>
          <a:ln w="19050">
            <a:solidFill>
              <a:srgbClr val="F5A623"/>
            </a:solidFill>
            <a:prstDash val="solid"/>
          </a:ln>
        </p:spPr>
      </p:sp>
      <p:pic>
        <p:nvPicPr>
          <p:cNvPr id="26" name="Image 4" descr="preencoded.png">    </p:cNvPr>
          <p:cNvPicPr>
            <a:picLocks noChangeAspect="1"/>
          </p:cNvPicPr>
          <p:nvPr/>
        </p:nvPicPr>
        <p:blipFill>
          <a:blip r:embed="rId5"/>
          <a:stretch>
            <a:fillRect/>
          </a:stretch>
        </p:blipFill>
        <p:spPr>
          <a:xfrm>
            <a:off x="6671097" y="5646969"/>
            <a:ext cx="245791" cy="245791"/>
          </a:xfrm>
          <a:prstGeom prst="rect">
            <a:avLst/>
          </a:prstGeom>
        </p:spPr>
      </p:pic>
      <p:sp>
        <p:nvSpPr>
          <p:cNvPr id="27" name="Text 20"/>
          <p:cNvSpPr/>
          <p:nvPr/>
        </p:nvSpPr>
        <p:spPr>
          <a:xfrm>
            <a:off x="7178040" y="5458968"/>
            <a:ext cx="4297680" cy="310896"/>
          </a:xfrm>
          <a:prstGeom prst="rect">
            <a:avLst/>
          </a:prstGeom>
          <a:noFill/>
          <a:ln/>
        </p:spPr>
        <p:txBody>
          <a:bodyPr wrap="square" lIns="0" tIns="0" rIns="0" bIns="0" rtlCol="0" anchor="ctr"/>
          <a:lstStyle/>
          <a:p>
            <a:pPr indent="0" marL="0">
              <a:buNone/>
            </a:pPr>
            <a:r>
              <a:rPr lang="en-US" sz="1500" b="1" dirty="0">
                <a:solidFill>
                  <a:srgbClr val="F2F6FC"/>
                </a:solidFill>
                <a:latin typeface="Arial" pitchFamily="34" charset="0"/>
                <a:ea typeface="Arial" pitchFamily="34" charset="-122"/>
                <a:cs typeface="Arial" pitchFamily="34" charset="-120"/>
              </a:rPr>
              <a:t>Publish &amp; amendments (AL)</a:t>
            </a:r>
            <a:endParaRPr lang="en-US" sz="1500" dirty="0"/>
          </a:p>
        </p:txBody>
      </p:sp>
      <p:sp>
        <p:nvSpPr>
          <p:cNvPr id="28" name="Text 21"/>
          <p:cNvSpPr/>
          <p:nvPr/>
        </p:nvSpPr>
        <p:spPr>
          <a:xfrm>
            <a:off x="7178040" y="5769864"/>
            <a:ext cx="4251960" cy="502920"/>
          </a:xfrm>
          <a:prstGeom prst="rect">
            <a:avLst/>
          </a:prstGeom>
          <a:noFill/>
          <a:ln/>
        </p:spPr>
        <p:txBody>
          <a:bodyPr wrap="square" lIns="0" tIns="0" rIns="0" bIns="0" rtlCol="0" anchor="ctr"/>
          <a:lstStyle/>
          <a:p>
            <a:pPr indent="0" marL="0">
              <a:buNone/>
            </a:pPr>
            <a:r>
              <a:rPr lang="en-US" sz="1150" dirty="0">
                <a:solidFill>
                  <a:srgbClr val="94A9C9"/>
                </a:solidFill>
                <a:latin typeface="Calibri" pitchFamily="34" charset="0"/>
                <a:ea typeface="Calibri" pitchFamily="34" charset="-122"/>
                <a:cs typeface="Calibri" pitchFamily="34" charset="-120"/>
              </a:rPr>
              <a:t>Sign a day off, then issue clean, tracked amendments after it is published.</a:t>
            </a:r>
            <a:endParaRPr lang="en-US" sz="1150" dirty="0"/>
          </a:p>
        </p:txBody>
      </p:sp>
      <p:sp>
        <p:nvSpPr>
          <p:cNvPr id="29" name="Shape 22"/>
          <p:cNvSpPr/>
          <p:nvPr/>
        </p:nvSpPr>
        <p:spPr>
          <a:xfrm>
            <a:off x="685800" y="2788920"/>
            <a:ext cx="5577840" cy="3246120"/>
          </a:xfrm>
          <a:prstGeom prst="roundRect">
            <a:avLst>
              <a:gd name="adj" fmla="val 2817"/>
            </a:avLst>
          </a:prstGeom>
          <a:solidFill>
            <a:srgbClr val="13294A"/>
          </a:solidFill>
          <a:ln w="12700">
            <a:solidFill>
              <a:srgbClr val="27446F"/>
            </a:solidFill>
            <a:prstDash val="solid"/>
          </a:ln>
        </p:spPr>
      </p:sp>
      <p:sp>
        <p:nvSpPr>
          <p:cNvPr id="30" name="Text 23"/>
          <p:cNvSpPr/>
          <p:nvPr/>
        </p:nvSpPr>
        <p:spPr>
          <a:xfrm>
            <a:off x="960120" y="3017520"/>
            <a:ext cx="5029200" cy="274320"/>
          </a:xfrm>
          <a:prstGeom prst="rect">
            <a:avLst/>
          </a:prstGeom>
          <a:noFill/>
          <a:ln/>
        </p:spPr>
        <p:txBody>
          <a:bodyPr wrap="square" lIns="0" tIns="0" rIns="0" bIns="0" rtlCol="0" anchor="ctr"/>
          <a:lstStyle/>
          <a:p>
            <a:pPr indent="0" marL="0">
              <a:buNone/>
            </a:pPr>
            <a:r>
              <a:rPr lang="en-US" sz="1150" b="1" spc="200" kern="0" dirty="0">
                <a:solidFill>
                  <a:srgbClr val="F5A623"/>
                </a:solidFill>
                <a:latin typeface="Arial" pitchFamily="34" charset="0"/>
                <a:ea typeface="Arial" pitchFamily="34" charset="-122"/>
                <a:cs typeface="Arial" pitchFamily="34" charset="-120"/>
              </a:rPr>
              <a:t>BUILT TO REPLACE THE SPREADSHEET</a:t>
            </a:r>
            <a:endParaRPr lang="en-US" sz="1150" dirty="0"/>
          </a:p>
        </p:txBody>
      </p:sp>
      <p:sp>
        <p:nvSpPr>
          <p:cNvPr id="31" name="Text 24"/>
          <p:cNvSpPr/>
          <p:nvPr/>
        </p:nvSpPr>
        <p:spPr>
          <a:xfrm>
            <a:off x="960120" y="3429000"/>
            <a:ext cx="1828800" cy="457200"/>
          </a:xfrm>
          <a:prstGeom prst="rect">
            <a:avLst/>
          </a:prstGeom>
          <a:noFill/>
          <a:ln/>
        </p:spPr>
        <p:txBody>
          <a:bodyPr wrap="square" lIns="0" tIns="0" rIns="0" bIns="0" rtlCol="0" anchor="ctr"/>
          <a:lstStyle/>
          <a:p>
            <a:pPr indent="0" marL="0">
              <a:buNone/>
            </a:pPr>
            <a:r>
              <a:rPr lang="en-US" sz="2000" b="1" dirty="0">
                <a:solidFill>
                  <a:srgbClr val="F2F6FC"/>
                </a:solidFill>
                <a:latin typeface="Arial" pitchFamily="34" charset="0"/>
                <a:ea typeface="Arial" pitchFamily="34" charset="-122"/>
                <a:cs typeface="Arial" pitchFamily="34" charset="-120"/>
              </a:rPr>
              <a:t>One week</a:t>
            </a:r>
            <a:endParaRPr lang="en-US" sz="2000" dirty="0"/>
          </a:p>
        </p:txBody>
      </p:sp>
      <p:sp>
        <p:nvSpPr>
          <p:cNvPr id="32" name="Text 25"/>
          <p:cNvSpPr/>
          <p:nvPr/>
        </p:nvSpPr>
        <p:spPr>
          <a:xfrm>
            <a:off x="2788920" y="3429000"/>
            <a:ext cx="3383280" cy="457200"/>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flying · duties · sims · ground · inputs</a:t>
            </a:r>
            <a:endParaRPr lang="en-US" sz="1250" dirty="0"/>
          </a:p>
        </p:txBody>
      </p:sp>
      <p:sp>
        <p:nvSpPr>
          <p:cNvPr id="33" name="Shape 26"/>
          <p:cNvSpPr/>
          <p:nvPr/>
        </p:nvSpPr>
        <p:spPr>
          <a:xfrm>
            <a:off x="960120" y="3995928"/>
            <a:ext cx="5074920" cy="0"/>
          </a:xfrm>
          <a:prstGeom prst="line">
            <a:avLst/>
          </a:prstGeom>
          <a:noFill/>
          <a:ln w="9525">
            <a:solidFill>
              <a:srgbClr val="27446F"/>
            </a:solidFill>
            <a:prstDash val="solid"/>
          </a:ln>
        </p:spPr>
      </p:sp>
      <p:sp>
        <p:nvSpPr>
          <p:cNvPr id="34" name="Text 27"/>
          <p:cNvSpPr/>
          <p:nvPr/>
        </p:nvSpPr>
        <p:spPr>
          <a:xfrm>
            <a:off x="960120" y="4087368"/>
            <a:ext cx="1828800" cy="457200"/>
          </a:xfrm>
          <a:prstGeom prst="rect">
            <a:avLst/>
          </a:prstGeom>
          <a:noFill/>
          <a:ln/>
        </p:spPr>
        <p:txBody>
          <a:bodyPr wrap="square" lIns="0" tIns="0" rIns="0" bIns="0" rtlCol="0" anchor="ctr"/>
          <a:lstStyle/>
          <a:p>
            <a:pPr indent="0" marL="0">
              <a:buNone/>
            </a:pPr>
            <a:r>
              <a:rPr lang="en-US" sz="2000" b="1" dirty="0">
                <a:solidFill>
                  <a:srgbClr val="F2F6FC"/>
                </a:solidFill>
                <a:latin typeface="Arial" pitchFamily="34" charset="0"/>
                <a:ea typeface="Arial" pitchFamily="34" charset="-122"/>
                <a:cs typeface="Arial" pitchFamily="34" charset="-120"/>
              </a:rPr>
              <a:t>Two roles</a:t>
            </a:r>
            <a:endParaRPr lang="en-US" sz="2000" dirty="0"/>
          </a:p>
        </p:txBody>
      </p:sp>
      <p:sp>
        <p:nvSpPr>
          <p:cNvPr id="35" name="Text 28"/>
          <p:cNvSpPr/>
          <p:nvPr/>
        </p:nvSpPr>
        <p:spPr>
          <a:xfrm>
            <a:off x="2788920" y="4087368"/>
            <a:ext cx="3383280" cy="457200"/>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admin builds it, members add their own inputs</a:t>
            </a:r>
            <a:endParaRPr lang="en-US" sz="1250" dirty="0"/>
          </a:p>
        </p:txBody>
      </p:sp>
      <p:sp>
        <p:nvSpPr>
          <p:cNvPr id="36" name="Shape 29"/>
          <p:cNvSpPr/>
          <p:nvPr/>
        </p:nvSpPr>
        <p:spPr>
          <a:xfrm>
            <a:off x="960120" y="4654296"/>
            <a:ext cx="5074920" cy="0"/>
          </a:xfrm>
          <a:prstGeom prst="line">
            <a:avLst/>
          </a:prstGeom>
          <a:noFill/>
          <a:ln w="9525">
            <a:solidFill>
              <a:srgbClr val="27446F"/>
            </a:solidFill>
            <a:prstDash val="solid"/>
          </a:ln>
        </p:spPr>
      </p:sp>
      <p:sp>
        <p:nvSpPr>
          <p:cNvPr id="37" name="Text 30"/>
          <p:cNvSpPr/>
          <p:nvPr/>
        </p:nvSpPr>
        <p:spPr>
          <a:xfrm>
            <a:off x="960120" y="4745736"/>
            <a:ext cx="1828800" cy="457200"/>
          </a:xfrm>
          <a:prstGeom prst="rect">
            <a:avLst/>
          </a:prstGeom>
          <a:noFill/>
          <a:ln/>
        </p:spPr>
        <p:txBody>
          <a:bodyPr wrap="square" lIns="0" tIns="0" rIns="0" bIns="0" rtlCol="0" anchor="ctr"/>
          <a:lstStyle/>
          <a:p>
            <a:pPr indent="0" marL="0">
              <a:buNone/>
            </a:pPr>
            <a:r>
              <a:rPr lang="en-US" sz="2000" b="1" dirty="0">
                <a:solidFill>
                  <a:srgbClr val="F2F6FC"/>
                </a:solidFill>
                <a:latin typeface="Arial" pitchFamily="34" charset="0"/>
                <a:ea typeface="Arial" pitchFamily="34" charset="-122"/>
                <a:cs typeface="Arial" pitchFamily="34" charset="-120"/>
              </a:rPr>
              <a:t>Every edit</a:t>
            </a:r>
            <a:endParaRPr lang="en-US" sz="2000" dirty="0"/>
          </a:p>
        </p:txBody>
      </p:sp>
      <p:sp>
        <p:nvSpPr>
          <p:cNvPr id="38" name="Text 31"/>
          <p:cNvSpPr/>
          <p:nvPr/>
        </p:nvSpPr>
        <p:spPr>
          <a:xfrm>
            <a:off x="2788920" y="4745736"/>
            <a:ext cx="3383280" cy="457200"/>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undo-able, logged and reversible</a:t>
            </a:r>
            <a:endParaRPr lang="en-US" sz="1250" dirty="0"/>
          </a:p>
        </p:txBody>
      </p:sp>
      <p:sp>
        <p:nvSpPr>
          <p:cNvPr id="39" name="Shape 32"/>
          <p:cNvSpPr/>
          <p:nvPr/>
        </p:nvSpPr>
        <p:spPr>
          <a:xfrm>
            <a:off x="960120" y="5312664"/>
            <a:ext cx="5074920" cy="0"/>
          </a:xfrm>
          <a:prstGeom prst="line">
            <a:avLst/>
          </a:prstGeom>
          <a:noFill/>
          <a:ln w="9525">
            <a:solidFill>
              <a:srgbClr val="27446F"/>
            </a:solidFill>
            <a:prstDash val="solid"/>
          </a:ln>
        </p:spPr>
      </p:sp>
      <p:sp>
        <p:nvSpPr>
          <p:cNvPr id="40" name="Text 33"/>
          <p:cNvSpPr/>
          <p:nvPr/>
        </p:nvSpPr>
        <p:spPr>
          <a:xfrm>
            <a:off x="960120" y="5404104"/>
            <a:ext cx="1828800" cy="457200"/>
          </a:xfrm>
          <a:prstGeom prst="rect">
            <a:avLst/>
          </a:prstGeom>
          <a:noFill/>
          <a:ln/>
        </p:spPr>
        <p:txBody>
          <a:bodyPr wrap="square" lIns="0" tIns="0" rIns="0" bIns="0" rtlCol="0" anchor="ctr"/>
          <a:lstStyle/>
          <a:p>
            <a:pPr indent="0" marL="0">
              <a:buNone/>
            </a:pPr>
            <a:r>
              <a:rPr lang="en-US" sz="2000" b="1" dirty="0">
                <a:solidFill>
                  <a:srgbClr val="F2F6FC"/>
                </a:solidFill>
                <a:latin typeface="Arial" pitchFamily="34" charset="0"/>
                <a:ea typeface="Arial" pitchFamily="34" charset="-122"/>
                <a:cs typeface="Arial" pitchFamily="34" charset="-120"/>
              </a:rPr>
              <a:t>Every publish</a:t>
            </a:r>
            <a:endParaRPr lang="en-US" sz="2000" dirty="0"/>
          </a:p>
        </p:txBody>
      </p:sp>
      <p:sp>
        <p:nvSpPr>
          <p:cNvPr id="41" name="Text 34"/>
          <p:cNvSpPr/>
          <p:nvPr/>
        </p:nvSpPr>
        <p:spPr>
          <a:xfrm>
            <a:off x="2788920" y="5404104"/>
            <a:ext cx="3383280" cy="457200"/>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signed off, with a tracked amendment trail</a:t>
            </a:r>
            <a:endParaRPr lang="en-US" sz="1250" dirty="0"/>
          </a:p>
        </p:txBody>
      </p:sp>
      <p:sp>
        <p:nvSpPr>
          <p:cNvPr id="42" name="Shape 35"/>
          <p:cNvSpPr/>
          <p:nvPr/>
        </p:nvSpPr>
        <p:spPr>
          <a:xfrm>
            <a:off x="960120" y="5971032"/>
            <a:ext cx="5074920" cy="0"/>
          </a:xfrm>
          <a:prstGeom prst="line">
            <a:avLst/>
          </a:prstGeom>
          <a:noFill/>
          <a:ln w="9525">
            <a:solidFill>
              <a:srgbClr val="27446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E36"/>
        </a:solidFill>
      </p:bgPr>
    </p:bg>
    <p:spTree>
      <p:nvGrpSpPr>
        <p:cNvPr id="1" name=""/>
        <p:cNvGrpSpPr/>
        <p:nvPr/>
      </p:nvGrpSpPr>
      <p:grpSpPr>
        <a:xfrm>
          <a:off x="0" y="0"/>
          <a:ext cx="0" cy="0"/>
          <a:chOff x="0" y="0"/>
          <a:chExt cx="0" cy="0"/>
        </a:xfrm>
      </p:grpSpPr>
      <p:sp>
        <p:nvSpPr>
          <p:cNvPr id="2" name="Text 0"/>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05</a:t>
            </a:r>
            <a:endParaRPr lang="en-US" sz="1000" dirty="0"/>
          </a:p>
        </p:txBody>
      </p:sp>
      <p:sp>
        <p:nvSpPr>
          <p:cNvPr id="3" name="Text 1"/>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4" name="Text 2"/>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CAPABILITY 02 — THE DIFFERENTIATOR</a:t>
            </a:r>
            <a:endParaRPr lang="en-US" sz="1250" dirty="0"/>
          </a:p>
        </p:txBody>
      </p:sp>
      <p:sp>
        <p:nvSpPr>
          <p:cNvPr id="5" name="Text 3"/>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The rules flagging engine</a:t>
            </a:r>
            <a:endParaRPr lang="en-US" sz="3400" dirty="0"/>
          </a:p>
        </p:txBody>
      </p:sp>
      <p:sp>
        <p:nvSpPr>
          <p:cNvPr id="6" name="Text 4"/>
          <p:cNvSpPr/>
          <p:nvPr/>
        </p:nvSpPr>
        <p:spPr>
          <a:xfrm>
            <a:off x="685800" y="1645920"/>
            <a:ext cx="10789920" cy="457200"/>
          </a:xfrm>
          <a:prstGeom prst="rect">
            <a:avLst/>
          </a:prstGeom>
          <a:noFill/>
          <a:ln/>
        </p:spPr>
        <p:txBody>
          <a:bodyPr wrap="square" lIns="0" tIns="0" rIns="0" bIns="0" rtlCol="0" anchor="ctr"/>
          <a:lstStyle/>
          <a:p>
            <a:pPr indent="0" marL="0">
              <a:buNone/>
            </a:pPr>
            <a:r>
              <a:rPr lang="en-US" sz="1500" dirty="0">
                <a:solidFill>
                  <a:srgbClr val="6FA8DC"/>
                </a:solidFill>
                <a:latin typeface="Calibri" pitchFamily="34" charset="0"/>
                <a:ea typeface="Calibri" pitchFamily="34" charset="-122"/>
                <a:cs typeface="Calibri" pitchFamily="34" charset="-120"/>
              </a:rPr>
              <a:t>Every line is checked the instant it changes. RAPTOR flags what breaks the rules — it does not quietly let it through.</a:t>
            </a:r>
            <a:endParaRPr lang="en-US" sz="1500" dirty="0"/>
          </a:p>
        </p:txBody>
      </p:sp>
      <p:sp>
        <p:nvSpPr>
          <p:cNvPr id="7" name="Shape 5"/>
          <p:cNvSpPr/>
          <p:nvPr/>
        </p:nvSpPr>
        <p:spPr>
          <a:xfrm>
            <a:off x="685800" y="2423160"/>
            <a:ext cx="6720840" cy="868680"/>
          </a:xfrm>
          <a:prstGeom prst="roundRect">
            <a:avLst>
              <a:gd name="adj" fmla="val 8421"/>
            </a:avLst>
          </a:prstGeom>
          <a:solidFill>
            <a:srgbClr val="13294A"/>
          </a:solidFill>
          <a:ln w="12700">
            <a:solidFill>
              <a:srgbClr val="27446F"/>
            </a:solidFill>
            <a:prstDash val="solid"/>
          </a:ln>
        </p:spPr>
      </p:sp>
      <p:sp>
        <p:nvSpPr>
          <p:cNvPr id="8" name="Shape 6"/>
          <p:cNvSpPr/>
          <p:nvPr/>
        </p:nvSpPr>
        <p:spPr>
          <a:xfrm>
            <a:off x="914400" y="2606040"/>
            <a:ext cx="502920" cy="502920"/>
          </a:xfrm>
          <a:prstGeom prst="ellipse">
            <a:avLst/>
          </a:prstGeom>
          <a:solidFill>
            <a:srgbClr val="0E1E36"/>
          </a:solidFill>
          <a:ln w="19050">
            <a:solidFill>
              <a:srgbClr val="F5A623"/>
            </a:solidFill>
            <a:prstDash val="solid"/>
          </a:ln>
        </p:spPr>
      </p:sp>
      <p:pic>
        <p:nvPicPr>
          <p:cNvPr id="9" name="Image 0" descr="preencoded.png">    </p:cNvPr>
          <p:cNvPicPr>
            <a:picLocks noChangeAspect="1"/>
          </p:cNvPicPr>
          <p:nvPr/>
        </p:nvPicPr>
        <p:blipFill>
          <a:blip r:embed="rId1"/>
          <a:stretch>
            <a:fillRect/>
          </a:stretch>
        </p:blipFill>
        <p:spPr>
          <a:xfrm>
            <a:off x="1045159" y="2736799"/>
            <a:ext cx="241402" cy="241402"/>
          </a:xfrm>
          <a:prstGeom prst="rect">
            <a:avLst/>
          </a:prstGeom>
        </p:spPr>
      </p:pic>
      <p:sp>
        <p:nvSpPr>
          <p:cNvPr id="10" name="Text 7"/>
          <p:cNvSpPr/>
          <p:nvPr/>
        </p:nvSpPr>
        <p:spPr>
          <a:xfrm>
            <a:off x="1572768" y="2523744"/>
            <a:ext cx="5669280" cy="310896"/>
          </a:xfrm>
          <a:prstGeom prst="rect">
            <a:avLst/>
          </a:prstGeom>
          <a:noFill/>
          <a:ln/>
        </p:spPr>
        <p:txBody>
          <a:bodyPr wrap="square" lIns="0" tIns="0" rIns="0" bIns="0" rtlCol="0" anchor="ctr"/>
          <a:lstStyle/>
          <a:p>
            <a:pPr indent="0" marL="0">
              <a:buNone/>
            </a:pPr>
            <a:r>
              <a:rPr lang="en-US" sz="1450" b="1" dirty="0">
                <a:solidFill>
                  <a:srgbClr val="F2F6FC"/>
                </a:solidFill>
                <a:latin typeface="Arial" pitchFamily="34" charset="0"/>
                <a:ea typeface="Arial" pitchFamily="34" charset="-122"/>
                <a:cs typeface="Arial" pitchFamily="34" charset="-120"/>
              </a:rPr>
              <a:t>Crew rest breaches</a:t>
            </a:r>
            <a:endParaRPr lang="en-US" sz="1450" dirty="0"/>
          </a:p>
        </p:txBody>
      </p:sp>
      <p:sp>
        <p:nvSpPr>
          <p:cNvPr id="11" name="Text 8"/>
          <p:cNvSpPr/>
          <p:nvPr/>
        </p:nvSpPr>
        <p:spPr>
          <a:xfrm>
            <a:off x="1572768" y="2825496"/>
            <a:ext cx="5715000" cy="41148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12-hour rest measured from the last commitment of any kind the day before — flying, sim, duty or meeting.</a:t>
            </a:r>
            <a:endParaRPr lang="en-US" sz="1100" dirty="0"/>
          </a:p>
        </p:txBody>
      </p:sp>
      <p:sp>
        <p:nvSpPr>
          <p:cNvPr id="12" name="Shape 9"/>
          <p:cNvSpPr/>
          <p:nvPr/>
        </p:nvSpPr>
        <p:spPr>
          <a:xfrm>
            <a:off x="685800" y="3364992"/>
            <a:ext cx="6720840" cy="868680"/>
          </a:xfrm>
          <a:prstGeom prst="roundRect">
            <a:avLst>
              <a:gd name="adj" fmla="val 8421"/>
            </a:avLst>
          </a:prstGeom>
          <a:solidFill>
            <a:srgbClr val="13294A"/>
          </a:solidFill>
          <a:ln w="12700">
            <a:solidFill>
              <a:srgbClr val="27446F"/>
            </a:solidFill>
            <a:prstDash val="solid"/>
          </a:ln>
        </p:spPr>
      </p:sp>
      <p:sp>
        <p:nvSpPr>
          <p:cNvPr id="13" name="Shape 10"/>
          <p:cNvSpPr/>
          <p:nvPr/>
        </p:nvSpPr>
        <p:spPr>
          <a:xfrm>
            <a:off x="914400" y="3547872"/>
            <a:ext cx="502920" cy="502920"/>
          </a:xfrm>
          <a:prstGeom prst="ellipse">
            <a:avLst/>
          </a:prstGeom>
          <a:solidFill>
            <a:srgbClr val="0E1E36"/>
          </a:solidFill>
          <a:ln w="19050">
            <a:solidFill>
              <a:srgbClr val="F5A623"/>
            </a:solidFill>
            <a:prstDash val="solid"/>
          </a:ln>
        </p:spPr>
      </p:sp>
      <p:pic>
        <p:nvPicPr>
          <p:cNvPr id="14" name="Image 1" descr="preencoded.png">    </p:cNvPr>
          <p:cNvPicPr>
            <a:picLocks noChangeAspect="1"/>
          </p:cNvPicPr>
          <p:nvPr/>
        </p:nvPicPr>
        <p:blipFill>
          <a:blip r:embed="rId2"/>
          <a:stretch>
            <a:fillRect/>
          </a:stretch>
        </p:blipFill>
        <p:spPr>
          <a:xfrm>
            <a:off x="1045159" y="3678631"/>
            <a:ext cx="241402" cy="241402"/>
          </a:xfrm>
          <a:prstGeom prst="rect">
            <a:avLst/>
          </a:prstGeom>
        </p:spPr>
      </p:pic>
      <p:sp>
        <p:nvSpPr>
          <p:cNvPr id="15" name="Text 11"/>
          <p:cNvSpPr/>
          <p:nvPr/>
        </p:nvSpPr>
        <p:spPr>
          <a:xfrm>
            <a:off x="1572768" y="3465576"/>
            <a:ext cx="5669280" cy="310896"/>
          </a:xfrm>
          <a:prstGeom prst="rect">
            <a:avLst/>
          </a:prstGeom>
          <a:noFill/>
          <a:ln/>
        </p:spPr>
        <p:txBody>
          <a:bodyPr wrap="square" lIns="0" tIns="0" rIns="0" bIns="0" rtlCol="0" anchor="ctr"/>
          <a:lstStyle/>
          <a:p>
            <a:pPr indent="0" marL="0">
              <a:buNone/>
            </a:pPr>
            <a:r>
              <a:rPr lang="en-US" sz="1450" b="1" dirty="0">
                <a:solidFill>
                  <a:srgbClr val="F2F6FC"/>
                </a:solidFill>
                <a:latin typeface="Arial" pitchFamily="34" charset="0"/>
                <a:ea typeface="Arial" pitchFamily="34" charset="-122"/>
                <a:cs typeface="Arial" pitchFamily="34" charset="-120"/>
              </a:rPr>
              <a:t>Double-bookings &amp; clashes</a:t>
            </a:r>
            <a:endParaRPr lang="en-US" sz="1450" dirty="0"/>
          </a:p>
        </p:txBody>
      </p:sp>
      <p:sp>
        <p:nvSpPr>
          <p:cNvPr id="16" name="Text 12"/>
          <p:cNvSpPr/>
          <p:nvPr/>
        </p:nvSpPr>
        <p:spPr>
          <a:xfrm>
            <a:off x="1572768" y="3767328"/>
            <a:ext cx="5715000" cy="41148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One person, two places — caught across sorties, sims, duties and ground events.</a:t>
            </a:r>
            <a:endParaRPr lang="en-US" sz="1100" dirty="0"/>
          </a:p>
        </p:txBody>
      </p:sp>
      <p:sp>
        <p:nvSpPr>
          <p:cNvPr id="17" name="Shape 13"/>
          <p:cNvSpPr/>
          <p:nvPr/>
        </p:nvSpPr>
        <p:spPr>
          <a:xfrm>
            <a:off x="685800" y="4306824"/>
            <a:ext cx="6720840" cy="868680"/>
          </a:xfrm>
          <a:prstGeom prst="roundRect">
            <a:avLst>
              <a:gd name="adj" fmla="val 8421"/>
            </a:avLst>
          </a:prstGeom>
          <a:solidFill>
            <a:srgbClr val="13294A"/>
          </a:solidFill>
          <a:ln w="12700">
            <a:solidFill>
              <a:srgbClr val="27446F"/>
            </a:solidFill>
            <a:prstDash val="solid"/>
          </a:ln>
        </p:spPr>
      </p:sp>
      <p:sp>
        <p:nvSpPr>
          <p:cNvPr id="18" name="Shape 14"/>
          <p:cNvSpPr/>
          <p:nvPr/>
        </p:nvSpPr>
        <p:spPr>
          <a:xfrm>
            <a:off x="914400" y="4489704"/>
            <a:ext cx="502920" cy="502920"/>
          </a:xfrm>
          <a:prstGeom prst="ellipse">
            <a:avLst/>
          </a:prstGeom>
          <a:solidFill>
            <a:srgbClr val="0E1E36"/>
          </a:solidFill>
          <a:ln w="19050">
            <a:solidFill>
              <a:srgbClr val="F5A623"/>
            </a:solidFill>
            <a:prstDash val="solid"/>
          </a:ln>
        </p:spPr>
      </p:sp>
      <p:pic>
        <p:nvPicPr>
          <p:cNvPr id="19" name="Image 2" descr="preencoded.png">    </p:cNvPr>
          <p:cNvPicPr>
            <a:picLocks noChangeAspect="1"/>
          </p:cNvPicPr>
          <p:nvPr/>
        </p:nvPicPr>
        <p:blipFill>
          <a:blip r:embed="rId3"/>
          <a:stretch>
            <a:fillRect/>
          </a:stretch>
        </p:blipFill>
        <p:spPr>
          <a:xfrm>
            <a:off x="1045159" y="4620463"/>
            <a:ext cx="241402" cy="241402"/>
          </a:xfrm>
          <a:prstGeom prst="rect">
            <a:avLst/>
          </a:prstGeom>
        </p:spPr>
      </p:pic>
      <p:sp>
        <p:nvSpPr>
          <p:cNvPr id="20" name="Text 15"/>
          <p:cNvSpPr/>
          <p:nvPr/>
        </p:nvSpPr>
        <p:spPr>
          <a:xfrm>
            <a:off x="1572768" y="4407408"/>
            <a:ext cx="5669280" cy="310896"/>
          </a:xfrm>
          <a:prstGeom prst="rect">
            <a:avLst/>
          </a:prstGeom>
          <a:noFill/>
          <a:ln/>
        </p:spPr>
        <p:txBody>
          <a:bodyPr wrap="square" lIns="0" tIns="0" rIns="0" bIns="0" rtlCol="0" anchor="ctr"/>
          <a:lstStyle/>
          <a:p>
            <a:pPr indent="0" marL="0">
              <a:buNone/>
            </a:pPr>
            <a:r>
              <a:rPr lang="en-US" sz="1450" b="1" dirty="0">
                <a:solidFill>
                  <a:srgbClr val="F2F6FC"/>
                </a:solidFill>
                <a:latin typeface="Arial" pitchFamily="34" charset="0"/>
                <a:ea typeface="Arial" pitchFamily="34" charset="-122"/>
                <a:cs typeface="Arial" pitchFamily="34" charset="-120"/>
              </a:rPr>
              <a:t>Missing or invalid briefs</a:t>
            </a:r>
            <a:endParaRPr lang="en-US" sz="1450" dirty="0"/>
          </a:p>
        </p:txBody>
      </p:sp>
      <p:sp>
        <p:nvSpPr>
          <p:cNvPr id="21" name="Text 16"/>
          <p:cNvSpPr/>
          <p:nvPr/>
        </p:nvSpPr>
        <p:spPr>
          <a:xfrm>
            <a:off x="1572768" y="4709160"/>
            <a:ext cx="5715000" cy="41148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A brief that never happens, or is typed after its own take-off, is refused or flagged.</a:t>
            </a:r>
            <a:endParaRPr lang="en-US" sz="1100" dirty="0"/>
          </a:p>
        </p:txBody>
      </p:sp>
      <p:sp>
        <p:nvSpPr>
          <p:cNvPr id="22" name="Shape 17"/>
          <p:cNvSpPr/>
          <p:nvPr/>
        </p:nvSpPr>
        <p:spPr>
          <a:xfrm>
            <a:off x="685800" y="5248656"/>
            <a:ext cx="6720840" cy="868680"/>
          </a:xfrm>
          <a:prstGeom prst="roundRect">
            <a:avLst>
              <a:gd name="adj" fmla="val 8421"/>
            </a:avLst>
          </a:prstGeom>
          <a:solidFill>
            <a:srgbClr val="13294A"/>
          </a:solidFill>
          <a:ln w="12700">
            <a:solidFill>
              <a:srgbClr val="27446F"/>
            </a:solidFill>
            <a:prstDash val="solid"/>
          </a:ln>
        </p:spPr>
      </p:sp>
      <p:sp>
        <p:nvSpPr>
          <p:cNvPr id="23" name="Shape 18"/>
          <p:cNvSpPr/>
          <p:nvPr/>
        </p:nvSpPr>
        <p:spPr>
          <a:xfrm>
            <a:off x="914400" y="5431536"/>
            <a:ext cx="502920" cy="502920"/>
          </a:xfrm>
          <a:prstGeom prst="ellipse">
            <a:avLst/>
          </a:prstGeom>
          <a:solidFill>
            <a:srgbClr val="0E1E36"/>
          </a:solidFill>
          <a:ln w="19050">
            <a:solidFill>
              <a:srgbClr val="F5A623"/>
            </a:solidFill>
            <a:prstDash val="solid"/>
          </a:ln>
        </p:spPr>
      </p:sp>
      <p:pic>
        <p:nvPicPr>
          <p:cNvPr id="24" name="Image 3" descr="preencoded.png">    </p:cNvPr>
          <p:cNvPicPr>
            <a:picLocks noChangeAspect="1"/>
          </p:cNvPicPr>
          <p:nvPr/>
        </p:nvPicPr>
        <p:blipFill>
          <a:blip r:embed="rId4"/>
          <a:stretch>
            <a:fillRect/>
          </a:stretch>
        </p:blipFill>
        <p:spPr>
          <a:xfrm>
            <a:off x="1045159" y="5562295"/>
            <a:ext cx="241402" cy="241402"/>
          </a:xfrm>
          <a:prstGeom prst="rect">
            <a:avLst/>
          </a:prstGeom>
        </p:spPr>
      </p:pic>
      <p:sp>
        <p:nvSpPr>
          <p:cNvPr id="25" name="Text 19"/>
          <p:cNvSpPr/>
          <p:nvPr/>
        </p:nvSpPr>
        <p:spPr>
          <a:xfrm>
            <a:off x="1572768" y="5349240"/>
            <a:ext cx="5669280" cy="310896"/>
          </a:xfrm>
          <a:prstGeom prst="rect">
            <a:avLst/>
          </a:prstGeom>
          <a:noFill/>
          <a:ln/>
        </p:spPr>
        <p:txBody>
          <a:bodyPr wrap="square" lIns="0" tIns="0" rIns="0" bIns="0" rtlCol="0" anchor="ctr"/>
          <a:lstStyle/>
          <a:p>
            <a:pPr indent="0" marL="0">
              <a:buNone/>
            </a:pPr>
            <a:r>
              <a:rPr lang="en-US" sz="1450" b="1" dirty="0">
                <a:solidFill>
                  <a:srgbClr val="F2F6FC"/>
                </a:solidFill>
                <a:latin typeface="Arial" pitchFamily="34" charset="0"/>
                <a:ea typeface="Arial" pitchFamily="34" charset="-122"/>
                <a:cs typeface="Arial" pitchFamily="34" charset="-120"/>
              </a:rPr>
              <a:t>Qualification problems</a:t>
            </a:r>
            <a:endParaRPr lang="en-US" sz="1450" dirty="0"/>
          </a:p>
        </p:txBody>
      </p:sp>
      <p:sp>
        <p:nvSpPr>
          <p:cNvPr id="26" name="Text 20"/>
          <p:cNvSpPr/>
          <p:nvPr/>
        </p:nvSpPr>
        <p:spPr>
          <a:xfrm>
            <a:off x="1572768" y="5650992"/>
            <a:ext cx="5715000" cy="41148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Currency and category checked against the qual ladder every crew line reads.</a:t>
            </a:r>
            <a:endParaRPr lang="en-US" sz="1100" dirty="0"/>
          </a:p>
        </p:txBody>
      </p:sp>
      <p:sp>
        <p:nvSpPr>
          <p:cNvPr id="27" name="Shape 21"/>
          <p:cNvSpPr/>
          <p:nvPr/>
        </p:nvSpPr>
        <p:spPr>
          <a:xfrm>
            <a:off x="7680960" y="2423160"/>
            <a:ext cx="3794760" cy="3794760"/>
          </a:xfrm>
          <a:prstGeom prst="roundRect">
            <a:avLst>
              <a:gd name="adj" fmla="val 2410"/>
            </a:avLst>
          </a:prstGeom>
          <a:solidFill>
            <a:srgbClr val="13294A"/>
          </a:solidFill>
          <a:ln w="12700">
            <a:solidFill>
              <a:srgbClr val="27446F"/>
            </a:solidFill>
            <a:prstDash val="solid"/>
          </a:ln>
        </p:spPr>
      </p:sp>
      <p:sp>
        <p:nvSpPr>
          <p:cNvPr id="28" name="Text 22"/>
          <p:cNvSpPr/>
          <p:nvPr/>
        </p:nvSpPr>
        <p:spPr>
          <a:xfrm>
            <a:off x="7955280" y="2651760"/>
            <a:ext cx="3291840" cy="274320"/>
          </a:xfrm>
          <a:prstGeom prst="rect">
            <a:avLst/>
          </a:prstGeom>
          <a:noFill/>
          <a:ln/>
        </p:spPr>
        <p:txBody>
          <a:bodyPr wrap="square" lIns="0" tIns="0" rIns="0" bIns="0" rtlCol="0" anchor="ctr"/>
          <a:lstStyle/>
          <a:p>
            <a:pPr indent="0" marL="0">
              <a:buNone/>
            </a:pPr>
            <a:r>
              <a:rPr lang="en-US" sz="1200" b="1" spc="200" kern="0" dirty="0">
                <a:solidFill>
                  <a:srgbClr val="6FA8DC"/>
                </a:solidFill>
                <a:latin typeface="Arial" pitchFamily="34" charset="0"/>
                <a:ea typeface="Arial" pitchFamily="34" charset="-122"/>
                <a:cs typeface="Arial" pitchFamily="34" charset="-120"/>
              </a:rPr>
              <a:t>HOW IT FLAGS</a:t>
            </a:r>
            <a:endParaRPr lang="en-US" sz="1200" dirty="0"/>
          </a:p>
        </p:txBody>
      </p:sp>
      <p:sp>
        <p:nvSpPr>
          <p:cNvPr id="29" name="Shape 23"/>
          <p:cNvSpPr/>
          <p:nvPr/>
        </p:nvSpPr>
        <p:spPr>
          <a:xfrm>
            <a:off x="7955280" y="3063240"/>
            <a:ext cx="3246120" cy="786384"/>
          </a:xfrm>
          <a:prstGeom prst="roundRect">
            <a:avLst>
              <a:gd name="adj" fmla="val 6977"/>
            </a:avLst>
          </a:prstGeom>
          <a:solidFill>
            <a:srgbClr val="0E1E36"/>
          </a:solidFill>
          <a:ln w="15875">
            <a:solidFill>
              <a:srgbClr val="E8563F"/>
            </a:solidFill>
            <a:prstDash val="solid"/>
          </a:ln>
        </p:spPr>
      </p:sp>
      <p:sp>
        <p:nvSpPr>
          <p:cNvPr id="30" name="Shape 24"/>
          <p:cNvSpPr/>
          <p:nvPr/>
        </p:nvSpPr>
        <p:spPr>
          <a:xfrm>
            <a:off x="8138160" y="3218688"/>
            <a:ext cx="182880" cy="182880"/>
          </a:xfrm>
          <a:prstGeom prst="ellipse">
            <a:avLst/>
          </a:prstGeom>
          <a:solidFill>
            <a:srgbClr val="E8563F"/>
          </a:solidFill>
          <a:ln/>
        </p:spPr>
      </p:sp>
      <p:sp>
        <p:nvSpPr>
          <p:cNvPr id="31" name="Text 25"/>
          <p:cNvSpPr/>
          <p:nvPr/>
        </p:nvSpPr>
        <p:spPr>
          <a:xfrm>
            <a:off x="8430768" y="3154680"/>
            <a:ext cx="2743200" cy="292608"/>
          </a:xfrm>
          <a:prstGeom prst="rect">
            <a:avLst/>
          </a:prstGeom>
          <a:noFill/>
          <a:ln/>
        </p:spPr>
        <p:txBody>
          <a:bodyPr wrap="square" lIns="0" tIns="0" rIns="0" bIns="0" rtlCol="0" anchor="ctr"/>
          <a:lstStyle/>
          <a:p>
            <a:pPr indent="0" marL="0">
              <a:buNone/>
            </a:pPr>
            <a:r>
              <a:rPr lang="en-US" sz="1400" b="1" dirty="0">
                <a:solidFill>
                  <a:srgbClr val="E8563F"/>
                </a:solidFill>
                <a:latin typeface="Arial" pitchFamily="34" charset="0"/>
                <a:ea typeface="Arial" pitchFamily="34" charset="-122"/>
                <a:cs typeface="Arial" pitchFamily="34" charset="-120"/>
              </a:rPr>
              <a:t>HARD</a:t>
            </a:r>
            <a:endParaRPr lang="en-US" sz="1400" dirty="0"/>
          </a:p>
        </p:txBody>
      </p:sp>
      <p:sp>
        <p:nvSpPr>
          <p:cNvPr id="32" name="Text 26"/>
          <p:cNvSpPr/>
          <p:nvPr/>
        </p:nvSpPr>
        <p:spPr>
          <a:xfrm>
            <a:off x="8138160" y="3447288"/>
            <a:ext cx="2926080" cy="365760"/>
          </a:xfrm>
          <a:prstGeom prst="rect">
            <a:avLst/>
          </a:prstGeom>
          <a:noFill/>
          <a:ln/>
        </p:spPr>
        <p:txBody>
          <a:bodyPr wrap="square" lIns="0" tIns="0" rIns="0" bIns="0" rtlCol="0" anchor="ctr"/>
          <a:lstStyle/>
          <a:p>
            <a:pPr indent="0" marL="0">
              <a:buNone/>
            </a:pPr>
            <a:r>
              <a:rPr lang="en-US" sz="1050" dirty="0">
                <a:solidFill>
                  <a:srgbClr val="94A9C9"/>
                </a:solidFill>
                <a:latin typeface="Calibri" pitchFamily="34" charset="0"/>
                <a:ea typeface="Calibri" pitchFamily="34" charset="-122"/>
                <a:cs typeface="Calibri" pitchFamily="34" charset="-120"/>
              </a:rPr>
              <a:t>A rule is broken — it must be seen and answered.</a:t>
            </a:r>
            <a:endParaRPr lang="en-US" sz="1050" dirty="0"/>
          </a:p>
        </p:txBody>
      </p:sp>
      <p:sp>
        <p:nvSpPr>
          <p:cNvPr id="33" name="Shape 27"/>
          <p:cNvSpPr/>
          <p:nvPr/>
        </p:nvSpPr>
        <p:spPr>
          <a:xfrm>
            <a:off x="7955280" y="3977640"/>
            <a:ext cx="3246120" cy="786384"/>
          </a:xfrm>
          <a:prstGeom prst="roundRect">
            <a:avLst>
              <a:gd name="adj" fmla="val 6977"/>
            </a:avLst>
          </a:prstGeom>
          <a:solidFill>
            <a:srgbClr val="0E1E36"/>
          </a:solidFill>
          <a:ln w="15875">
            <a:solidFill>
              <a:srgbClr val="F5A623"/>
            </a:solidFill>
            <a:prstDash val="solid"/>
          </a:ln>
        </p:spPr>
      </p:sp>
      <p:sp>
        <p:nvSpPr>
          <p:cNvPr id="34" name="Shape 28"/>
          <p:cNvSpPr/>
          <p:nvPr/>
        </p:nvSpPr>
        <p:spPr>
          <a:xfrm>
            <a:off x="8138160" y="4133088"/>
            <a:ext cx="182880" cy="182880"/>
          </a:xfrm>
          <a:prstGeom prst="ellipse">
            <a:avLst/>
          </a:prstGeom>
          <a:solidFill>
            <a:srgbClr val="F5A623"/>
          </a:solidFill>
          <a:ln/>
        </p:spPr>
      </p:sp>
      <p:sp>
        <p:nvSpPr>
          <p:cNvPr id="35" name="Text 29"/>
          <p:cNvSpPr/>
          <p:nvPr/>
        </p:nvSpPr>
        <p:spPr>
          <a:xfrm>
            <a:off x="8430768" y="4069080"/>
            <a:ext cx="2743200" cy="292608"/>
          </a:xfrm>
          <a:prstGeom prst="rect">
            <a:avLst/>
          </a:prstGeom>
          <a:noFill/>
          <a:ln/>
        </p:spPr>
        <p:txBody>
          <a:bodyPr wrap="square" lIns="0" tIns="0" rIns="0" bIns="0" rtlCol="0" anchor="ctr"/>
          <a:lstStyle/>
          <a:p>
            <a:pPr indent="0" marL="0">
              <a:buNone/>
            </a:pPr>
            <a:r>
              <a:rPr lang="en-US" sz="1400" b="1" dirty="0">
                <a:solidFill>
                  <a:srgbClr val="F5A623"/>
                </a:solidFill>
                <a:latin typeface="Arial" pitchFamily="34" charset="0"/>
                <a:ea typeface="Arial" pitchFamily="34" charset="-122"/>
                <a:cs typeface="Arial" pitchFamily="34" charset="-120"/>
              </a:rPr>
              <a:t>ADVISORY</a:t>
            </a:r>
            <a:endParaRPr lang="en-US" sz="1400" dirty="0"/>
          </a:p>
        </p:txBody>
      </p:sp>
      <p:sp>
        <p:nvSpPr>
          <p:cNvPr id="36" name="Text 30"/>
          <p:cNvSpPr/>
          <p:nvPr/>
        </p:nvSpPr>
        <p:spPr>
          <a:xfrm>
            <a:off x="8138160" y="4361688"/>
            <a:ext cx="2926080" cy="365760"/>
          </a:xfrm>
          <a:prstGeom prst="rect">
            <a:avLst/>
          </a:prstGeom>
          <a:noFill/>
          <a:ln/>
        </p:spPr>
        <p:txBody>
          <a:bodyPr wrap="square" lIns="0" tIns="0" rIns="0" bIns="0" rtlCol="0" anchor="ctr"/>
          <a:lstStyle/>
          <a:p>
            <a:pPr indent="0" marL="0">
              <a:buNone/>
            </a:pPr>
            <a:r>
              <a:rPr lang="en-US" sz="1050" dirty="0">
                <a:solidFill>
                  <a:srgbClr val="94A9C9"/>
                </a:solidFill>
                <a:latin typeface="Calibri" pitchFamily="34" charset="0"/>
                <a:ea typeface="Calibri" pitchFamily="34" charset="-122"/>
                <a:cs typeface="Calibri" pitchFamily="34" charset="-120"/>
              </a:rPr>
              <a:t>Tight, but a planner may knowingly accept it.</a:t>
            </a:r>
            <a:endParaRPr lang="en-US" sz="1050" dirty="0"/>
          </a:p>
        </p:txBody>
      </p:sp>
      <p:sp>
        <p:nvSpPr>
          <p:cNvPr id="37" name="Shape 31"/>
          <p:cNvSpPr/>
          <p:nvPr/>
        </p:nvSpPr>
        <p:spPr>
          <a:xfrm>
            <a:off x="7955280" y="4892040"/>
            <a:ext cx="3246120" cy="786384"/>
          </a:xfrm>
          <a:prstGeom prst="roundRect">
            <a:avLst>
              <a:gd name="adj" fmla="val 6977"/>
            </a:avLst>
          </a:prstGeom>
          <a:solidFill>
            <a:srgbClr val="0E1E36"/>
          </a:solidFill>
          <a:ln w="15875">
            <a:solidFill>
              <a:srgbClr val="6FA8DC"/>
            </a:solidFill>
            <a:prstDash val="solid"/>
          </a:ln>
        </p:spPr>
      </p:sp>
      <p:sp>
        <p:nvSpPr>
          <p:cNvPr id="38" name="Shape 32"/>
          <p:cNvSpPr/>
          <p:nvPr/>
        </p:nvSpPr>
        <p:spPr>
          <a:xfrm>
            <a:off x="8138160" y="5047488"/>
            <a:ext cx="182880" cy="182880"/>
          </a:xfrm>
          <a:prstGeom prst="ellipse">
            <a:avLst/>
          </a:prstGeom>
          <a:solidFill>
            <a:srgbClr val="6FA8DC"/>
          </a:solidFill>
          <a:ln/>
        </p:spPr>
      </p:sp>
      <p:sp>
        <p:nvSpPr>
          <p:cNvPr id="39" name="Text 33"/>
          <p:cNvSpPr/>
          <p:nvPr/>
        </p:nvSpPr>
        <p:spPr>
          <a:xfrm>
            <a:off x="8430768" y="4983480"/>
            <a:ext cx="2743200" cy="292608"/>
          </a:xfrm>
          <a:prstGeom prst="rect">
            <a:avLst/>
          </a:prstGeom>
          <a:noFill/>
          <a:ln/>
        </p:spPr>
        <p:txBody>
          <a:bodyPr wrap="square" lIns="0" tIns="0" rIns="0" bIns="0" rtlCol="0" anchor="ctr"/>
          <a:lstStyle/>
          <a:p>
            <a:pPr indent="0" marL="0">
              <a:buNone/>
            </a:pPr>
            <a:r>
              <a:rPr lang="en-US" sz="1400" b="1" dirty="0">
                <a:solidFill>
                  <a:srgbClr val="6FA8DC"/>
                </a:solidFill>
                <a:latin typeface="Arial" pitchFamily="34" charset="0"/>
                <a:ea typeface="Arial" pitchFamily="34" charset="-122"/>
                <a:cs typeface="Arial" pitchFamily="34" charset="-120"/>
              </a:rPr>
              <a:t>NOTE</a:t>
            </a:r>
            <a:endParaRPr lang="en-US" sz="1400" dirty="0"/>
          </a:p>
        </p:txBody>
      </p:sp>
      <p:sp>
        <p:nvSpPr>
          <p:cNvPr id="40" name="Text 34"/>
          <p:cNvSpPr/>
          <p:nvPr/>
        </p:nvSpPr>
        <p:spPr>
          <a:xfrm>
            <a:off x="8138160" y="5276088"/>
            <a:ext cx="2926080" cy="365760"/>
          </a:xfrm>
          <a:prstGeom prst="rect">
            <a:avLst/>
          </a:prstGeom>
          <a:noFill/>
          <a:ln/>
        </p:spPr>
        <p:txBody>
          <a:bodyPr wrap="square" lIns="0" tIns="0" rIns="0" bIns="0" rtlCol="0" anchor="ctr"/>
          <a:lstStyle/>
          <a:p>
            <a:pPr indent="0" marL="0">
              <a:buNone/>
            </a:pPr>
            <a:r>
              <a:rPr lang="en-US" sz="1050" dirty="0">
                <a:solidFill>
                  <a:srgbClr val="94A9C9"/>
                </a:solidFill>
                <a:latin typeface="Calibri" pitchFamily="34" charset="0"/>
                <a:ea typeface="Calibri" pitchFamily="34" charset="-122"/>
                <a:cs typeface="Calibri" pitchFamily="34" charset="-120"/>
              </a:rPr>
              <a:t>Worth knowing — context, not a blocker.</a:t>
            </a:r>
            <a:endParaRPr lang="en-US" sz="1050" dirty="0"/>
          </a:p>
        </p:txBody>
      </p:sp>
      <p:sp>
        <p:nvSpPr>
          <p:cNvPr id="41" name="Text 35"/>
          <p:cNvSpPr/>
          <p:nvPr/>
        </p:nvSpPr>
        <p:spPr>
          <a:xfrm>
            <a:off x="7955280" y="5806440"/>
            <a:ext cx="3291840" cy="365760"/>
          </a:xfrm>
          <a:prstGeom prst="rect">
            <a:avLst/>
          </a:prstGeom>
          <a:noFill/>
          <a:ln/>
        </p:spPr>
        <p:txBody>
          <a:bodyPr wrap="square" lIns="0" tIns="0" rIns="0" bIns="0" rtlCol="0" anchor="ctr"/>
          <a:lstStyle/>
          <a:p>
            <a:pPr indent="0" marL="0">
              <a:buNone/>
            </a:pPr>
            <a:r>
              <a:rPr lang="en-US" sz="1050" i="1" dirty="0">
                <a:solidFill>
                  <a:srgbClr val="6C82A6"/>
                </a:solidFill>
                <a:latin typeface="Calibri" pitchFamily="34" charset="0"/>
                <a:ea typeface="Calibri" pitchFamily="34" charset="-122"/>
                <a:cs typeface="Calibri" pitchFamily="34" charset="-120"/>
              </a:rPr>
              <a:t>A soft-bar system: it warns clearly, but the planner stays in command.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526"/>
        </a:solidFill>
      </p:bgPr>
    </p:bg>
    <p:spTree>
      <p:nvGrpSpPr>
        <p:cNvPr id="1" name=""/>
        <p:cNvGrpSpPr/>
        <p:nvPr/>
      </p:nvGrpSpPr>
      <p:grpSpPr>
        <a:xfrm>
          <a:off x="0" y="0"/>
          <a:ext cx="0" cy="0"/>
          <a:chOff x="0" y="0"/>
          <a:chExt cx="0" cy="0"/>
        </a:xfrm>
      </p:grpSpPr>
      <p:sp>
        <p:nvSpPr>
          <p:cNvPr id="2" name="Shape 0"/>
          <p:cNvSpPr/>
          <p:nvPr/>
        </p:nvSpPr>
        <p:spPr>
          <a:xfrm>
            <a:off x="10634472" y="-914400"/>
            <a:ext cx="2377440" cy="2377440"/>
          </a:xfrm>
          <a:prstGeom prst="ellipse">
            <a:avLst/>
          </a:prstGeom>
          <a:ln w="15875">
            <a:solidFill>
              <a:srgbClr val="27446F"/>
            </a:solidFill>
            <a:prstDash val="solid"/>
          </a:ln>
        </p:spPr>
      </p:sp>
      <p:sp>
        <p:nvSpPr>
          <p:cNvPr id="3" name="Shape 1"/>
          <p:cNvSpPr/>
          <p:nvPr/>
        </p:nvSpPr>
        <p:spPr>
          <a:xfrm>
            <a:off x="11045952" y="-502920"/>
            <a:ext cx="1554480" cy="1554480"/>
          </a:xfrm>
          <a:prstGeom prst="ellipse">
            <a:avLst/>
          </a:prstGeom>
          <a:ln w="12700">
            <a:solidFill>
              <a:srgbClr val="F5A623">
                <a:alpha val="45000"/>
              </a:srgbClr>
            </a:solidFill>
            <a:prstDash val="solid"/>
          </a:ln>
        </p:spPr>
      </p:sp>
      <p:sp>
        <p:nvSpPr>
          <p:cNvPr id="4" name="Text 2"/>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06</a:t>
            </a:r>
            <a:endParaRPr lang="en-US" sz="1000" dirty="0"/>
          </a:p>
        </p:txBody>
      </p:sp>
      <p:sp>
        <p:nvSpPr>
          <p:cNvPr id="5" name="Text 3"/>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6" name="Text 4"/>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CAPABILITY 03 — PLACING THE RIGHT CREW</a:t>
            </a:r>
            <a:endParaRPr lang="en-US" sz="1250" dirty="0"/>
          </a:p>
        </p:txBody>
      </p:sp>
      <p:sp>
        <p:nvSpPr>
          <p:cNvPr id="7" name="Text 5"/>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Puck placement that knows the crew</a:t>
            </a:r>
            <a:endParaRPr lang="en-US" sz="3400" dirty="0"/>
          </a:p>
        </p:txBody>
      </p:sp>
      <p:sp>
        <p:nvSpPr>
          <p:cNvPr id="8" name="Text 6"/>
          <p:cNvSpPr/>
          <p:nvPr/>
        </p:nvSpPr>
        <p:spPr>
          <a:xfrm>
            <a:off x="685800" y="1691640"/>
            <a:ext cx="10789920" cy="640080"/>
          </a:xfrm>
          <a:prstGeom prst="rect">
            <a:avLst/>
          </a:prstGeom>
          <a:noFill/>
          <a:ln/>
        </p:spPr>
        <p:txBody>
          <a:bodyPr wrap="square" lIns="0" tIns="0" rIns="0" bIns="0" rtlCol="0" anchor="ctr"/>
          <a:lstStyle/>
          <a:p>
            <a:pPr indent="0" marL="0">
              <a:buNone/>
            </a:pPr>
            <a:r>
              <a:rPr lang="en-US" sz="1450" dirty="0">
                <a:solidFill>
                  <a:srgbClr val="94A9C9"/>
                </a:solidFill>
                <a:latin typeface="Calibri" pitchFamily="34" charset="0"/>
                <a:ea typeface="Calibri" pitchFamily="34" charset="-122"/>
                <a:cs typeface="Calibri" pitchFamily="34" charset="-120"/>
              </a:rPr>
              <a:t>When a planner reaches for who to put on a line, the crew palette has already done the thinking — qualification, crew rest and conflicts, all before the puck lands.</a:t>
            </a:r>
            <a:endParaRPr lang="en-US" sz="1450" dirty="0"/>
          </a:p>
        </p:txBody>
      </p:sp>
      <p:sp>
        <p:nvSpPr>
          <p:cNvPr id="9" name="Shape 7"/>
          <p:cNvSpPr/>
          <p:nvPr/>
        </p:nvSpPr>
        <p:spPr>
          <a:xfrm>
            <a:off x="685800" y="2514600"/>
            <a:ext cx="3474720" cy="2331720"/>
          </a:xfrm>
          <a:prstGeom prst="roundRect">
            <a:avLst>
              <a:gd name="adj" fmla="val 3922"/>
            </a:avLst>
          </a:prstGeom>
          <a:solidFill>
            <a:srgbClr val="13294A"/>
          </a:solidFill>
          <a:ln w="12700">
            <a:solidFill>
              <a:srgbClr val="27446F"/>
            </a:solidFill>
            <a:prstDash val="solid"/>
          </a:ln>
        </p:spPr>
      </p:sp>
      <p:sp>
        <p:nvSpPr>
          <p:cNvPr id="10" name="Shape 8"/>
          <p:cNvSpPr/>
          <p:nvPr/>
        </p:nvSpPr>
        <p:spPr>
          <a:xfrm>
            <a:off x="1920240" y="2834640"/>
            <a:ext cx="1005840" cy="1005840"/>
          </a:xfrm>
          <a:prstGeom prst="ellipse">
            <a:avLst/>
          </a:prstGeom>
          <a:solidFill>
            <a:srgbClr val="0E1E36"/>
          </a:solidFill>
          <a:ln w="28575">
            <a:solidFill>
              <a:srgbClr val="37C46E"/>
            </a:solidFill>
            <a:prstDash val="solid"/>
          </a:ln>
        </p:spPr>
      </p:sp>
      <p:pic>
        <p:nvPicPr>
          <p:cNvPr id="11" name="Image 0" descr="preencoded.png">    </p:cNvPr>
          <p:cNvPicPr>
            <a:picLocks noChangeAspect="1"/>
          </p:cNvPicPr>
          <p:nvPr/>
        </p:nvPicPr>
        <p:blipFill>
          <a:blip r:embed="rId1"/>
          <a:stretch>
            <a:fillRect/>
          </a:stretch>
        </p:blipFill>
        <p:spPr>
          <a:xfrm>
            <a:off x="2167128" y="3081528"/>
            <a:ext cx="512064" cy="512064"/>
          </a:xfrm>
          <a:prstGeom prst="rect">
            <a:avLst/>
          </a:prstGeom>
        </p:spPr>
      </p:pic>
      <p:sp>
        <p:nvSpPr>
          <p:cNvPr id="12" name="Text 9"/>
          <p:cNvSpPr/>
          <p:nvPr/>
        </p:nvSpPr>
        <p:spPr>
          <a:xfrm>
            <a:off x="914400" y="3977640"/>
            <a:ext cx="3017520" cy="365760"/>
          </a:xfrm>
          <a:prstGeom prst="rect">
            <a:avLst/>
          </a:prstGeom>
          <a:noFill/>
          <a:ln/>
        </p:spPr>
        <p:txBody>
          <a:bodyPr wrap="square" lIns="0" tIns="0" rIns="0" bIns="0" rtlCol="0" anchor="ctr"/>
          <a:lstStyle/>
          <a:p>
            <a:pPr algn="ctr" indent="0" marL="0">
              <a:buNone/>
            </a:pPr>
            <a:r>
              <a:rPr lang="en-US" sz="1600" b="1" dirty="0">
                <a:solidFill>
                  <a:srgbClr val="F2F6FC"/>
                </a:solidFill>
                <a:latin typeface="Arial" pitchFamily="34" charset="0"/>
                <a:ea typeface="Arial" pitchFamily="34" charset="-122"/>
                <a:cs typeface="Arial" pitchFamily="34" charset="-120"/>
              </a:rPr>
              <a:t>Qualified &amp; current</a:t>
            </a:r>
            <a:endParaRPr lang="en-US" sz="1600" dirty="0"/>
          </a:p>
        </p:txBody>
      </p:sp>
      <p:sp>
        <p:nvSpPr>
          <p:cNvPr id="13" name="Text 10"/>
          <p:cNvSpPr/>
          <p:nvPr/>
        </p:nvSpPr>
        <p:spPr>
          <a:xfrm>
            <a:off x="960120" y="4361688"/>
            <a:ext cx="2926080" cy="457200"/>
          </a:xfrm>
          <a:prstGeom prst="rect">
            <a:avLst/>
          </a:prstGeom>
          <a:noFill/>
          <a:ln/>
        </p:spPr>
        <p:txBody>
          <a:bodyPr wrap="square" lIns="0" tIns="0" rIns="0" bIns="0" rtlCol="0" anchor="ctr"/>
          <a:lstStyle/>
          <a:p>
            <a:pPr algn="ctr" indent="0" marL="0">
              <a:buNone/>
            </a:pPr>
            <a:r>
              <a:rPr lang="en-US" sz="1150" dirty="0">
                <a:solidFill>
                  <a:srgbClr val="94A9C9"/>
                </a:solidFill>
                <a:latin typeface="Calibri" pitchFamily="34" charset="0"/>
                <a:ea typeface="Calibri" pitchFamily="34" charset="-122"/>
                <a:cs typeface="Calibri" pitchFamily="34" charset="-120"/>
              </a:rPr>
              <a:t>Only crew who hold the qual and are in currency are offered for the line.</a:t>
            </a:r>
            <a:endParaRPr lang="en-US" sz="1150" dirty="0"/>
          </a:p>
        </p:txBody>
      </p:sp>
      <p:sp>
        <p:nvSpPr>
          <p:cNvPr id="14" name="Shape 11"/>
          <p:cNvSpPr/>
          <p:nvPr/>
        </p:nvSpPr>
        <p:spPr>
          <a:xfrm>
            <a:off x="4416552" y="2514600"/>
            <a:ext cx="3474720" cy="2331720"/>
          </a:xfrm>
          <a:prstGeom prst="roundRect">
            <a:avLst>
              <a:gd name="adj" fmla="val 3922"/>
            </a:avLst>
          </a:prstGeom>
          <a:solidFill>
            <a:srgbClr val="13294A"/>
          </a:solidFill>
          <a:ln w="12700">
            <a:solidFill>
              <a:srgbClr val="27446F"/>
            </a:solidFill>
            <a:prstDash val="solid"/>
          </a:ln>
        </p:spPr>
      </p:sp>
      <p:sp>
        <p:nvSpPr>
          <p:cNvPr id="15" name="Shape 12"/>
          <p:cNvSpPr/>
          <p:nvPr/>
        </p:nvSpPr>
        <p:spPr>
          <a:xfrm>
            <a:off x="5650992" y="2834640"/>
            <a:ext cx="1005840" cy="1005840"/>
          </a:xfrm>
          <a:prstGeom prst="ellipse">
            <a:avLst/>
          </a:prstGeom>
          <a:solidFill>
            <a:srgbClr val="0E1E36"/>
          </a:solidFill>
          <a:ln w="28575">
            <a:solidFill>
              <a:srgbClr val="F5A623"/>
            </a:solidFill>
            <a:prstDash val="solid"/>
          </a:ln>
        </p:spPr>
      </p:sp>
      <p:pic>
        <p:nvPicPr>
          <p:cNvPr id="16" name="Image 1" descr="preencoded.png">    </p:cNvPr>
          <p:cNvPicPr>
            <a:picLocks noChangeAspect="1"/>
          </p:cNvPicPr>
          <p:nvPr/>
        </p:nvPicPr>
        <p:blipFill>
          <a:blip r:embed="rId2"/>
          <a:stretch>
            <a:fillRect/>
          </a:stretch>
        </p:blipFill>
        <p:spPr>
          <a:xfrm>
            <a:off x="5897880" y="3081528"/>
            <a:ext cx="512064" cy="512064"/>
          </a:xfrm>
          <a:prstGeom prst="rect">
            <a:avLst/>
          </a:prstGeom>
        </p:spPr>
      </p:pic>
      <p:sp>
        <p:nvSpPr>
          <p:cNvPr id="17" name="Text 13"/>
          <p:cNvSpPr/>
          <p:nvPr/>
        </p:nvSpPr>
        <p:spPr>
          <a:xfrm>
            <a:off x="4645152" y="3977640"/>
            <a:ext cx="3017520" cy="365760"/>
          </a:xfrm>
          <a:prstGeom prst="rect">
            <a:avLst/>
          </a:prstGeom>
          <a:noFill/>
          <a:ln/>
        </p:spPr>
        <p:txBody>
          <a:bodyPr wrap="square" lIns="0" tIns="0" rIns="0" bIns="0" rtlCol="0" anchor="ctr"/>
          <a:lstStyle/>
          <a:p>
            <a:pPr algn="ctr" indent="0" marL="0">
              <a:buNone/>
            </a:pPr>
            <a:r>
              <a:rPr lang="en-US" sz="1600" b="1" dirty="0">
                <a:solidFill>
                  <a:srgbClr val="F2F6FC"/>
                </a:solidFill>
                <a:latin typeface="Arial" pitchFamily="34" charset="0"/>
                <a:ea typeface="Arial" pitchFamily="34" charset="-122"/>
                <a:cs typeface="Arial" pitchFamily="34" charset="-120"/>
              </a:rPr>
              <a:t>Rested</a:t>
            </a:r>
            <a:endParaRPr lang="en-US" sz="1600" dirty="0"/>
          </a:p>
        </p:txBody>
      </p:sp>
      <p:sp>
        <p:nvSpPr>
          <p:cNvPr id="18" name="Text 14"/>
          <p:cNvSpPr/>
          <p:nvPr/>
        </p:nvSpPr>
        <p:spPr>
          <a:xfrm>
            <a:off x="4690872" y="4361688"/>
            <a:ext cx="2926080" cy="457200"/>
          </a:xfrm>
          <a:prstGeom prst="rect">
            <a:avLst/>
          </a:prstGeom>
          <a:noFill/>
          <a:ln/>
        </p:spPr>
        <p:txBody>
          <a:bodyPr wrap="square" lIns="0" tIns="0" rIns="0" bIns="0" rtlCol="0" anchor="ctr"/>
          <a:lstStyle/>
          <a:p>
            <a:pPr algn="ctr" indent="0" marL="0">
              <a:buNone/>
            </a:pPr>
            <a:r>
              <a:rPr lang="en-US" sz="1150" dirty="0">
                <a:solidFill>
                  <a:srgbClr val="94A9C9"/>
                </a:solidFill>
                <a:latin typeface="Calibri" pitchFamily="34" charset="0"/>
                <a:ea typeface="Calibri" pitchFamily="34" charset="-122"/>
                <a:cs typeface="Calibri" pitchFamily="34" charset="-120"/>
              </a:rPr>
              <a:t>Anyone short on crew rest is struck out, with the reason shown in-line.</a:t>
            </a:r>
            <a:endParaRPr lang="en-US" sz="1150" dirty="0"/>
          </a:p>
        </p:txBody>
      </p:sp>
      <p:sp>
        <p:nvSpPr>
          <p:cNvPr id="19" name="Shape 15"/>
          <p:cNvSpPr/>
          <p:nvPr/>
        </p:nvSpPr>
        <p:spPr>
          <a:xfrm>
            <a:off x="8147304" y="2514600"/>
            <a:ext cx="3474720" cy="2331720"/>
          </a:xfrm>
          <a:prstGeom prst="roundRect">
            <a:avLst>
              <a:gd name="adj" fmla="val 3922"/>
            </a:avLst>
          </a:prstGeom>
          <a:solidFill>
            <a:srgbClr val="13294A"/>
          </a:solidFill>
          <a:ln w="12700">
            <a:solidFill>
              <a:srgbClr val="27446F"/>
            </a:solidFill>
            <a:prstDash val="solid"/>
          </a:ln>
        </p:spPr>
      </p:sp>
      <p:sp>
        <p:nvSpPr>
          <p:cNvPr id="20" name="Shape 16"/>
          <p:cNvSpPr/>
          <p:nvPr/>
        </p:nvSpPr>
        <p:spPr>
          <a:xfrm>
            <a:off x="9381744" y="2834640"/>
            <a:ext cx="1005840" cy="1005840"/>
          </a:xfrm>
          <a:prstGeom prst="ellipse">
            <a:avLst/>
          </a:prstGeom>
          <a:solidFill>
            <a:srgbClr val="0E1E36"/>
          </a:solidFill>
          <a:ln w="28575">
            <a:solidFill>
              <a:srgbClr val="E8563F"/>
            </a:solidFill>
            <a:prstDash val="solid"/>
          </a:ln>
        </p:spPr>
      </p:sp>
      <p:pic>
        <p:nvPicPr>
          <p:cNvPr id="21" name="Image 2" descr="preencoded.png">    </p:cNvPr>
          <p:cNvPicPr>
            <a:picLocks noChangeAspect="1"/>
          </p:cNvPicPr>
          <p:nvPr/>
        </p:nvPicPr>
        <p:blipFill>
          <a:blip r:embed="rId3"/>
          <a:stretch>
            <a:fillRect/>
          </a:stretch>
        </p:blipFill>
        <p:spPr>
          <a:xfrm>
            <a:off x="9628632" y="3081528"/>
            <a:ext cx="512064" cy="512064"/>
          </a:xfrm>
          <a:prstGeom prst="rect">
            <a:avLst/>
          </a:prstGeom>
        </p:spPr>
      </p:pic>
      <p:sp>
        <p:nvSpPr>
          <p:cNvPr id="22" name="Text 17"/>
          <p:cNvSpPr/>
          <p:nvPr/>
        </p:nvSpPr>
        <p:spPr>
          <a:xfrm>
            <a:off x="8375904" y="3977640"/>
            <a:ext cx="3017520" cy="365760"/>
          </a:xfrm>
          <a:prstGeom prst="rect">
            <a:avLst/>
          </a:prstGeom>
          <a:noFill/>
          <a:ln/>
        </p:spPr>
        <p:txBody>
          <a:bodyPr wrap="square" lIns="0" tIns="0" rIns="0" bIns="0" rtlCol="0" anchor="ctr"/>
          <a:lstStyle/>
          <a:p>
            <a:pPr algn="ctr" indent="0" marL="0">
              <a:buNone/>
            </a:pPr>
            <a:r>
              <a:rPr lang="en-US" sz="1600" b="1" dirty="0">
                <a:solidFill>
                  <a:srgbClr val="F2F6FC"/>
                </a:solidFill>
                <a:latin typeface="Arial" pitchFamily="34" charset="0"/>
                <a:ea typeface="Arial" pitchFamily="34" charset="-122"/>
                <a:cs typeface="Arial" pitchFamily="34" charset="-120"/>
              </a:rPr>
              <a:t>Conflict-free</a:t>
            </a:r>
            <a:endParaRPr lang="en-US" sz="1600" dirty="0"/>
          </a:p>
        </p:txBody>
      </p:sp>
      <p:sp>
        <p:nvSpPr>
          <p:cNvPr id="23" name="Text 18"/>
          <p:cNvSpPr/>
          <p:nvPr/>
        </p:nvSpPr>
        <p:spPr>
          <a:xfrm>
            <a:off x="8421624" y="4361688"/>
            <a:ext cx="2926080" cy="457200"/>
          </a:xfrm>
          <a:prstGeom prst="rect">
            <a:avLst/>
          </a:prstGeom>
          <a:noFill/>
          <a:ln/>
        </p:spPr>
        <p:txBody>
          <a:bodyPr wrap="square" lIns="0" tIns="0" rIns="0" bIns="0" rtlCol="0" anchor="ctr"/>
          <a:lstStyle/>
          <a:p>
            <a:pPr algn="ctr" indent="0" marL="0">
              <a:buNone/>
            </a:pPr>
            <a:r>
              <a:rPr lang="en-US" sz="1150" dirty="0">
                <a:solidFill>
                  <a:srgbClr val="94A9C9"/>
                </a:solidFill>
                <a:latin typeface="Calibri" pitchFamily="34" charset="0"/>
                <a:ea typeface="Calibri" pitchFamily="34" charset="-122"/>
                <a:cs typeface="Calibri" pitchFamily="34" charset="-120"/>
              </a:rPr>
              <a:t>Already flying, on duty or on leave? They drop out of the pick automatically.</a:t>
            </a:r>
            <a:endParaRPr lang="en-US" sz="1150" dirty="0"/>
          </a:p>
        </p:txBody>
      </p:sp>
      <p:sp>
        <p:nvSpPr>
          <p:cNvPr id="24" name="Shape 19"/>
          <p:cNvSpPr/>
          <p:nvPr/>
        </p:nvSpPr>
        <p:spPr>
          <a:xfrm>
            <a:off x="685800" y="5166360"/>
            <a:ext cx="10789920" cy="960120"/>
          </a:xfrm>
          <a:prstGeom prst="roundRect">
            <a:avLst>
              <a:gd name="adj" fmla="val 9524"/>
            </a:avLst>
          </a:prstGeom>
          <a:solidFill>
            <a:srgbClr val="17335C"/>
          </a:solidFill>
          <a:ln w="12700">
            <a:solidFill>
              <a:srgbClr val="F5A623"/>
            </a:solidFill>
            <a:prstDash val="solid"/>
          </a:ln>
        </p:spPr>
      </p:sp>
      <p:sp>
        <p:nvSpPr>
          <p:cNvPr id="25" name="Shape 20"/>
          <p:cNvSpPr/>
          <p:nvPr/>
        </p:nvSpPr>
        <p:spPr>
          <a:xfrm>
            <a:off x="914400" y="5349240"/>
            <a:ext cx="566928" cy="566928"/>
          </a:xfrm>
          <a:prstGeom prst="ellipse">
            <a:avLst/>
          </a:prstGeom>
          <a:solidFill>
            <a:srgbClr val="0E1E36"/>
          </a:solidFill>
          <a:ln w="19050">
            <a:solidFill>
              <a:srgbClr val="F5A623"/>
            </a:solidFill>
            <a:prstDash val="solid"/>
          </a:ln>
        </p:spPr>
      </p:sp>
      <p:pic>
        <p:nvPicPr>
          <p:cNvPr id="26" name="Image 3" descr="preencoded.png">    </p:cNvPr>
          <p:cNvPicPr>
            <a:picLocks noChangeAspect="1"/>
          </p:cNvPicPr>
          <p:nvPr/>
        </p:nvPicPr>
        <p:blipFill>
          <a:blip r:embed="rId4"/>
          <a:stretch>
            <a:fillRect/>
          </a:stretch>
        </p:blipFill>
        <p:spPr>
          <a:xfrm>
            <a:off x="1061801" y="5496641"/>
            <a:ext cx="272125" cy="272125"/>
          </a:xfrm>
          <a:prstGeom prst="rect">
            <a:avLst/>
          </a:prstGeom>
        </p:spPr>
      </p:pic>
      <p:sp>
        <p:nvSpPr>
          <p:cNvPr id="27" name="Text 21"/>
          <p:cNvSpPr/>
          <p:nvPr/>
        </p:nvSpPr>
        <p:spPr>
          <a:xfrm>
            <a:off x="1645920" y="5212080"/>
            <a:ext cx="9601200" cy="868680"/>
          </a:xfrm>
          <a:prstGeom prst="rect">
            <a:avLst/>
          </a:prstGeom>
          <a:noFill/>
          <a:ln/>
        </p:spPr>
        <p:txBody>
          <a:bodyPr wrap="square" lIns="0" tIns="0" rIns="0" bIns="0" rtlCol="0" anchor="ctr"/>
          <a:lstStyle/>
          <a:p>
            <a:pPr indent="0" marL="0">
              <a:buNone/>
            </a:pPr>
            <a:r>
              <a:rPr lang="en-US" sz="1400" b="1" dirty="0">
                <a:solidFill>
                  <a:srgbClr val="F2F6FC"/>
                </a:solidFill>
                <a:latin typeface="Calibri" pitchFamily="34" charset="0"/>
                <a:ea typeface="Calibri" pitchFamily="34" charset="-122"/>
                <a:cs typeface="Calibri" pitchFamily="34" charset="-120"/>
              </a:rPr>
              <a:t>Green rings mark who is eligible; the ineligible are struck out with the reason. </a:t>
            </a:r>
            <a:pPr indent="0" marL="0">
              <a:buNone/>
            </a:pPr>
            <a:r>
              <a:rPr lang="en-US" sz="1400" dirty="0">
                <a:solidFill>
                  <a:srgbClr val="94A9C9"/>
                </a:solidFill>
                <a:latin typeface="Calibri" pitchFamily="34" charset="0"/>
                <a:ea typeface="Calibri" pitchFamily="34" charset="-122"/>
                <a:cs typeface="Calibri" pitchFamily="34" charset="-120"/>
              </a:rPr>
              <a:t>If a placement still breaks a rule, RAPTOR flags it on the puck itself.</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E36"/>
        </a:solidFill>
      </p:bgPr>
    </p:bg>
    <p:spTree>
      <p:nvGrpSpPr>
        <p:cNvPr id="1" name=""/>
        <p:cNvGrpSpPr/>
        <p:nvPr/>
      </p:nvGrpSpPr>
      <p:grpSpPr>
        <a:xfrm>
          <a:off x="0" y="0"/>
          <a:ext cx="0" cy="0"/>
          <a:chOff x="0" y="0"/>
          <a:chExt cx="0" cy="0"/>
        </a:xfrm>
      </p:grpSpPr>
      <p:sp>
        <p:nvSpPr>
          <p:cNvPr id="2" name="Text 0"/>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07</a:t>
            </a:r>
            <a:endParaRPr lang="en-US" sz="1000" dirty="0"/>
          </a:p>
        </p:txBody>
      </p:sp>
      <p:sp>
        <p:nvSpPr>
          <p:cNvPr id="3" name="Text 1"/>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4" name="Text 2"/>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CAPABILITY 04 — NO MORE RE-KEYING</a:t>
            </a:r>
            <a:endParaRPr lang="en-US" sz="1250" dirty="0"/>
          </a:p>
        </p:txBody>
      </p:sp>
      <p:sp>
        <p:nvSpPr>
          <p:cNvPr id="5" name="Text 3"/>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Leave War, synced both ways</a:t>
            </a:r>
            <a:endParaRPr lang="en-US" sz="3400" dirty="0"/>
          </a:p>
        </p:txBody>
      </p:sp>
      <p:sp>
        <p:nvSpPr>
          <p:cNvPr id="6" name="Text 4"/>
          <p:cNvSpPr/>
          <p:nvPr/>
        </p:nvSpPr>
        <p:spPr>
          <a:xfrm>
            <a:off x="685800" y="1645920"/>
            <a:ext cx="10789920" cy="502920"/>
          </a:xfrm>
          <a:prstGeom prst="rect">
            <a:avLst/>
          </a:prstGeom>
          <a:noFill/>
          <a:ln/>
        </p:spPr>
        <p:txBody>
          <a:bodyPr wrap="square" lIns="0" tIns="0" rIns="0" bIns="0" rtlCol="0" anchor="ctr"/>
          <a:lstStyle/>
          <a:p>
            <a:pPr indent="0" marL="0">
              <a:buNone/>
            </a:pPr>
            <a:r>
              <a:rPr lang="en-US" sz="1500" dirty="0">
                <a:solidFill>
                  <a:srgbClr val="6FA8DC"/>
                </a:solidFill>
                <a:latin typeface="Calibri" pitchFamily="34" charset="0"/>
                <a:ea typeface="Calibri" pitchFamily="34" charset="-122"/>
                <a:cs typeface="Calibri" pitchFamily="34" charset="-120"/>
              </a:rPr>
              <a:t>Approve a bid once. It becomes a leave input on the schedule — and leave filed on the schedule draws the balances down. Nobody re-types anything.</a:t>
            </a:r>
            <a:endParaRPr lang="en-US" sz="1500" dirty="0"/>
          </a:p>
        </p:txBody>
      </p:sp>
      <p:sp>
        <p:nvSpPr>
          <p:cNvPr id="7" name="Shape 5"/>
          <p:cNvSpPr/>
          <p:nvPr/>
        </p:nvSpPr>
        <p:spPr>
          <a:xfrm>
            <a:off x="822960" y="2514600"/>
            <a:ext cx="3794760" cy="1417320"/>
          </a:xfrm>
          <a:prstGeom prst="roundRect">
            <a:avLst>
              <a:gd name="adj" fmla="val 7742"/>
            </a:avLst>
          </a:prstGeom>
          <a:solidFill>
            <a:srgbClr val="13294A"/>
          </a:solidFill>
          <a:ln w="19050">
            <a:solidFill>
              <a:srgbClr val="6FA8DC"/>
            </a:solidFill>
            <a:prstDash val="solid"/>
          </a:ln>
        </p:spPr>
      </p:sp>
      <p:sp>
        <p:nvSpPr>
          <p:cNvPr id="8" name="Shape 6"/>
          <p:cNvSpPr/>
          <p:nvPr/>
        </p:nvSpPr>
        <p:spPr>
          <a:xfrm>
            <a:off x="1097280" y="2834640"/>
            <a:ext cx="640080" cy="640080"/>
          </a:xfrm>
          <a:prstGeom prst="ellipse">
            <a:avLst/>
          </a:prstGeom>
          <a:solidFill>
            <a:srgbClr val="0E1E36"/>
          </a:solidFill>
          <a:ln w="19050">
            <a:solidFill>
              <a:srgbClr val="6FA8DC"/>
            </a:solidFill>
            <a:prstDash val="solid"/>
          </a:ln>
        </p:spPr>
      </p:sp>
      <p:pic>
        <p:nvPicPr>
          <p:cNvPr id="9" name="Image 0" descr="preencoded.png">    </p:cNvPr>
          <p:cNvPicPr>
            <a:picLocks noChangeAspect="1"/>
          </p:cNvPicPr>
          <p:nvPr/>
        </p:nvPicPr>
        <p:blipFill>
          <a:blip r:embed="rId1"/>
          <a:stretch>
            <a:fillRect/>
          </a:stretch>
        </p:blipFill>
        <p:spPr>
          <a:xfrm>
            <a:off x="1263701" y="3001061"/>
            <a:ext cx="307238" cy="307238"/>
          </a:xfrm>
          <a:prstGeom prst="rect">
            <a:avLst/>
          </a:prstGeom>
        </p:spPr>
      </p:pic>
      <p:sp>
        <p:nvSpPr>
          <p:cNvPr id="10" name="Text 7"/>
          <p:cNvSpPr/>
          <p:nvPr/>
        </p:nvSpPr>
        <p:spPr>
          <a:xfrm>
            <a:off x="1920240" y="2834640"/>
            <a:ext cx="2468880" cy="365760"/>
          </a:xfrm>
          <a:prstGeom prst="rect">
            <a:avLst/>
          </a:prstGeom>
          <a:noFill/>
          <a:ln/>
        </p:spPr>
        <p:txBody>
          <a:bodyPr wrap="square" lIns="0" tIns="0" rIns="0" bIns="0" rtlCol="0" anchor="ctr"/>
          <a:lstStyle/>
          <a:p>
            <a:pPr indent="0" marL="0">
              <a:buNone/>
            </a:pPr>
            <a:r>
              <a:rPr lang="en-US" sz="1700" b="1" dirty="0">
                <a:solidFill>
                  <a:srgbClr val="F2F6FC"/>
                </a:solidFill>
                <a:latin typeface="Arial" pitchFamily="34" charset="0"/>
                <a:ea typeface="Arial" pitchFamily="34" charset="-122"/>
                <a:cs typeface="Arial" pitchFamily="34" charset="-120"/>
              </a:rPr>
              <a:t>LEAVE WAR</a:t>
            </a:r>
            <a:endParaRPr lang="en-US" sz="1700" dirty="0"/>
          </a:p>
        </p:txBody>
      </p:sp>
      <p:sp>
        <p:nvSpPr>
          <p:cNvPr id="11" name="Text 8"/>
          <p:cNvSpPr/>
          <p:nvPr/>
        </p:nvSpPr>
        <p:spPr>
          <a:xfrm>
            <a:off x="1920240" y="3227832"/>
            <a:ext cx="2651760" cy="365760"/>
          </a:xfrm>
          <a:prstGeom prst="rect">
            <a:avLst/>
          </a:prstGeom>
          <a:noFill/>
          <a:ln/>
        </p:spPr>
        <p:txBody>
          <a:bodyPr wrap="square" lIns="0" tIns="0" rIns="0" bIns="0" rtlCol="0" anchor="ctr"/>
          <a:lstStyle/>
          <a:p>
            <a:pPr indent="0" marL="0">
              <a:buNone/>
            </a:pPr>
            <a:r>
              <a:rPr lang="en-US" sz="1200" dirty="0">
                <a:solidFill>
                  <a:srgbClr val="94A9C9"/>
                </a:solidFill>
                <a:latin typeface="Calibri" pitchFamily="34" charset="0"/>
                <a:ea typeface="Calibri" pitchFamily="34" charset="-122"/>
                <a:cs typeface="Calibri" pitchFamily="34" charset="-120"/>
              </a:rPr>
              <a:t>Bids, approvals &amp; balances</a:t>
            </a:r>
            <a:endParaRPr lang="en-US" sz="1200" dirty="0"/>
          </a:p>
        </p:txBody>
      </p:sp>
      <p:sp>
        <p:nvSpPr>
          <p:cNvPr id="12" name="Shape 9"/>
          <p:cNvSpPr/>
          <p:nvPr/>
        </p:nvSpPr>
        <p:spPr>
          <a:xfrm>
            <a:off x="7571232" y="2514600"/>
            <a:ext cx="3794760" cy="1417320"/>
          </a:xfrm>
          <a:prstGeom prst="roundRect">
            <a:avLst>
              <a:gd name="adj" fmla="val 7742"/>
            </a:avLst>
          </a:prstGeom>
          <a:solidFill>
            <a:srgbClr val="13294A"/>
          </a:solidFill>
          <a:ln w="19050">
            <a:solidFill>
              <a:srgbClr val="F5A623"/>
            </a:solidFill>
            <a:prstDash val="solid"/>
          </a:ln>
        </p:spPr>
      </p:sp>
      <p:sp>
        <p:nvSpPr>
          <p:cNvPr id="13" name="Shape 10"/>
          <p:cNvSpPr/>
          <p:nvPr/>
        </p:nvSpPr>
        <p:spPr>
          <a:xfrm>
            <a:off x="7845552" y="2834640"/>
            <a:ext cx="640080" cy="640080"/>
          </a:xfrm>
          <a:prstGeom prst="ellipse">
            <a:avLst/>
          </a:prstGeom>
          <a:solidFill>
            <a:srgbClr val="0E1E36"/>
          </a:solidFill>
          <a:ln w="19050">
            <a:solidFill>
              <a:srgbClr val="F5A623"/>
            </a:solidFill>
            <a:prstDash val="solid"/>
          </a:ln>
        </p:spPr>
      </p:sp>
      <p:pic>
        <p:nvPicPr>
          <p:cNvPr id="14" name="Image 1" descr="preencoded.png">    </p:cNvPr>
          <p:cNvPicPr>
            <a:picLocks noChangeAspect="1"/>
          </p:cNvPicPr>
          <p:nvPr/>
        </p:nvPicPr>
        <p:blipFill>
          <a:blip r:embed="rId2"/>
          <a:stretch>
            <a:fillRect/>
          </a:stretch>
        </p:blipFill>
        <p:spPr>
          <a:xfrm>
            <a:off x="8011973" y="3001061"/>
            <a:ext cx="307238" cy="307238"/>
          </a:xfrm>
          <a:prstGeom prst="rect">
            <a:avLst/>
          </a:prstGeom>
        </p:spPr>
      </p:pic>
      <p:sp>
        <p:nvSpPr>
          <p:cNvPr id="15" name="Text 11"/>
          <p:cNvSpPr/>
          <p:nvPr/>
        </p:nvSpPr>
        <p:spPr>
          <a:xfrm>
            <a:off x="8668512" y="2834640"/>
            <a:ext cx="2468880" cy="365760"/>
          </a:xfrm>
          <a:prstGeom prst="rect">
            <a:avLst/>
          </a:prstGeom>
          <a:noFill/>
          <a:ln/>
        </p:spPr>
        <p:txBody>
          <a:bodyPr wrap="square" lIns="0" tIns="0" rIns="0" bIns="0" rtlCol="0" anchor="ctr"/>
          <a:lstStyle/>
          <a:p>
            <a:pPr indent="0" marL="0">
              <a:buNone/>
            </a:pPr>
            <a:r>
              <a:rPr lang="en-US" sz="1700" b="1" dirty="0">
                <a:solidFill>
                  <a:srgbClr val="F2F6FC"/>
                </a:solidFill>
                <a:latin typeface="Arial" pitchFamily="34" charset="0"/>
                <a:ea typeface="Arial" pitchFamily="34" charset="-122"/>
                <a:cs typeface="Arial" pitchFamily="34" charset="-120"/>
              </a:rPr>
              <a:t>THE SCHEDULE</a:t>
            </a:r>
            <a:endParaRPr lang="en-US" sz="1700" dirty="0"/>
          </a:p>
        </p:txBody>
      </p:sp>
      <p:sp>
        <p:nvSpPr>
          <p:cNvPr id="16" name="Text 12"/>
          <p:cNvSpPr/>
          <p:nvPr/>
        </p:nvSpPr>
        <p:spPr>
          <a:xfrm>
            <a:off x="8668512" y="3227832"/>
            <a:ext cx="2651760" cy="548640"/>
          </a:xfrm>
          <a:prstGeom prst="rect">
            <a:avLst/>
          </a:prstGeom>
          <a:noFill/>
          <a:ln/>
        </p:spPr>
        <p:txBody>
          <a:bodyPr wrap="square" lIns="0" tIns="0" rIns="0" bIns="0" rtlCol="0" anchor="ctr"/>
          <a:lstStyle/>
          <a:p>
            <a:pPr indent="0" marL="0">
              <a:buNone/>
            </a:pPr>
            <a:r>
              <a:rPr lang="en-US" sz="1200" dirty="0">
                <a:solidFill>
                  <a:srgbClr val="94A9C9"/>
                </a:solidFill>
                <a:latin typeface="Calibri" pitchFamily="34" charset="0"/>
                <a:ea typeface="Calibri" pitchFamily="34" charset="-122"/>
                <a:cs typeface="Calibri" pitchFamily="34" charset="-120"/>
              </a:rPr>
              <a:t>Programme, availability &amp; warnings</a:t>
            </a:r>
            <a:endParaRPr lang="en-US" sz="1200" dirty="0"/>
          </a:p>
        </p:txBody>
      </p:sp>
      <p:pic>
        <p:nvPicPr>
          <p:cNvPr id="17" name="Image 2" descr="preencoded.png">    </p:cNvPr>
          <p:cNvPicPr>
            <a:picLocks noChangeAspect="1"/>
          </p:cNvPicPr>
          <p:nvPr/>
        </p:nvPicPr>
        <p:blipFill>
          <a:blip r:embed="rId3"/>
          <a:stretch>
            <a:fillRect/>
          </a:stretch>
        </p:blipFill>
        <p:spPr>
          <a:xfrm>
            <a:off x="5742432" y="2770632"/>
            <a:ext cx="685800" cy="685800"/>
          </a:xfrm>
          <a:prstGeom prst="rect">
            <a:avLst/>
          </a:prstGeom>
        </p:spPr>
      </p:pic>
      <p:sp>
        <p:nvSpPr>
          <p:cNvPr id="18" name="Text 13"/>
          <p:cNvSpPr/>
          <p:nvPr/>
        </p:nvSpPr>
        <p:spPr>
          <a:xfrm>
            <a:off x="5074920" y="3474720"/>
            <a:ext cx="2011680" cy="274320"/>
          </a:xfrm>
          <a:prstGeom prst="rect">
            <a:avLst/>
          </a:prstGeom>
          <a:noFill/>
          <a:ln/>
        </p:spPr>
        <p:txBody>
          <a:bodyPr wrap="square" lIns="0" tIns="0" rIns="0" bIns="0" rtlCol="0" anchor="ctr"/>
          <a:lstStyle/>
          <a:p>
            <a:pPr algn="ctr" indent="0" marL="0">
              <a:buNone/>
            </a:pPr>
            <a:r>
              <a:rPr lang="en-US" sz="1100" b="1" spc="200" kern="0" dirty="0">
                <a:solidFill>
                  <a:srgbClr val="37C46E"/>
                </a:solidFill>
                <a:latin typeface="Arial" pitchFamily="34" charset="0"/>
                <a:ea typeface="Arial" pitchFamily="34" charset="-122"/>
                <a:cs typeface="Arial" pitchFamily="34" charset="-120"/>
              </a:rPr>
              <a:t>AUTO-SYNC</a:t>
            </a:r>
            <a:endParaRPr lang="en-US" sz="1100" dirty="0"/>
          </a:p>
        </p:txBody>
      </p:sp>
      <p:sp>
        <p:nvSpPr>
          <p:cNvPr id="19" name="Shape 14"/>
          <p:cNvSpPr/>
          <p:nvPr/>
        </p:nvSpPr>
        <p:spPr>
          <a:xfrm>
            <a:off x="4617720" y="3017520"/>
            <a:ext cx="914400" cy="0"/>
          </a:xfrm>
          <a:prstGeom prst="line">
            <a:avLst/>
          </a:prstGeom>
          <a:noFill/>
          <a:ln w="25400">
            <a:solidFill>
              <a:srgbClr val="37C46E"/>
            </a:solidFill>
            <a:prstDash val="solid"/>
            <a:headEnd type="triangle"/>
            <a:tailEnd type="triangle"/>
          </a:ln>
        </p:spPr>
      </p:sp>
      <p:sp>
        <p:nvSpPr>
          <p:cNvPr id="20" name="Shape 15"/>
          <p:cNvSpPr/>
          <p:nvPr/>
        </p:nvSpPr>
        <p:spPr>
          <a:xfrm>
            <a:off x="6629400" y="3017520"/>
            <a:ext cx="914400" cy="0"/>
          </a:xfrm>
          <a:prstGeom prst="line">
            <a:avLst/>
          </a:prstGeom>
          <a:noFill/>
          <a:ln w="25400">
            <a:solidFill>
              <a:srgbClr val="37C46E"/>
            </a:solidFill>
            <a:prstDash val="solid"/>
            <a:headEnd type="triangle"/>
            <a:tailEnd type="triangle"/>
          </a:ln>
        </p:spPr>
      </p:sp>
      <p:sp>
        <p:nvSpPr>
          <p:cNvPr id="21" name="Shape 16"/>
          <p:cNvSpPr/>
          <p:nvPr/>
        </p:nvSpPr>
        <p:spPr>
          <a:xfrm>
            <a:off x="822960" y="4343400"/>
            <a:ext cx="3474720" cy="1737360"/>
          </a:xfrm>
          <a:prstGeom prst="roundRect">
            <a:avLst>
              <a:gd name="adj" fmla="val 5263"/>
            </a:avLst>
          </a:prstGeom>
          <a:solidFill>
            <a:srgbClr val="13294A"/>
          </a:solidFill>
          <a:ln w="12700">
            <a:solidFill>
              <a:srgbClr val="27446F"/>
            </a:solidFill>
            <a:prstDash val="solid"/>
          </a:ln>
        </p:spPr>
      </p:sp>
      <p:sp>
        <p:nvSpPr>
          <p:cNvPr id="22" name="Shape 17"/>
          <p:cNvSpPr/>
          <p:nvPr/>
        </p:nvSpPr>
        <p:spPr>
          <a:xfrm>
            <a:off x="1078992" y="4599432"/>
            <a:ext cx="512064" cy="512064"/>
          </a:xfrm>
          <a:prstGeom prst="ellipse">
            <a:avLst/>
          </a:prstGeom>
          <a:solidFill>
            <a:srgbClr val="0E1E36"/>
          </a:solidFill>
          <a:ln w="19050">
            <a:solidFill>
              <a:srgbClr val="37C46E"/>
            </a:solidFill>
            <a:prstDash val="solid"/>
          </a:ln>
        </p:spPr>
      </p:sp>
      <p:pic>
        <p:nvPicPr>
          <p:cNvPr id="23" name="Image 3" descr="preencoded.png">    </p:cNvPr>
          <p:cNvPicPr>
            <a:picLocks noChangeAspect="1"/>
          </p:cNvPicPr>
          <p:nvPr/>
        </p:nvPicPr>
        <p:blipFill>
          <a:blip r:embed="rId4"/>
          <a:stretch>
            <a:fillRect/>
          </a:stretch>
        </p:blipFill>
        <p:spPr>
          <a:xfrm>
            <a:off x="1212129" y="4732569"/>
            <a:ext cx="245791" cy="245791"/>
          </a:xfrm>
          <a:prstGeom prst="rect">
            <a:avLst/>
          </a:prstGeom>
        </p:spPr>
      </p:pic>
      <p:sp>
        <p:nvSpPr>
          <p:cNvPr id="24" name="Text 18"/>
          <p:cNvSpPr/>
          <p:nvPr/>
        </p:nvSpPr>
        <p:spPr>
          <a:xfrm>
            <a:off x="1078992" y="5212080"/>
            <a:ext cx="3017520" cy="320040"/>
          </a:xfrm>
          <a:prstGeom prst="rect">
            <a:avLst/>
          </a:prstGeom>
          <a:noFill/>
          <a:ln/>
        </p:spPr>
        <p:txBody>
          <a:bodyPr wrap="square" lIns="0" tIns="0" rIns="0" bIns="0" rtlCol="0" anchor="ctr"/>
          <a:lstStyle/>
          <a:p>
            <a:pPr indent="0" marL="0">
              <a:buNone/>
            </a:pPr>
            <a:r>
              <a:rPr lang="en-US" sz="1400" b="1" dirty="0">
                <a:solidFill>
                  <a:srgbClr val="F2F6FC"/>
                </a:solidFill>
                <a:latin typeface="Arial" pitchFamily="34" charset="0"/>
                <a:ea typeface="Arial" pitchFamily="34" charset="-122"/>
                <a:cs typeface="Arial" pitchFamily="34" charset="-120"/>
              </a:rPr>
              <a:t>Approved leave</a:t>
            </a:r>
            <a:endParaRPr lang="en-US" sz="1400" dirty="0"/>
          </a:p>
        </p:txBody>
      </p:sp>
      <p:sp>
        <p:nvSpPr>
          <p:cNvPr id="25" name="Text 19"/>
          <p:cNvSpPr/>
          <p:nvPr/>
        </p:nvSpPr>
        <p:spPr>
          <a:xfrm>
            <a:off x="1078992" y="5532120"/>
            <a:ext cx="3017520" cy="502920"/>
          </a:xfrm>
          <a:prstGeom prst="rect">
            <a:avLst/>
          </a:prstGeom>
          <a:noFill/>
          <a:ln/>
        </p:spPr>
        <p:txBody>
          <a:bodyPr wrap="square" lIns="0" tIns="0" rIns="0" bIns="0" rtlCol="0" anchor="ctr"/>
          <a:lstStyle/>
          <a:p>
            <a:pPr indent="0" marL="0">
              <a:buNone/>
            </a:pPr>
            <a:r>
              <a:rPr lang="en-US" sz="1080" dirty="0">
                <a:solidFill>
                  <a:srgbClr val="94A9C9"/>
                </a:solidFill>
                <a:latin typeface="Calibri" pitchFamily="34" charset="0"/>
                <a:ea typeface="Calibri" pitchFamily="34" charset="-122"/>
                <a:cs typeface="Calibri" pitchFamily="34" charset="-120"/>
              </a:rPr>
              <a:t>Flows straight onto the programme as a leave input — availability, warnings and the palette all move with it.</a:t>
            </a:r>
            <a:endParaRPr lang="en-US" sz="1080" dirty="0"/>
          </a:p>
        </p:txBody>
      </p:sp>
      <p:sp>
        <p:nvSpPr>
          <p:cNvPr id="26" name="Shape 20"/>
          <p:cNvSpPr/>
          <p:nvPr/>
        </p:nvSpPr>
        <p:spPr>
          <a:xfrm>
            <a:off x="4553712" y="4343400"/>
            <a:ext cx="3474720" cy="1737360"/>
          </a:xfrm>
          <a:prstGeom prst="roundRect">
            <a:avLst>
              <a:gd name="adj" fmla="val 5263"/>
            </a:avLst>
          </a:prstGeom>
          <a:solidFill>
            <a:srgbClr val="13294A"/>
          </a:solidFill>
          <a:ln w="12700">
            <a:solidFill>
              <a:srgbClr val="27446F"/>
            </a:solidFill>
            <a:prstDash val="solid"/>
          </a:ln>
        </p:spPr>
      </p:sp>
      <p:sp>
        <p:nvSpPr>
          <p:cNvPr id="27" name="Shape 21"/>
          <p:cNvSpPr/>
          <p:nvPr/>
        </p:nvSpPr>
        <p:spPr>
          <a:xfrm>
            <a:off x="4809744" y="4599432"/>
            <a:ext cx="512064" cy="512064"/>
          </a:xfrm>
          <a:prstGeom prst="ellipse">
            <a:avLst/>
          </a:prstGeom>
          <a:solidFill>
            <a:srgbClr val="0E1E36"/>
          </a:solidFill>
          <a:ln w="19050">
            <a:solidFill>
              <a:srgbClr val="37C46E"/>
            </a:solidFill>
            <a:prstDash val="solid"/>
          </a:ln>
        </p:spPr>
      </p:sp>
      <p:pic>
        <p:nvPicPr>
          <p:cNvPr id="28" name="Image 4" descr="preencoded.png">    </p:cNvPr>
          <p:cNvPicPr>
            <a:picLocks noChangeAspect="1"/>
          </p:cNvPicPr>
          <p:nvPr/>
        </p:nvPicPr>
        <p:blipFill>
          <a:blip r:embed="rId5"/>
          <a:stretch>
            <a:fillRect/>
          </a:stretch>
        </p:blipFill>
        <p:spPr>
          <a:xfrm>
            <a:off x="4942881" y="4732569"/>
            <a:ext cx="245791" cy="245791"/>
          </a:xfrm>
          <a:prstGeom prst="rect">
            <a:avLst/>
          </a:prstGeom>
        </p:spPr>
      </p:pic>
      <p:sp>
        <p:nvSpPr>
          <p:cNvPr id="29" name="Text 22"/>
          <p:cNvSpPr/>
          <p:nvPr/>
        </p:nvSpPr>
        <p:spPr>
          <a:xfrm>
            <a:off x="4809744" y="5212080"/>
            <a:ext cx="3017520" cy="320040"/>
          </a:xfrm>
          <a:prstGeom prst="rect">
            <a:avLst/>
          </a:prstGeom>
          <a:noFill/>
          <a:ln/>
        </p:spPr>
        <p:txBody>
          <a:bodyPr wrap="square" lIns="0" tIns="0" rIns="0" bIns="0" rtlCol="0" anchor="ctr"/>
          <a:lstStyle/>
          <a:p>
            <a:pPr indent="0" marL="0">
              <a:buNone/>
            </a:pPr>
            <a:r>
              <a:rPr lang="en-US" sz="1400" b="1" dirty="0">
                <a:solidFill>
                  <a:srgbClr val="F2F6FC"/>
                </a:solidFill>
                <a:latin typeface="Arial" pitchFamily="34" charset="0"/>
                <a:ea typeface="Arial" pitchFamily="34" charset="-122"/>
                <a:cs typeface="Arial" pitchFamily="34" charset="-120"/>
              </a:rPr>
              <a:t>Medical &amp; up-chit</a:t>
            </a:r>
            <a:endParaRPr lang="en-US" sz="1400" dirty="0"/>
          </a:p>
        </p:txBody>
      </p:sp>
      <p:sp>
        <p:nvSpPr>
          <p:cNvPr id="30" name="Text 23"/>
          <p:cNvSpPr/>
          <p:nvPr/>
        </p:nvSpPr>
        <p:spPr>
          <a:xfrm>
            <a:off x="4809744" y="5532120"/>
            <a:ext cx="3017520" cy="502920"/>
          </a:xfrm>
          <a:prstGeom prst="rect">
            <a:avLst/>
          </a:prstGeom>
          <a:noFill/>
          <a:ln/>
        </p:spPr>
        <p:txBody>
          <a:bodyPr wrap="square" lIns="0" tIns="0" rIns="0" bIns="0" rtlCol="0" anchor="ctr"/>
          <a:lstStyle/>
          <a:p>
            <a:pPr indent="0" marL="0">
              <a:buNone/>
            </a:pPr>
            <a:r>
              <a:rPr lang="en-US" sz="1080" dirty="0">
                <a:solidFill>
                  <a:srgbClr val="94A9C9"/>
                </a:solidFill>
                <a:latin typeface="Calibri" pitchFamily="34" charset="0"/>
                <a:ea typeface="Calibri" pitchFamily="34" charset="-122"/>
                <a:cs typeface="Calibri" pitchFamily="34" charset="-120"/>
              </a:rPr>
              <a:t>ATT B/C, HL and OML ride the same wires as an exact AM/PM or half-day record.</a:t>
            </a:r>
            <a:endParaRPr lang="en-US" sz="1080" dirty="0"/>
          </a:p>
        </p:txBody>
      </p:sp>
      <p:sp>
        <p:nvSpPr>
          <p:cNvPr id="31" name="Shape 24"/>
          <p:cNvSpPr/>
          <p:nvPr/>
        </p:nvSpPr>
        <p:spPr>
          <a:xfrm>
            <a:off x="8284464" y="4343400"/>
            <a:ext cx="3474720" cy="1737360"/>
          </a:xfrm>
          <a:prstGeom prst="roundRect">
            <a:avLst>
              <a:gd name="adj" fmla="val 5263"/>
            </a:avLst>
          </a:prstGeom>
          <a:solidFill>
            <a:srgbClr val="13294A"/>
          </a:solidFill>
          <a:ln w="12700">
            <a:solidFill>
              <a:srgbClr val="27446F"/>
            </a:solidFill>
            <a:prstDash val="solid"/>
          </a:ln>
        </p:spPr>
      </p:sp>
      <p:sp>
        <p:nvSpPr>
          <p:cNvPr id="32" name="Shape 25"/>
          <p:cNvSpPr/>
          <p:nvPr/>
        </p:nvSpPr>
        <p:spPr>
          <a:xfrm>
            <a:off x="8540496" y="4599432"/>
            <a:ext cx="512064" cy="512064"/>
          </a:xfrm>
          <a:prstGeom prst="ellipse">
            <a:avLst/>
          </a:prstGeom>
          <a:solidFill>
            <a:srgbClr val="0E1E36"/>
          </a:solidFill>
          <a:ln w="19050">
            <a:solidFill>
              <a:srgbClr val="37C46E"/>
            </a:solidFill>
            <a:prstDash val="solid"/>
          </a:ln>
        </p:spPr>
      </p:sp>
      <p:pic>
        <p:nvPicPr>
          <p:cNvPr id="33" name="Image 5" descr="preencoded.png">    </p:cNvPr>
          <p:cNvPicPr>
            <a:picLocks noChangeAspect="1"/>
          </p:cNvPicPr>
          <p:nvPr/>
        </p:nvPicPr>
        <p:blipFill>
          <a:blip r:embed="rId6"/>
          <a:stretch>
            <a:fillRect/>
          </a:stretch>
        </p:blipFill>
        <p:spPr>
          <a:xfrm>
            <a:off x="8673633" y="4732569"/>
            <a:ext cx="245791" cy="245791"/>
          </a:xfrm>
          <a:prstGeom prst="rect">
            <a:avLst/>
          </a:prstGeom>
        </p:spPr>
      </p:pic>
      <p:sp>
        <p:nvSpPr>
          <p:cNvPr id="34" name="Text 26"/>
          <p:cNvSpPr/>
          <p:nvPr/>
        </p:nvSpPr>
        <p:spPr>
          <a:xfrm>
            <a:off x="8540496" y="5212080"/>
            <a:ext cx="3017520" cy="320040"/>
          </a:xfrm>
          <a:prstGeom prst="rect">
            <a:avLst/>
          </a:prstGeom>
          <a:noFill/>
          <a:ln/>
        </p:spPr>
        <p:txBody>
          <a:bodyPr wrap="square" lIns="0" tIns="0" rIns="0" bIns="0" rtlCol="0" anchor="ctr"/>
          <a:lstStyle/>
          <a:p>
            <a:pPr indent="0" marL="0">
              <a:buNone/>
            </a:pPr>
            <a:r>
              <a:rPr lang="en-US" sz="1400" b="1" dirty="0">
                <a:solidFill>
                  <a:srgbClr val="F2F6FC"/>
                </a:solidFill>
                <a:latin typeface="Arial" pitchFamily="34" charset="0"/>
                <a:ea typeface="Arial" pitchFamily="34" charset="-122"/>
                <a:cs typeface="Arial" pitchFamily="34" charset="-120"/>
              </a:rPr>
              <a:t>Weekend &amp; PH duty → OIL</a:t>
            </a:r>
            <a:endParaRPr lang="en-US" sz="1400" dirty="0"/>
          </a:p>
        </p:txBody>
      </p:sp>
      <p:sp>
        <p:nvSpPr>
          <p:cNvPr id="35" name="Text 27"/>
          <p:cNvSpPr/>
          <p:nvPr/>
        </p:nvSpPr>
        <p:spPr>
          <a:xfrm>
            <a:off x="8540496" y="5532120"/>
            <a:ext cx="3017520" cy="502920"/>
          </a:xfrm>
          <a:prstGeom prst="rect">
            <a:avLst/>
          </a:prstGeom>
          <a:noFill/>
          <a:ln/>
        </p:spPr>
        <p:txBody>
          <a:bodyPr wrap="square" lIns="0" tIns="0" rIns="0" bIns="0" rtlCol="0" anchor="ctr"/>
          <a:lstStyle/>
          <a:p>
            <a:pPr indent="0" marL="0">
              <a:buNone/>
            </a:pPr>
            <a:r>
              <a:rPr lang="en-US" sz="1080" dirty="0">
                <a:solidFill>
                  <a:srgbClr val="94A9C9"/>
                </a:solidFill>
                <a:latin typeface="Calibri" pitchFamily="34" charset="0"/>
                <a:ea typeface="Calibri" pitchFamily="34" charset="-122"/>
                <a:cs typeface="Calibri" pitchFamily="34" charset="-120"/>
              </a:rPr>
              <a:t>Standing a weekend or public-holiday duty credits OIL automatically, the moment the day is published.</a:t>
            </a:r>
            <a:endParaRPr lang="en-US" sz="10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526"/>
        </a:solidFill>
      </p:bgPr>
    </p:bg>
    <p:spTree>
      <p:nvGrpSpPr>
        <p:cNvPr id="1" name=""/>
        <p:cNvGrpSpPr/>
        <p:nvPr/>
      </p:nvGrpSpPr>
      <p:grpSpPr>
        <a:xfrm>
          <a:off x="0" y="0"/>
          <a:ext cx="0" cy="0"/>
          <a:chOff x="0" y="0"/>
          <a:chExt cx="0" cy="0"/>
        </a:xfrm>
      </p:grpSpPr>
      <p:sp>
        <p:nvSpPr>
          <p:cNvPr id="2" name="Shape 0"/>
          <p:cNvSpPr/>
          <p:nvPr/>
        </p:nvSpPr>
        <p:spPr>
          <a:xfrm>
            <a:off x="10634472" y="-914400"/>
            <a:ext cx="2377440" cy="2377440"/>
          </a:xfrm>
          <a:prstGeom prst="ellipse">
            <a:avLst/>
          </a:prstGeom>
          <a:ln w="15875">
            <a:solidFill>
              <a:srgbClr val="27446F"/>
            </a:solidFill>
            <a:prstDash val="solid"/>
          </a:ln>
        </p:spPr>
      </p:sp>
      <p:sp>
        <p:nvSpPr>
          <p:cNvPr id="3" name="Shape 1"/>
          <p:cNvSpPr/>
          <p:nvPr/>
        </p:nvSpPr>
        <p:spPr>
          <a:xfrm>
            <a:off x="11045952" y="-502920"/>
            <a:ext cx="1554480" cy="1554480"/>
          </a:xfrm>
          <a:prstGeom prst="ellipse">
            <a:avLst/>
          </a:prstGeom>
          <a:ln w="12700">
            <a:solidFill>
              <a:srgbClr val="F5A623">
                <a:alpha val="45000"/>
              </a:srgbClr>
            </a:solidFill>
            <a:prstDash val="solid"/>
          </a:ln>
        </p:spPr>
      </p:sp>
      <p:sp>
        <p:nvSpPr>
          <p:cNvPr id="4" name="Text 2"/>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08</a:t>
            </a:r>
            <a:endParaRPr lang="en-US" sz="1000" dirty="0"/>
          </a:p>
        </p:txBody>
      </p:sp>
      <p:sp>
        <p:nvSpPr>
          <p:cNvPr id="5" name="Text 3"/>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6" name="Text 4"/>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CAPABILITIES 05 &amp; 06 — PLANNING THE MANPOWER</a:t>
            </a:r>
            <a:endParaRPr lang="en-US" sz="1250" dirty="0"/>
          </a:p>
        </p:txBody>
      </p:sp>
      <p:sp>
        <p:nvSpPr>
          <p:cNvPr id="7" name="Text 5"/>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The manpower red line, and a calendar to plan it</a:t>
            </a:r>
            <a:endParaRPr lang="en-US" sz="3400" dirty="0"/>
          </a:p>
        </p:txBody>
      </p:sp>
      <p:sp>
        <p:nvSpPr>
          <p:cNvPr id="8" name="Shape 6"/>
          <p:cNvSpPr/>
          <p:nvPr/>
        </p:nvSpPr>
        <p:spPr>
          <a:xfrm>
            <a:off x="685800" y="1874520"/>
            <a:ext cx="5349240" cy="4206240"/>
          </a:xfrm>
          <a:prstGeom prst="roundRect">
            <a:avLst>
              <a:gd name="adj" fmla="val 2174"/>
            </a:avLst>
          </a:prstGeom>
          <a:solidFill>
            <a:srgbClr val="13294A"/>
          </a:solidFill>
          <a:ln w="12700">
            <a:solidFill>
              <a:srgbClr val="27446F"/>
            </a:solidFill>
            <a:prstDash val="solid"/>
          </a:ln>
        </p:spPr>
      </p:sp>
      <p:sp>
        <p:nvSpPr>
          <p:cNvPr id="9" name="Shape 7"/>
          <p:cNvSpPr/>
          <p:nvPr/>
        </p:nvSpPr>
        <p:spPr>
          <a:xfrm>
            <a:off x="960120" y="2148840"/>
            <a:ext cx="566928" cy="566928"/>
          </a:xfrm>
          <a:prstGeom prst="ellipse">
            <a:avLst/>
          </a:prstGeom>
          <a:solidFill>
            <a:srgbClr val="0E1E36"/>
          </a:solidFill>
          <a:ln w="19050">
            <a:solidFill>
              <a:srgbClr val="F5A623"/>
            </a:solidFill>
            <a:prstDash val="solid"/>
          </a:ln>
        </p:spPr>
      </p:sp>
      <p:pic>
        <p:nvPicPr>
          <p:cNvPr id="10" name="Image 0" descr="preencoded.png">    </p:cNvPr>
          <p:cNvPicPr>
            <a:picLocks noChangeAspect="1"/>
          </p:cNvPicPr>
          <p:nvPr/>
        </p:nvPicPr>
        <p:blipFill>
          <a:blip r:embed="rId1"/>
          <a:stretch>
            <a:fillRect/>
          </a:stretch>
        </p:blipFill>
        <p:spPr>
          <a:xfrm>
            <a:off x="1107521" y="2296241"/>
            <a:ext cx="272125" cy="272125"/>
          </a:xfrm>
          <a:prstGeom prst="rect">
            <a:avLst/>
          </a:prstGeom>
        </p:spPr>
      </p:pic>
      <p:sp>
        <p:nvSpPr>
          <p:cNvPr id="11" name="Text 8"/>
          <p:cNvSpPr/>
          <p:nvPr/>
        </p:nvSpPr>
        <p:spPr>
          <a:xfrm>
            <a:off x="1737360" y="2194560"/>
            <a:ext cx="3931920" cy="32004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MANPOWER RED LINE</a:t>
            </a:r>
            <a:endParaRPr lang="en-US" sz="1600" dirty="0"/>
          </a:p>
        </p:txBody>
      </p:sp>
      <p:sp>
        <p:nvSpPr>
          <p:cNvPr id="12" name="Text 9"/>
          <p:cNvSpPr/>
          <p:nvPr/>
        </p:nvSpPr>
        <p:spPr>
          <a:xfrm>
            <a:off x="1737360" y="2542032"/>
            <a:ext cx="4114800" cy="320040"/>
          </a:xfrm>
          <a:prstGeom prst="rect">
            <a:avLst/>
          </a:prstGeom>
          <a:noFill/>
          <a:ln/>
        </p:spPr>
        <p:txBody>
          <a:bodyPr wrap="square" lIns="0" tIns="0" rIns="0" bIns="0" rtlCol="0" anchor="ctr"/>
          <a:lstStyle/>
          <a:p>
            <a:pPr indent="0" marL="0">
              <a:buNone/>
            </a:pPr>
            <a:r>
              <a:rPr lang="en-US" sz="1200" dirty="0">
                <a:solidFill>
                  <a:srgbClr val="94A9C9"/>
                </a:solidFill>
                <a:latin typeface="Calibri" pitchFamily="34" charset="0"/>
                <a:ea typeface="Calibri" pitchFamily="34" charset="-122"/>
                <a:cs typeface="Calibri" pitchFamily="34" charset="-120"/>
              </a:rPr>
              <a:t>Management sets the day-to-day floor</a:t>
            </a:r>
            <a:endParaRPr lang="en-US" sz="1200" dirty="0"/>
          </a:p>
        </p:txBody>
      </p:sp>
      <p:sp>
        <p:nvSpPr>
          <p:cNvPr id="13" name="Shape 10"/>
          <p:cNvSpPr/>
          <p:nvPr/>
        </p:nvSpPr>
        <p:spPr>
          <a:xfrm>
            <a:off x="960120" y="3017520"/>
            <a:ext cx="4800600" cy="530352"/>
          </a:xfrm>
          <a:prstGeom prst="roundRect">
            <a:avLst>
              <a:gd name="adj" fmla="val 10345"/>
            </a:avLst>
          </a:prstGeom>
          <a:solidFill>
            <a:srgbClr val="0E1E36"/>
          </a:solidFill>
          <a:ln w="9525">
            <a:solidFill>
              <a:srgbClr val="27446F"/>
            </a:solidFill>
            <a:prstDash val="solid"/>
          </a:ln>
        </p:spPr>
      </p:sp>
      <p:sp>
        <p:nvSpPr>
          <p:cNvPr id="14" name="Text 11"/>
          <p:cNvSpPr/>
          <p:nvPr/>
        </p:nvSpPr>
        <p:spPr>
          <a:xfrm>
            <a:off x="1188720" y="3017520"/>
            <a:ext cx="3108960" cy="530352"/>
          </a:xfrm>
          <a:prstGeom prst="rect">
            <a:avLst/>
          </a:prstGeom>
          <a:noFill/>
          <a:ln/>
        </p:spPr>
        <p:txBody>
          <a:bodyPr wrap="square" lIns="0" tIns="0" rIns="0" bIns="0" rtlCol="0" anchor="ctr"/>
          <a:lstStyle/>
          <a:p>
            <a:pPr indent="0" marL="0">
              <a:buNone/>
            </a:pPr>
            <a:r>
              <a:rPr lang="en-US" sz="1300" b="1" dirty="0">
                <a:solidFill>
                  <a:srgbClr val="F2F6FC"/>
                </a:solidFill>
                <a:latin typeface="Calibri" pitchFamily="34" charset="0"/>
                <a:ea typeface="Calibri" pitchFamily="34" charset="-122"/>
                <a:cs typeface="Calibri" pitchFamily="34" charset="-120"/>
              </a:rPr>
              <a:t>Pilots available</a:t>
            </a:r>
            <a:endParaRPr lang="en-US" sz="1300" dirty="0"/>
          </a:p>
        </p:txBody>
      </p:sp>
      <p:sp>
        <p:nvSpPr>
          <p:cNvPr id="15" name="Shape 12"/>
          <p:cNvSpPr/>
          <p:nvPr/>
        </p:nvSpPr>
        <p:spPr>
          <a:xfrm>
            <a:off x="4572000" y="3136392"/>
            <a:ext cx="1005840" cy="301752"/>
          </a:xfrm>
          <a:prstGeom prst="roundRect">
            <a:avLst>
              <a:gd name="adj" fmla="val 48485"/>
            </a:avLst>
          </a:prstGeom>
          <a:solidFill>
            <a:srgbClr val="0A1526"/>
          </a:solidFill>
          <a:ln w="15875">
            <a:solidFill>
              <a:srgbClr val="37C46E"/>
            </a:solidFill>
            <a:prstDash val="solid"/>
          </a:ln>
        </p:spPr>
      </p:sp>
      <p:sp>
        <p:nvSpPr>
          <p:cNvPr id="16" name="Text 13"/>
          <p:cNvSpPr/>
          <p:nvPr/>
        </p:nvSpPr>
        <p:spPr>
          <a:xfrm>
            <a:off x="4572000" y="3136392"/>
            <a:ext cx="1005840" cy="301752"/>
          </a:xfrm>
          <a:prstGeom prst="rect">
            <a:avLst/>
          </a:prstGeom>
          <a:noFill/>
          <a:ln/>
        </p:spPr>
        <p:txBody>
          <a:bodyPr wrap="square" lIns="0" tIns="0" rIns="0" bIns="0" rtlCol="0" anchor="ctr"/>
          <a:lstStyle/>
          <a:p>
            <a:pPr algn="ctr" indent="0" marL="0">
              <a:buNone/>
            </a:pPr>
            <a:r>
              <a:rPr lang="en-US" sz="1050" b="1" dirty="0">
                <a:solidFill>
                  <a:srgbClr val="37C46E"/>
                </a:solidFill>
                <a:latin typeface="Arial" pitchFamily="34" charset="0"/>
                <a:ea typeface="Arial" pitchFamily="34" charset="-122"/>
                <a:cs typeface="Arial" pitchFamily="34" charset="-120"/>
              </a:rPr>
              <a:t>OK</a:t>
            </a:r>
            <a:endParaRPr lang="en-US" sz="1050" dirty="0"/>
          </a:p>
        </p:txBody>
      </p:sp>
      <p:sp>
        <p:nvSpPr>
          <p:cNvPr id="17" name="Shape 14"/>
          <p:cNvSpPr/>
          <p:nvPr/>
        </p:nvSpPr>
        <p:spPr>
          <a:xfrm>
            <a:off x="960120" y="3621024"/>
            <a:ext cx="4800600" cy="530352"/>
          </a:xfrm>
          <a:prstGeom prst="roundRect">
            <a:avLst>
              <a:gd name="adj" fmla="val 10345"/>
            </a:avLst>
          </a:prstGeom>
          <a:solidFill>
            <a:srgbClr val="0E1E36"/>
          </a:solidFill>
          <a:ln w="9525">
            <a:solidFill>
              <a:srgbClr val="27446F"/>
            </a:solidFill>
            <a:prstDash val="solid"/>
          </a:ln>
        </p:spPr>
      </p:sp>
      <p:sp>
        <p:nvSpPr>
          <p:cNvPr id="18" name="Text 15"/>
          <p:cNvSpPr/>
          <p:nvPr/>
        </p:nvSpPr>
        <p:spPr>
          <a:xfrm>
            <a:off x="1188720" y="3621024"/>
            <a:ext cx="3108960" cy="530352"/>
          </a:xfrm>
          <a:prstGeom prst="rect">
            <a:avLst/>
          </a:prstGeom>
          <a:noFill/>
          <a:ln/>
        </p:spPr>
        <p:txBody>
          <a:bodyPr wrap="square" lIns="0" tIns="0" rIns="0" bIns="0" rtlCol="0" anchor="ctr"/>
          <a:lstStyle/>
          <a:p>
            <a:pPr indent="0" marL="0">
              <a:buNone/>
            </a:pPr>
            <a:r>
              <a:rPr lang="en-US" sz="1300" b="1" dirty="0">
                <a:solidFill>
                  <a:srgbClr val="F2F6FC"/>
                </a:solidFill>
                <a:latin typeface="Calibri" pitchFamily="34" charset="0"/>
                <a:ea typeface="Calibri" pitchFamily="34" charset="-122"/>
                <a:cs typeface="Calibri" pitchFamily="34" charset="-120"/>
              </a:rPr>
              <a:t>WSOs available</a:t>
            </a:r>
            <a:endParaRPr lang="en-US" sz="1300" dirty="0"/>
          </a:p>
        </p:txBody>
      </p:sp>
      <p:sp>
        <p:nvSpPr>
          <p:cNvPr id="19" name="Shape 16"/>
          <p:cNvSpPr/>
          <p:nvPr/>
        </p:nvSpPr>
        <p:spPr>
          <a:xfrm>
            <a:off x="4572000" y="3739896"/>
            <a:ext cx="1005840" cy="301752"/>
          </a:xfrm>
          <a:prstGeom prst="roundRect">
            <a:avLst>
              <a:gd name="adj" fmla="val 48485"/>
            </a:avLst>
          </a:prstGeom>
          <a:solidFill>
            <a:srgbClr val="0A1526"/>
          </a:solidFill>
          <a:ln w="15875">
            <a:solidFill>
              <a:srgbClr val="F5A623"/>
            </a:solidFill>
            <a:prstDash val="solid"/>
          </a:ln>
        </p:spPr>
      </p:sp>
      <p:sp>
        <p:nvSpPr>
          <p:cNvPr id="20" name="Text 17"/>
          <p:cNvSpPr/>
          <p:nvPr/>
        </p:nvSpPr>
        <p:spPr>
          <a:xfrm>
            <a:off x="4572000" y="3739896"/>
            <a:ext cx="1005840" cy="301752"/>
          </a:xfrm>
          <a:prstGeom prst="rect">
            <a:avLst/>
          </a:prstGeom>
          <a:noFill/>
          <a:ln/>
        </p:spPr>
        <p:txBody>
          <a:bodyPr wrap="square" lIns="0" tIns="0" rIns="0" bIns="0" rtlCol="0" anchor="ctr"/>
          <a:lstStyle/>
          <a:p>
            <a:pPr algn="ctr" indent="0" marL="0">
              <a:buNone/>
            </a:pPr>
            <a:r>
              <a:rPr lang="en-US" sz="1050" b="1" dirty="0">
                <a:solidFill>
                  <a:srgbClr val="F5A623"/>
                </a:solidFill>
                <a:latin typeface="Arial" pitchFamily="34" charset="0"/>
                <a:ea typeface="Arial" pitchFamily="34" charset="-122"/>
                <a:cs typeface="Arial" pitchFamily="34" charset="-120"/>
              </a:rPr>
              <a:t>AMBER</a:t>
            </a:r>
            <a:endParaRPr lang="en-US" sz="1050" dirty="0"/>
          </a:p>
        </p:txBody>
      </p:sp>
      <p:sp>
        <p:nvSpPr>
          <p:cNvPr id="21" name="Shape 18"/>
          <p:cNvSpPr/>
          <p:nvPr/>
        </p:nvSpPr>
        <p:spPr>
          <a:xfrm>
            <a:off x="960120" y="4224528"/>
            <a:ext cx="4800600" cy="530352"/>
          </a:xfrm>
          <a:prstGeom prst="roundRect">
            <a:avLst>
              <a:gd name="adj" fmla="val 10345"/>
            </a:avLst>
          </a:prstGeom>
          <a:solidFill>
            <a:srgbClr val="0E1E36"/>
          </a:solidFill>
          <a:ln w="9525">
            <a:solidFill>
              <a:srgbClr val="27446F"/>
            </a:solidFill>
            <a:prstDash val="solid"/>
          </a:ln>
        </p:spPr>
      </p:sp>
      <p:sp>
        <p:nvSpPr>
          <p:cNvPr id="22" name="Text 19"/>
          <p:cNvSpPr/>
          <p:nvPr/>
        </p:nvSpPr>
        <p:spPr>
          <a:xfrm>
            <a:off x="1188720" y="4224528"/>
            <a:ext cx="3108960" cy="530352"/>
          </a:xfrm>
          <a:prstGeom prst="rect">
            <a:avLst/>
          </a:prstGeom>
          <a:noFill/>
          <a:ln/>
        </p:spPr>
        <p:txBody>
          <a:bodyPr wrap="square" lIns="0" tIns="0" rIns="0" bIns="0" rtlCol="0" anchor="ctr"/>
          <a:lstStyle/>
          <a:p>
            <a:pPr indent="0" marL="0">
              <a:buNone/>
            </a:pPr>
            <a:r>
              <a:rPr lang="en-US" sz="1300" b="1" dirty="0">
                <a:solidFill>
                  <a:srgbClr val="F2F6FC"/>
                </a:solidFill>
                <a:latin typeface="Calibri" pitchFamily="34" charset="0"/>
                <a:ea typeface="Calibri" pitchFamily="34" charset="-122"/>
                <a:cs typeface="Calibri" pitchFamily="34" charset="-120"/>
              </a:rPr>
              <a:t>SXO on state</a:t>
            </a:r>
            <a:endParaRPr lang="en-US" sz="1300" dirty="0"/>
          </a:p>
        </p:txBody>
      </p:sp>
      <p:sp>
        <p:nvSpPr>
          <p:cNvPr id="23" name="Shape 20"/>
          <p:cNvSpPr/>
          <p:nvPr/>
        </p:nvSpPr>
        <p:spPr>
          <a:xfrm>
            <a:off x="4572000" y="4343400"/>
            <a:ext cx="1005840" cy="301752"/>
          </a:xfrm>
          <a:prstGeom prst="roundRect">
            <a:avLst>
              <a:gd name="adj" fmla="val 48485"/>
            </a:avLst>
          </a:prstGeom>
          <a:solidFill>
            <a:srgbClr val="0A1526"/>
          </a:solidFill>
          <a:ln w="15875">
            <a:solidFill>
              <a:srgbClr val="37C46E"/>
            </a:solidFill>
            <a:prstDash val="solid"/>
          </a:ln>
        </p:spPr>
      </p:sp>
      <p:sp>
        <p:nvSpPr>
          <p:cNvPr id="24" name="Text 21"/>
          <p:cNvSpPr/>
          <p:nvPr/>
        </p:nvSpPr>
        <p:spPr>
          <a:xfrm>
            <a:off x="4572000" y="4343400"/>
            <a:ext cx="1005840" cy="301752"/>
          </a:xfrm>
          <a:prstGeom prst="rect">
            <a:avLst/>
          </a:prstGeom>
          <a:noFill/>
          <a:ln/>
        </p:spPr>
        <p:txBody>
          <a:bodyPr wrap="square" lIns="0" tIns="0" rIns="0" bIns="0" rtlCol="0" anchor="ctr"/>
          <a:lstStyle/>
          <a:p>
            <a:pPr algn="ctr" indent="0" marL="0">
              <a:buNone/>
            </a:pPr>
            <a:r>
              <a:rPr lang="en-US" sz="1050" b="1" dirty="0">
                <a:solidFill>
                  <a:srgbClr val="37C46E"/>
                </a:solidFill>
                <a:latin typeface="Arial" pitchFamily="34" charset="0"/>
                <a:ea typeface="Arial" pitchFamily="34" charset="-122"/>
                <a:cs typeface="Arial" pitchFamily="34" charset="-120"/>
              </a:rPr>
              <a:t>OK</a:t>
            </a:r>
            <a:endParaRPr lang="en-US" sz="1050" dirty="0"/>
          </a:p>
        </p:txBody>
      </p:sp>
      <p:sp>
        <p:nvSpPr>
          <p:cNvPr id="25" name="Shape 22"/>
          <p:cNvSpPr/>
          <p:nvPr/>
        </p:nvSpPr>
        <p:spPr>
          <a:xfrm>
            <a:off x="960120" y="4828032"/>
            <a:ext cx="4800600" cy="530352"/>
          </a:xfrm>
          <a:prstGeom prst="roundRect">
            <a:avLst>
              <a:gd name="adj" fmla="val 10345"/>
            </a:avLst>
          </a:prstGeom>
          <a:solidFill>
            <a:srgbClr val="0E1E36"/>
          </a:solidFill>
          <a:ln w="9525">
            <a:solidFill>
              <a:srgbClr val="27446F"/>
            </a:solidFill>
            <a:prstDash val="solid"/>
          </a:ln>
        </p:spPr>
      </p:sp>
      <p:sp>
        <p:nvSpPr>
          <p:cNvPr id="26" name="Text 23"/>
          <p:cNvSpPr/>
          <p:nvPr/>
        </p:nvSpPr>
        <p:spPr>
          <a:xfrm>
            <a:off x="1188720" y="4828032"/>
            <a:ext cx="3108960" cy="530352"/>
          </a:xfrm>
          <a:prstGeom prst="rect">
            <a:avLst/>
          </a:prstGeom>
          <a:noFill/>
          <a:ln/>
        </p:spPr>
        <p:txBody>
          <a:bodyPr wrap="square" lIns="0" tIns="0" rIns="0" bIns="0" rtlCol="0" anchor="ctr"/>
          <a:lstStyle/>
          <a:p>
            <a:pPr indent="0" marL="0">
              <a:buNone/>
            </a:pPr>
            <a:r>
              <a:rPr lang="en-US" sz="1300" b="1" dirty="0">
                <a:solidFill>
                  <a:srgbClr val="F2F6FC"/>
                </a:solidFill>
                <a:latin typeface="Calibri" pitchFamily="34" charset="0"/>
                <a:ea typeface="Calibri" pitchFamily="34" charset="-122"/>
                <a:cs typeface="Calibri" pitchFamily="34" charset="-120"/>
              </a:rPr>
              <a:t>Duty crew</a:t>
            </a:r>
            <a:endParaRPr lang="en-US" sz="1300" dirty="0"/>
          </a:p>
        </p:txBody>
      </p:sp>
      <p:sp>
        <p:nvSpPr>
          <p:cNvPr id="27" name="Shape 24"/>
          <p:cNvSpPr/>
          <p:nvPr/>
        </p:nvSpPr>
        <p:spPr>
          <a:xfrm>
            <a:off x="4572000" y="4946904"/>
            <a:ext cx="1005840" cy="301752"/>
          </a:xfrm>
          <a:prstGeom prst="roundRect">
            <a:avLst>
              <a:gd name="adj" fmla="val 48485"/>
            </a:avLst>
          </a:prstGeom>
          <a:solidFill>
            <a:srgbClr val="0A1526"/>
          </a:solidFill>
          <a:ln w="15875">
            <a:solidFill>
              <a:srgbClr val="E8563F"/>
            </a:solidFill>
            <a:prstDash val="solid"/>
          </a:ln>
        </p:spPr>
      </p:sp>
      <p:sp>
        <p:nvSpPr>
          <p:cNvPr id="28" name="Text 25"/>
          <p:cNvSpPr/>
          <p:nvPr/>
        </p:nvSpPr>
        <p:spPr>
          <a:xfrm>
            <a:off x="4572000" y="4946904"/>
            <a:ext cx="1005840" cy="301752"/>
          </a:xfrm>
          <a:prstGeom prst="rect">
            <a:avLst/>
          </a:prstGeom>
          <a:noFill/>
          <a:ln/>
        </p:spPr>
        <p:txBody>
          <a:bodyPr wrap="square" lIns="0" tIns="0" rIns="0" bIns="0" rtlCol="0" anchor="ctr"/>
          <a:lstStyle/>
          <a:p>
            <a:pPr algn="ctr" indent="0" marL="0">
              <a:buNone/>
            </a:pPr>
            <a:r>
              <a:rPr lang="en-US" sz="1050" b="1" dirty="0">
                <a:solidFill>
                  <a:srgbClr val="E8563F"/>
                </a:solidFill>
                <a:latin typeface="Arial" pitchFamily="34" charset="0"/>
                <a:ea typeface="Arial" pitchFamily="34" charset="-122"/>
                <a:cs typeface="Arial" pitchFamily="34" charset="-120"/>
              </a:rPr>
              <a:t>RED</a:t>
            </a:r>
            <a:endParaRPr lang="en-US" sz="1050" dirty="0"/>
          </a:p>
        </p:txBody>
      </p:sp>
      <p:sp>
        <p:nvSpPr>
          <p:cNvPr id="29" name="Text 26"/>
          <p:cNvSpPr/>
          <p:nvPr/>
        </p:nvSpPr>
        <p:spPr>
          <a:xfrm>
            <a:off x="960120" y="5486400"/>
            <a:ext cx="4800600" cy="502920"/>
          </a:xfrm>
          <a:prstGeom prst="rect">
            <a:avLst/>
          </a:prstGeom>
          <a:noFill/>
          <a:ln/>
        </p:spPr>
        <p:txBody>
          <a:bodyPr wrap="square" lIns="0" tIns="0" rIns="0" bIns="0" rtlCol="0" anchor="ctr"/>
          <a:lstStyle/>
          <a:p>
            <a:pPr indent="0" marL="0">
              <a:buNone/>
            </a:pPr>
            <a:r>
              <a:rPr lang="en-US" sz="1150" i="1" dirty="0">
                <a:solidFill>
                  <a:srgbClr val="FFC559"/>
                </a:solidFill>
                <a:latin typeface="Calibri" pitchFamily="34" charset="0"/>
                <a:ea typeface="Calibri" pitchFamily="34" charset="-122"/>
                <a:cs typeface="Calibri" pitchFamily="34" charset="-120"/>
              </a:rPr>
              <a:t>Squadron-editable thresholds. Drop below the line and the row turns amber, then red — the shortfall is impossible to miss.</a:t>
            </a:r>
            <a:endParaRPr lang="en-US" sz="1150" dirty="0"/>
          </a:p>
        </p:txBody>
      </p:sp>
      <p:sp>
        <p:nvSpPr>
          <p:cNvPr id="30" name="Shape 27"/>
          <p:cNvSpPr/>
          <p:nvPr/>
        </p:nvSpPr>
        <p:spPr>
          <a:xfrm>
            <a:off x="6309360" y="1874520"/>
            <a:ext cx="5166360" cy="4206240"/>
          </a:xfrm>
          <a:prstGeom prst="roundRect">
            <a:avLst>
              <a:gd name="adj" fmla="val 2174"/>
            </a:avLst>
          </a:prstGeom>
          <a:solidFill>
            <a:srgbClr val="13294A"/>
          </a:solidFill>
          <a:ln w="12700">
            <a:solidFill>
              <a:srgbClr val="27446F"/>
            </a:solidFill>
            <a:prstDash val="solid"/>
          </a:ln>
        </p:spPr>
      </p:sp>
      <p:sp>
        <p:nvSpPr>
          <p:cNvPr id="31" name="Shape 28"/>
          <p:cNvSpPr/>
          <p:nvPr/>
        </p:nvSpPr>
        <p:spPr>
          <a:xfrm>
            <a:off x="6583680" y="2148840"/>
            <a:ext cx="566928" cy="566928"/>
          </a:xfrm>
          <a:prstGeom prst="ellipse">
            <a:avLst/>
          </a:prstGeom>
          <a:solidFill>
            <a:srgbClr val="0E1E36"/>
          </a:solidFill>
          <a:ln w="19050">
            <a:solidFill>
              <a:srgbClr val="37C46E"/>
            </a:solidFill>
            <a:prstDash val="solid"/>
          </a:ln>
        </p:spPr>
      </p:sp>
      <p:pic>
        <p:nvPicPr>
          <p:cNvPr id="32" name="Image 1" descr="preencoded.png">    </p:cNvPr>
          <p:cNvPicPr>
            <a:picLocks noChangeAspect="1"/>
          </p:cNvPicPr>
          <p:nvPr/>
        </p:nvPicPr>
        <p:blipFill>
          <a:blip r:embed="rId2"/>
          <a:stretch>
            <a:fillRect/>
          </a:stretch>
        </p:blipFill>
        <p:spPr>
          <a:xfrm>
            <a:off x="6731081" y="2296241"/>
            <a:ext cx="272125" cy="272125"/>
          </a:xfrm>
          <a:prstGeom prst="rect">
            <a:avLst/>
          </a:prstGeom>
        </p:spPr>
      </p:pic>
      <p:sp>
        <p:nvSpPr>
          <p:cNvPr id="33" name="Text 29"/>
          <p:cNvSpPr/>
          <p:nvPr/>
        </p:nvSpPr>
        <p:spPr>
          <a:xfrm>
            <a:off x="7360920" y="2194560"/>
            <a:ext cx="3840480" cy="32004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PLANNING CALENDAR</a:t>
            </a:r>
            <a:endParaRPr lang="en-US" sz="1600" dirty="0"/>
          </a:p>
        </p:txBody>
      </p:sp>
      <p:sp>
        <p:nvSpPr>
          <p:cNvPr id="34" name="Text 30"/>
          <p:cNvSpPr/>
          <p:nvPr/>
        </p:nvSpPr>
        <p:spPr>
          <a:xfrm>
            <a:off x="7360920" y="2542032"/>
            <a:ext cx="3931920" cy="320040"/>
          </a:xfrm>
          <a:prstGeom prst="rect">
            <a:avLst/>
          </a:prstGeom>
          <a:noFill/>
          <a:ln/>
        </p:spPr>
        <p:txBody>
          <a:bodyPr wrap="square" lIns="0" tIns="0" rIns="0" bIns="0" rtlCol="0" anchor="ctr"/>
          <a:lstStyle/>
          <a:p>
            <a:pPr indent="0" marL="0">
              <a:buNone/>
            </a:pPr>
            <a:r>
              <a:rPr lang="en-US" sz="1200" dirty="0">
                <a:solidFill>
                  <a:srgbClr val="94A9C9"/>
                </a:solidFill>
                <a:latin typeface="Calibri" pitchFamily="34" charset="0"/>
                <a:ea typeface="Calibri" pitchFamily="34" charset="-122"/>
                <a:cs typeface="Calibri" pitchFamily="34" charset="-120"/>
              </a:rPr>
              <a:t>Lay out manpower across the month</a:t>
            </a:r>
            <a:endParaRPr lang="en-US" sz="1200" dirty="0"/>
          </a:p>
        </p:txBody>
      </p:sp>
      <p:sp>
        <p:nvSpPr>
          <p:cNvPr id="35" name="Shape 31"/>
          <p:cNvSpPr/>
          <p:nvPr/>
        </p:nvSpPr>
        <p:spPr>
          <a:xfrm>
            <a:off x="6583680" y="3108960"/>
            <a:ext cx="457200" cy="457200"/>
          </a:xfrm>
          <a:prstGeom prst="ellipse">
            <a:avLst/>
          </a:prstGeom>
          <a:solidFill>
            <a:srgbClr val="0E1E36"/>
          </a:solidFill>
          <a:ln w="19050">
            <a:solidFill>
              <a:srgbClr val="37C46E"/>
            </a:solidFill>
            <a:prstDash val="solid"/>
          </a:ln>
        </p:spPr>
      </p:sp>
      <p:pic>
        <p:nvPicPr>
          <p:cNvPr id="36" name="Image 2" descr="preencoded.png">    </p:cNvPr>
          <p:cNvPicPr>
            <a:picLocks noChangeAspect="1"/>
          </p:cNvPicPr>
          <p:nvPr/>
        </p:nvPicPr>
        <p:blipFill>
          <a:blip r:embed="rId3"/>
          <a:stretch>
            <a:fillRect/>
          </a:stretch>
        </p:blipFill>
        <p:spPr>
          <a:xfrm>
            <a:off x="6702552" y="3227832"/>
            <a:ext cx="219456" cy="219456"/>
          </a:xfrm>
          <a:prstGeom prst="rect">
            <a:avLst/>
          </a:prstGeom>
        </p:spPr>
      </p:pic>
      <p:sp>
        <p:nvSpPr>
          <p:cNvPr id="37" name="Text 32"/>
          <p:cNvSpPr/>
          <p:nvPr/>
        </p:nvSpPr>
        <p:spPr>
          <a:xfrm>
            <a:off x="7178040" y="3072384"/>
            <a:ext cx="4114800" cy="292608"/>
          </a:xfrm>
          <a:prstGeom prst="rect">
            <a:avLst/>
          </a:prstGeom>
          <a:noFill/>
          <a:ln/>
        </p:spPr>
        <p:txBody>
          <a:bodyPr wrap="square" lIns="0" tIns="0" rIns="0" bIns="0" rtlCol="0" anchor="ctr"/>
          <a:lstStyle/>
          <a:p>
            <a:pPr indent="0" marL="0">
              <a:buNone/>
            </a:pPr>
            <a:r>
              <a:rPr lang="en-US" sz="1350" b="1" dirty="0">
                <a:solidFill>
                  <a:srgbClr val="F2F6FC"/>
                </a:solidFill>
                <a:latin typeface="Arial" pitchFamily="34" charset="0"/>
                <a:ea typeface="Arial" pitchFamily="34" charset="-122"/>
                <a:cs typeface="Arial" pitchFamily="34" charset="-120"/>
              </a:rPr>
              <a:t>Month at a glance</a:t>
            </a:r>
            <a:endParaRPr lang="en-US" sz="1350" dirty="0"/>
          </a:p>
        </p:txBody>
      </p:sp>
      <p:sp>
        <p:nvSpPr>
          <p:cNvPr id="38" name="Text 33"/>
          <p:cNvSpPr/>
          <p:nvPr/>
        </p:nvSpPr>
        <p:spPr>
          <a:xfrm>
            <a:off x="7178040" y="3364992"/>
            <a:ext cx="4114800" cy="45720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Every day's inputs and pucks in one view, colour-coded by category.</a:t>
            </a:r>
            <a:endParaRPr lang="en-US" sz="1100" dirty="0"/>
          </a:p>
        </p:txBody>
      </p:sp>
      <p:sp>
        <p:nvSpPr>
          <p:cNvPr id="39" name="Shape 34"/>
          <p:cNvSpPr/>
          <p:nvPr/>
        </p:nvSpPr>
        <p:spPr>
          <a:xfrm>
            <a:off x="6583680" y="4005072"/>
            <a:ext cx="457200" cy="457200"/>
          </a:xfrm>
          <a:prstGeom prst="ellipse">
            <a:avLst/>
          </a:prstGeom>
          <a:solidFill>
            <a:srgbClr val="0E1E36"/>
          </a:solidFill>
          <a:ln w="19050">
            <a:solidFill>
              <a:srgbClr val="37C46E"/>
            </a:solidFill>
            <a:prstDash val="solid"/>
          </a:ln>
        </p:spPr>
      </p:sp>
      <p:pic>
        <p:nvPicPr>
          <p:cNvPr id="40" name="Image 3" descr="preencoded.png">    </p:cNvPr>
          <p:cNvPicPr>
            <a:picLocks noChangeAspect="1"/>
          </p:cNvPicPr>
          <p:nvPr/>
        </p:nvPicPr>
        <p:blipFill>
          <a:blip r:embed="rId4"/>
          <a:stretch>
            <a:fillRect/>
          </a:stretch>
        </p:blipFill>
        <p:spPr>
          <a:xfrm>
            <a:off x="6702552" y="4123944"/>
            <a:ext cx="219456" cy="219456"/>
          </a:xfrm>
          <a:prstGeom prst="rect">
            <a:avLst/>
          </a:prstGeom>
        </p:spPr>
      </p:pic>
      <p:sp>
        <p:nvSpPr>
          <p:cNvPr id="41" name="Text 35"/>
          <p:cNvSpPr/>
          <p:nvPr/>
        </p:nvSpPr>
        <p:spPr>
          <a:xfrm>
            <a:off x="7178040" y="3968496"/>
            <a:ext cx="4114800" cy="292608"/>
          </a:xfrm>
          <a:prstGeom prst="rect">
            <a:avLst/>
          </a:prstGeom>
          <a:noFill/>
          <a:ln/>
        </p:spPr>
        <p:txBody>
          <a:bodyPr wrap="square" lIns="0" tIns="0" rIns="0" bIns="0" rtlCol="0" anchor="ctr"/>
          <a:lstStyle/>
          <a:p>
            <a:pPr indent="0" marL="0">
              <a:buNone/>
            </a:pPr>
            <a:r>
              <a:rPr lang="en-US" sz="1350" b="1" dirty="0">
                <a:solidFill>
                  <a:srgbClr val="F2F6FC"/>
                </a:solidFill>
                <a:latin typeface="Arial" pitchFamily="34" charset="0"/>
                <a:ea typeface="Arial" pitchFamily="34" charset="-122"/>
                <a:cs typeface="Arial" pitchFamily="34" charset="-120"/>
              </a:rPr>
              <a:t>Drag &amp; hold-to-add</a:t>
            </a:r>
            <a:endParaRPr lang="en-US" sz="1350" dirty="0"/>
          </a:p>
        </p:txBody>
      </p:sp>
      <p:sp>
        <p:nvSpPr>
          <p:cNvPr id="42" name="Text 36"/>
          <p:cNvSpPr/>
          <p:nvPr/>
        </p:nvSpPr>
        <p:spPr>
          <a:xfrm>
            <a:off x="7178040" y="4261104"/>
            <a:ext cx="4114800" cy="45720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Drag crew between days, hold a day to add — plan ahead in seconds.</a:t>
            </a:r>
            <a:endParaRPr lang="en-US" sz="1100" dirty="0"/>
          </a:p>
        </p:txBody>
      </p:sp>
      <p:sp>
        <p:nvSpPr>
          <p:cNvPr id="43" name="Shape 37"/>
          <p:cNvSpPr/>
          <p:nvPr/>
        </p:nvSpPr>
        <p:spPr>
          <a:xfrm>
            <a:off x="6583680" y="4901184"/>
            <a:ext cx="457200" cy="457200"/>
          </a:xfrm>
          <a:prstGeom prst="ellipse">
            <a:avLst/>
          </a:prstGeom>
          <a:solidFill>
            <a:srgbClr val="0E1E36"/>
          </a:solidFill>
          <a:ln w="19050">
            <a:solidFill>
              <a:srgbClr val="37C46E"/>
            </a:solidFill>
            <a:prstDash val="solid"/>
          </a:ln>
        </p:spPr>
      </p:sp>
      <p:pic>
        <p:nvPicPr>
          <p:cNvPr id="44" name="Image 4" descr="preencoded.png">    </p:cNvPr>
          <p:cNvPicPr>
            <a:picLocks noChangeAspect="1"/>
          </p:cNvPicPr>
          <p:nvPr/>
        </p:nvPicPr>
        <p:blipFill>
          <a:blip r:embed="rId5"/>
          <a:stretch>
            <a:fillRect/>
          </a:stretch>
        </p:blipFill>
        <p:spPr>
          <a:xfrm>
            <a:off x="6702552" y="5020056"/>
            <a:ext cx="219456" cy="219456"/>
          </a:xfrm>
          <a:prstGeom prst="rect">
            <a:avLst/>
          </a:prstGeom>
        </p:spPr>
      </p:pic>
      <p:sp>
        <p:nvSpPr>
          <p:cNvPr id="45" name="Text 38"/>
          <p:cNvSpPr/>
          <p:nvPr/>
        </p:nvSpPr>
        <p:spPr>
          <a:xfrm>
            <a:off x="7178040" y="4864608"/>
            <a:ext cx="4114800" cy="292608"/>
          </a:xfrm>
          <a:prstGeom prst="rect">
            <a:avLst/>
          </a:prstGeom>
          <a:noFill/>
          <a:ln/>
        </p:spPr>
        <p:txBody>
          <a:bodyPr wrap="square" lIns="0" tIns="0" rIns="0" bIns="0" rtlCol="0" anchor="ctr"/>
          <a:lstStyle/>
          <a:p>
            <a:pPr indent="0" marL="0">
              <a:buNone/>
            </a:pPr>
            <a:r>
              <a:rPr lang="en-US" sz="1350" b="1" dirty="0">
                <a:solidFill>
                  <a:srgbClr val="F2F6FC"/>
                </a:solidFill>
                <a:latin typeface="Arial" pitchFamily="34" charset="0"/>
                <a:ea typeface="Arial" pitchFamily="34" charset="-122"/>
                <a:cs typeface="Arial" pitchFamily="34" charset="-120"/>
              </a:rPr>
              <a:t>Multi-select picker</a:t>
            </a:r>
            <a:endParaRPr lang="en-US" sz="1350" dirty="0"/>
          </a:p>
        </p:txBody>
      </p:sp>
      <p:sp>
        <p:nvSpPr>
          <p:cNvPr id="46" name="Text 39"/>
          <p:cNvSpPr/>
          <p:nvPr/>
        </p:nvSpPr>
        <p:spPr>
          <a:xfrm>
            <a:off x="7178040" y="5157216"/>
            <a:ext cx="4114800" cy="457200"/>
          </a:xfrm>
          <a:prstGeom prst="rect">
            <a:avLst/>
          </a:prstGeom>
          <a:noFill/>
          <a:ln/>
        </p:spPr>
        <p:txBody>
          <a:bodyPr wrap="square" lIns="0" tIns="0" rIns="0" bIns="0" rtlCol="0" anchor="ctr"/>
          <a:lstStyle/>
          <a:p>
            <a:pPr indent="0" marL="0">
              <a:buNone/>
            </a:pPr>
            <a:r>
              <a:rPr lang="en-US" sz="1100" dirty="0">
                <a:solidFill>
                  <a:srgbClr val="94A9C9"/>
                </a:solidFill>
                <a:latin typeface="Calibri" pitchFamily="34" charset="0"/>
                <a:ea typeface="Calibri" pitchFamily="34" charset="-122"/>
                <a:cs typeface="Calibri" pitchFamily="34" charset="-120"/>
              </a:rPr>
              <a:t>Assign a whole group to a day in one batch.</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E36"/>
        </a:solidFill>
      </p:bgPr>
    </p:bg>
    <p:spTree>
      <p:nvGrpSpPr>
        <p:cNvPr id="1" name=""/>
        <p:cNvGrpSpPr/>
        <p:nvPr/>
      </p:nvGrpSpPr>
      <p:grpSpPr>
        <a:xfrm>
          <a:off x="0" y="0"/>
          <a:ext cx="0" cy="0"/>
          <a:chOff x="0" y="0"/>
          <a:chExt cx="0" cy="0"/>
        </a:xfrm>
      </p:grpSpPr>
      <p:sp>
        <p:nvSpPr>
          <p:cNvPr id="2" name="Text 0"/>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09</a:t>
            </a:r>
            <a:endParaRPr lang="en-US" sz="1000" dirty="0"/>
          </a:p>
        </p:txBody>
      </p:sp>
      <p:sp>
        <p:nvSpPr>
          <p:cNvPr id="3" name="Text 1"/>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4" name="Text 2"/>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THE NEXT THREE MONTHS</a:t>
            </a:r>
            <a:endParaRPr lang="en-US" sz="1250" dirty="0"/>
          </a:p>
        </p:txBody>
      </p:sp>
      <p:sp>
        <p:nvSpPr>
          <p:cNvPr id="5" name="Text 3"/>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Where RAPTOR is going</a:t>
            </a:r>
            <a:endParaRPr lang="en-US" sz="3400" dirty="0"/>
          </a:p>
        </p:txBody>
      </p:sp>
      <p:sp>
        <p:nvSpPr>
          <p:cNvPr id="6" name="Text 4"/>
          <p:cNvSpPr/>
          <p:nvPr/>
        </p:nvSpPr>
        <p:spPr>
          <a:xfrm>
            <a:off x="685800" y="1645920"/>
            <a:ext cx="10789920" cy="457200"/>
          </a:xfrm>
          <a:prstGeom prst="rect">
            <a:avLst/>
          </a:prstGeom>
          <a:noFill/>
          <a:ln/>
        </p:spPr>
        <p:txBody>
          <a:bodyPr wrap="square" lIns="0" tIns="0" rIns="0" bIns="0" rtlCol="0" anchor="ctr"/>
          <a:lstStyle/>
          <a:p>
            <a:pPr indent="0" marL="0">
              <a:buNone/>
            </a:pPr>
            <a:r>
              <a:rPr lang="en-US" sz="1450" dirty="0">
                <a:solidFill>
                  <a:srgbClr val="94A9C9"/>
                </a:solidFill>
                <a:latin typeface="Calibri" pitchFamily="34" charset="0"/>
                <a:ea typeface="Calibri" pitchFamily="34" charset="-122"/>
                <a:cs typeface="Calibri" pitchFamily="34" charset="-120"/>
              </a:rPr>
              <a:t>The core is built. The near-term work hardens it for real squadron use — and adds the tracking tools commanders asked for.</a:t>
            </a:r>
            <a:endParaRPr lang="en-US" sz="1450" dirty="0"/>
          </a:p>
        </p:txBody>
      </p:sp>
      <p:sp>
        <p:nvSpPr>
          <p:cNvPr id="7" name="Shape 5"/>
          <p:cNvSpPr/>
          <p:nvPr/>
        </p:nvSpPr>
        <p:spPr>
          <a:xfrm>
            <a:off x="685800" y="2377440"/>
            <a:ext cx="10789920" cy="877824"/>
          </a:xfrm>
          <a:prstGeom prst="roundRect">
            <a:avLst>
              <a:gd name="adj" fmla="val 8333"/>
            </a:avLst>
          </a:prstGeom>
          <a:solidFill>
            <a:srgbClr val="13294A"/>
          </a:solidFill>
          <a:ln w="12700">
            <a:solidFill>
              <a:srgbClr val="27446F"/>
            </a:solidFill>
            <a:prstDash val="solid"/>
          </a:ln>
        </p:spPr>
      </p:sp>
      <p:sp>
        <p:nvSpPr>
          <p:cNvPr id="8" name="Shape 6"/>
          <p:cNvSpPr/>
          <p:nvPr/>
        </p:nvSpPr>
        <p:spPr>
          <a:xfrm>
            <a:off x="914400" y="2560320"/>
            <a:ext cx="512064" cy="512064"/>
          </a:xfrm>
          <a:prstGeom prst="ellipse">
            <a:avLst/>
          </a:prstGeom>
          <a:solidFill>
            <a:srgbClr val="0E1E36"/>
          </a:solidFill>
          <a:ln w="19050">
            <a:solidFill>
              <a:srgbClr val="F5A623"/>
            </a:solidFill>
            <a:prstDash val="solid"/>
          </a:ln>
        </p:spPr>
      </p:sp>
      <p:pic>
        <p:nvPicPr>
          <p:cNvPr id="9" name="Image 0" descr="preencoded.png">    </p:cNvPr>
          <p:cNvPicPr>
            <a:picLocks noChangeAspect="1"/>
          </p:cNvPicPr>
          <p:nvPr/>
        </p:nvPicPr>
        <p:blipFill>
          <a:blip r:embed="rId1"/>
          <a:stretch>
            <a:fillRect/>
          </a:stretch>
        </p:blipFill>
        <p:spPr>
          <a:xfrm>
            <a:off x="1047537" y="2693457"/>
            <a:ext cx="245791" cy="245791"/>
          </a:xfrm>
          <a:prstGeom prst="rect">
            <a:avLst/>
          </a:prstGeom>
        </p:spPr>
      </p:pic>
      <p:sp>
        <p:nvSpPr>
          <p:cNvPr id="10" name="Text 7"/>
          <p:cNvSpPr/>
          <p:nvPr/>
        </p:nvSpPr>
        <p:spPr>
          <a:xfrm>
            <a:off x="1600200" y="2478024"/>
            <a:ext cx="3200400" cy="36576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Robustness &amp; testing</a:t>
            </a:r>
            <a:endParaRPr lang="en-US" sz="1600" dirty="0"/>
          </a:p>
        </p:txBody>
      </p:sp>
      <p:sp>
        <p:nvSpPr>
          <p:cNvPr id="11" name="Text 8"/>
          <p:cNvSpPr/>
          <p:nvPr/>
        </p:nvSpPr>
        <p:spPr>
          <a:xfrm>
            <a:off x="4709160" y="2468880"/>
            <a:ext cx="5120640" cy="713232"/>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Extensive testing with the RAID office to prove the product holds up in daily operational use.</a:t>
            </a:r>
            <a:endParaRPr lang="en-US" sz="1250" dirty="0"/>
          </a:p>
        </p:txBody>
      </p:sp>
      <p:sp>
        <p:nvSpPr>
          <p:cNvPr id="12" name="Shape 9"/>
          <p:cNvSpPr/>
          <p:nvPr/>
        </p:nvSpPr>
        <p:spPr>
          <a:xfrm>
            <a:off x="10012680" y="2651760"/>
            <a:ext cx="1280160" cy="329184"/>
          </a:xfrm>
          <a:prstGeom prst="roundRect">
            <a:avLst>
              <a:gd name="adj" fmla="val 50000"/>
            </a:avLst>
          </a:prstGeom>
          <a:solidFill>
            <a:srgbClr val="0A1526"/>
          </a:solidFill>
          <a:ln w="15875">
            <a:solidFill>
              <a:srgbClr val="F5A623"/>
            </a:solidFill>
            <a:prstDash val="solid"/>
          </a:ln>
        </p:spPr>
      </p:sp>
      <p:sp>
        <p:nvSpPr>
          <p:cNvPr id="13" name="Text 10"/>
          <p:cNvSpPr/>
          <p:nvPr/>
        </p:nvSpPr>
        <p:spPr>
          <a:xfrm>
            <a:off x="10012680" y="2651760"/>
            <a:ext cx="1280160" cy="329184"/>
          </a:xfrm>
          <a:prstGeom prst="rect">
            <a:avLst/>
          </a:prstGeom>
          <a:noFill/>
          <a:ln/>
        </p:spPr>
        <p:txBody>
          <a:bodyPr wrap="square" lIns="0" tIns="0" rIns="0" bIns="0" rtlCol="0" anchor="ctr"/>
          <a:lstStyle/>
          <a:p>
            <a:pPr algn="ctr" indent="0" marL="0">
              <a:buNone/>
            </a:pPr>
            <a:r>
              <a:rPr lang="en-US" sz="900" b="1" spc="100" kern="0" dirty="0">
                <a:solidFill>
                  <a:srgbClr val="F5A623"/>
                </a:solidFill>
                <a:latin typeface="Arial" pitchFamily="34" charset="0"/>
                <a:ea typeface="Arial" pitchFamily="34" charset="-122"/>
                <a:cs typeface="Arial" pitchFamily="34" charset="-120"/>
              </a:rPr>
              <a:t>IN PROGRESS</a:t>
            </a:r>
            <a:endParaRPr lang="en-US" sz="900" dirty="0"/>
          </a:p>
        </p:txBody>
      </p:sp>
      <p:sp>
        <p:nvSpPr>
          <p:cNvPr id="14" name="Shape 11"/>
          <p:cNvSpPr/>
          <p:nvPr/>
        </p:nvSpPr>
        <p:spPr>
          <a:xfrm>
            <a:off x="685800" y="3364992"/>
            <a:ext cx="10789920" cy="877824"/>
          </a:xfrm>
          <a:prstGeom prst="roundRect">
            <a:avLst>
              <a:gd name="adj" fmla="val 8333"/>
            </a:avLst>
          </a:prstGeom>
          <a:solidFill>
            <a:srgbClr val="13294A"/>
          </a:solidFill>
          <a:ln w="12700">
            <a:solidFill>
              <a:srgbClr val="27446F"/>
            </a:solidFill>
            <a:prstDash val="solid"/>
          </a:ln>
        </p:spPr>
      </p:sp>
      <p:sp>
        <p:nvSpPr>
          <p:cNvPr id="15" name="Shape 12"/>
          <p:cNvSpPr/>
          <p:nvPr/>
        </p:nvSpPr>
        <p:spPr>
          <a:xfrm>
            <a:off x="914400" y="3547872"/>
            <a:ext cx="512064" cy="512064"/>
          </a:xfrm>
          <a:prstGeom prst="ellipse">
            <a:avLst/>
          </a:prstGeom>
          <a:solidFill>
            <a:srgbClr val="0E1E36"/>
          </a:solidFill>
          <a:ln w="19050">
            <a:solidFill>
              <a:srgbClr val="6FA8DC"/>
            </a:solidFill>
            <a:prstDash val="solid"/>
          </a:ln>
        </p:spPr>
      </p:sp>
      <p:pic>
        <p:nvPicPr>
          <p:cNvPr id="16" name="Image 1" descr="preencoded.png">    </p:cNvPr>
          <p:cNvPicPr>
            <a:picLocks noChangeAspect="1"/>
          </p:cNvPicPr>
          <p:nvPr/>
        </p:nvPicPr>
        <p:blipFill>
          <a:blip r:embed="rId2"/>
          <a:stretch>
            <a:fillRect/>
          </a:stretch>
        </p:blipFill>
        <p:spPr>
          <a:xfrm>
            <a:off x="1047537" y="3681009"/>
            <a:ext cx="245791" cy="245791"/>
          </a:xfrm>
          <a:prstGeom prst="rect">
            <a:avLst/>
          </a:prstGeom>
        </p:spPr>
      </p:pic>
      <p:sp>
        <p:nvSpPr>
          <p:cNvPr id="17" name="Text 13"/>
          <p:cNvSpPr/>
          <p:nvPr/>
        </p:nvSpPr>
        <p:spPr>
          <a:xfrm>
            <a:off x="1600200" y="3465576"/>
            <a:ext cx="3200400" cy="36576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Medical leave &amp; up-chit</a:t>
            </a:r>
            <a:endParaRPr lang="en-US" sz="1600" dirty="0"/>
          </a:p>
        </p:txBody>
      </p:sp>
      <p:sp>
        <p:nvSpPr>
          <p:cNvPr id="18" name="Text 14"/>
          <p:cNvSpPr/>
          <p:nvPr/>
        </p:nvSpPr>
        <p:spPr>
          <a:xfrm>
            <a:off x="4709160" y="3456432"/>
            <a:ext cx="5120640" cy="713232"/>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A dedicated place to file medical leave and up-chits — and to be reminded when they lapse.</a:t>
            </a:r>
            <a:endParaRPr lang="en-US" sz="1250" dirty="0"/>
          </a:p>
        </p:txBody>
      </p:sp>
      <p:sp>
        <p:nvSpPr>
          <p:cNvPr id="19" name="Shape 15"/>
          <p:cNvSpPr/>
          <p:nvPr/>
        </p:nvSpPr>
        <p:spPr>
          <a:xfrm>
            <a:off x="10012680" y="3639312"/>
            <a:ext cx="1280160" cy="329184"/>
          </a:xfrm>
          <a:prstGeom prst="roundRect">
            <a:avLst>
              <a:gd name="adj" fmla="val 50000"/>
            </a:avLst>
          </a:prstGeom>
          <a:solidFill>
            <a:srgbClr val="0A1526"/>
          </a:solidFill>
          <a:ln w="15875">
            <a:solidFill>
              <a:srgbClr val="6FA8DC"/>
            </a:solidFill>
            <a:prstDash val="solid"/>
          </a:ln>
        </p:spPr>
      </p:sp>
      <p:sp>
        <p:nvSpPr>
          <p:cNvPr id="20" name="Text 16"/>
          <p:cNvSpPr/>
          <p:nvPr/>
        </p:nvSpPr>
        <p:spPr>
          <a:xfrm>
            <a:off x="10012680" y="3639312"/>
            <a:ext cx="1280160" cy="329184"/>
          </a:xfrm>
          <a:prstGeom prst="rect">
            <a:avLst/>
          </a:prstGeom>
          <a:noFill/>
          <a:ln/>
        </p:spPr>
        <p:txBody>
          <a:bodyPr wrap="square" lIns="0" tIns="0" rIns="0" bIns="0" rtlCol="0" anchor="ctr"/>
          <a:lstStyle/>
          <a:p>
            <a:pPr algn="ctr" indent="0" marL="0">
              <a:buNone/>
            </a:pPr>
            <a:r>
              <a:rPr lang="en-US" sz="900" b="1" spc="100" kern="0" dirty="0">
                <a:solidFill>
                  <a:srgbClr val="6FA8DC"/>
                </a:solidFill>
                <a:latin typeface="Arial" pitchFamily="34" charset="0"/>
                <a:ea typeface="Arial" pitchFamily="34" charset="-122"/>
                <a:cs typeface="Arial" pitchFamily="34" charset="-120"/>
              </a:rPr>
              <a:t>NEAR TERM</a:t>
            </a:r>
            <a:endParaRPr lang="en-US" sz="900" dirty="0"/>
          </a:p>
        </p:txBody>
      </p:sp>
      <p:sp>
        <p:nvSpPr>
          <p:cNvPr id="21" name="Shape 17"/>
          <p:cNvSpPr/>
          <p:nvPr/>
        </p:nvSpPr>
        <p:spPr>
          <a:xfrm>
            <a:off x="685800" y="4352544"/>
            <a:ext cx="10789920" cy="877824"/>
          </a:xfrm>
          <a:prstGeom prst="roundRect">
            <a:avLst>
              <a:gd name="adj" fmla="val 8333"/>
            </a:avLst>
          </a:prstGeom>
          <a:solidFill>
            <a:srgbClr val="13294A"/>
          </a:solidFill>
          <a:ln w="12700">
            <a:solidFill>
              <a:srgbClr val="27446F"/>
            </a:solidFill>
            <a:prstDash val="solid"/>
          </a:ln>
        </p:spPr>
      </p:sp>
      <p:sp>
        <p:nvSpPr>
          <p:cNvPr id="22" name="Shape 18"/>
          <p:cNvSpPr/>
          <p:nvPr/>
        </p:nvSpPr>
        <p:spPr>
          <a:xfrm>
            <a:off x="914400" y="4535424"/>
            <a:ext cx="512064" cy="512064"/>
          </a:xfrm>
          <a:prstGeom prst="ellipse">
            <a:avLst/>
          </a:prstGeom>
          <a:solidFill>
            <a:srgbClr val="0E1E36"/>
          </a:solidFill>
          <a:ln w="19050">
            <a:solidFill>
              <a:srgbClr val="6FA8DC"/>
            </a:solidFill>
            <a:prstDash val="solid"/>
          </a:ln>
        </p:spPr>
      </p:sp>
      <p:pic>
        <p:nvPicPr>
          <p:cNvPr id="23" name="Image 2" descr="preencoded.png">    </p:cNvPr>
          <p:cNvPicPr>
            <a:picLocks noChangeAspect="1"/>
          </p:cNvPicPr>
          <p:nvPr/>
        </p:nvPicPr>
        <p:blipFill>
          <a:blip r:embed="rId3"/>
          <a:stretch>
            <a:fillRect/>
          </a:stretch>
        </p:blipFill>
        <p:spPr>
          <a:xfrm>
            <a:off x="1047537" y="4668561"/>
            <a:ext cx="245791" cy="245791"/>
          </a:xfrm>
          <a:prstGeom prst="rect">
            <a:avLst/>
          </a:prstGeom>
        </p:spPr>
      </p:pic>
      <p:sp>
        <p:nvSpPr>
          <p:cNvPr id="24" name="Text 19"/>
          <p:cNvSpPr/>
          <p:nvPr/>
        </p:nvSpPr>
        <p:spPr>
          <a:xfrm>
            <a:off x="1600200" y="4453128"/>
            <a:ext cx="3200400" cy="36576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Reminders</a:t>
            </a:r>
            <a:endParaRPr lang="en-US" sz="1600" dirty="0"/>
          </a:p>
        </p:txBody>
      </p:sp>
      <p:sp>
        <p:nvSpPr>
          <p:cNvPr id="25" name="Text 20"/>
          <p:cNvSpPr/>
          <p:nvPr/>
        </p:nvSpPr>
        <p:spPr>
          <a:xfrm>
            <a:off x="4709160" y="4443984"/>
            <a:ext cx="5120640" cy="713232"/>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The system prompts on expiries and returns, so nothing is tracked on a personal note.</a:t>
            </a:r>
            <a:endParaRPr lang="en-US" sz="1250" dirty="0"/>
          </a:p>
        </p:txBody>
      </p:sp>
      <p:sp>
        <p:nvSpPr>
          <p:cNvPr id="26" name="Shape 21"/>
          <p:cNvSpPr/>
          <p:nvPr/>
        </p:nvSpPr>
        <p:spPr>
          <a:xfrm>
            <a:off x="10012680" y="4626864"/>
            <a:ext cx="1280160" cy="329184"/>
          </a:xfrm>
          <a:prstGeom prst="roundRect">
            <a:avLst>
              <a:gd name="adj" fmla="val 50000"/>
            </a:avLst>
          </a:prstGeom>
          <a:solidFill>
            <a:srgbClr val="0A1526"/>
          </a:solidFill>
          <a:ln w="15875">
            <a:solidFill>
              <a:srgbClr val="6FA8DC"/>
            </a:solidFill>
            <a:prstDash val="solid"/>
          </a:ln>
        </p:spPr>
      </p:sp>
      <p:sp>
        <p:nvSpPr>
          <p:cNvPr id="27" name="Text 22"/>
          <p:cNvSpPr/>
          <p:nvPr/>
        </p:nvSpPr>
        <p:spPr>
          <a:xfrm>
            <a:off x="10012680" y="4626864"/>
            <a:ext cx="1280160" cy="329184"/>
          </a:xfrm>
          <a:prstGeom prst="rect">
            <a:avLst/>
          </a:prstGeom>
          <a:noFill/>
          <a:ln/>
        </p:spPr>
        <p:txBody>
          <a:bodyPr wrap="square" lIns="0" tIns="0" rIns="0" bIns="0" rtlCol="0" anchor="ctr"/>
          <a:lstStyle/>
          <a:p>
            <a:pPr algn="ctr" indent="0" marL="0">
              <a:buNone/>
            </a:pPr>
            <a:r>
              <a:rPr lang="en-US" sz="900" b="1" spc="100" kern="0" dirty="0">
                <a:solidFill>
                  <a:srgbClr val="6FA8DC"/>
                </a:solidFill>
                <a:latin typeface="Arial" pitchFamily="34" charset="0"/>
                <a:ea typeface="Arial" pitchFamily="34" charset="-122"/>
                <a:cs typeface="Arial" pitchFamily="34" charset="-120"/>
              </a:rPr>
              <a:t>NEAR TERM</a:t>
            </a:r>
            <a:endParaRPr lang="en-US" sz="900" dirty="0"/>
          </a:p>
        </p:txBody>
      </p:sp>
      <p:sp>
        <p:nvSpPr>
          <p:cNvPr id="28" name="Shape 23"/>
          <p:cNvSpPr/>
          <p:nvPr/>
        </p:nvSpPr>
        <p:spPr>
          <a:xfrm>
            <a:off x="685800" y="5340096"/>
            <a:ext cx="10789920" cy="877824"/>
          </a:xfrm>
          <a:prstGeom prst="roundRect">
            <a:avLst>
              <a:gd name="adj" fmla="val 8333"/>
            </a:avLst>
          </a:prstGeom>
          <a:solidFill>
            <a:srgbClr val="13294A"/>
          </a:solidFill>
          <a:ln w="12700">
            <a:solidFill>
              <a:srgbClr val="27446F"/>
            </a:solidFill>
            <a:prstDash val="solid"/>
          </a:ln>
        </p:spPr>
      </p:sp>
      <p:sp>
        <p:nvSpPr>
          <p:cNvPr id="29" name="Shape 24"/>
          <p:cNvSpPr/>
          <p:nvPr/>
        </p:nvSpPr>
        <p:spPr>
          <a:xfrm>
            <a:off x="914400" y="5522976"/>
            <a:ext cx="512064" cy="512064"/>
          </a:xfrm>
          <a:prstGeom prst="ellipse">
            <a:avLst/>
          </a:prstGeom>
          <a:solidFill>
            <a:srgbClr val="0E1E36"/>
          </a:solidFill>
          <a:ln w="19050">
            <a:solidFill>
              <a:srgbClr val="37C46E"/>
            </a:solidFill>
            <a:prstDash val="solid"/>
          </a:ln>
        </p:spPr>
      </p:sp>
      <p:pic>
        <p:nvPicPr>
          <p:cNvPr id="30" name="Image 3" descr="preencoded.png">    </p:cNvPr>
          <p:cNvPicPr>
            <a:picLocks noChangeAspect="1"/>
          </p:cNvPicPr>
          <p:nvPr/>
        </p:nvPicPr>
        <p:blipFill>
          <a:blip r:embed="rId4"/>
          <a:stretch>
            <a:fillRect/>
          </a:stretch>
        </p:blipFill>
        <p:spPr>
          <a:xfrm>
            <a:off x="1047537" y="5656113"/>
            <a:ext cx="245791" cy="245791"/>
          </a:xfrm>
          <a:prstGeom prst="rect">
            <a:avLst/>
          </a:prstGeom>
        </p:spPr>
      </p:pic>
      <p:sp>
        <p:nvSpPr>
          <p:cNvPr id="31" name="Text 25"/>
          <p:cNvSpPr/>
          <p:nvPr/>
        </p:nvSpPr>
        <p:spPr>
          <a:xfrm>
            <a:off x="1600200" y="5440680"/>
            <a:ext cx="3200400" cy="365760"/>
          </a:xfrm>
          <a:prstGeom prst="rect">
            <a:avLst/>
          </a:prstGeom>
          <a:noFill/>
          <a:ln/>
        </p:spPr>
        <p:txBody>
          <a:bodyPr wrap="square" lIns="0" tIns="0" rIns="0" bIns="0" rtlCol="0" anchor="ctr"/>
          <a:lstStyle/>
          <a:p>
            <a:pPr indent="0" marL="0">
              <a:buNone/>
            </a:pPr>
            <a:r>
              <a:rPr lang="en-US" sz="1600" b="1" dirty="0">
                <a:solidFill>
                  <a:srgbClr val="F2F6FC"/>
                </a:solidFill>
                <a:latin typeface="Arial" pitchFamily="34" charset="0"/>
                <a:ea typeface="Arial" pitchFamily="34" charset="-122"/>
                <a:cs typeface="Arial" pitchFamily="34" charset="-120"/>
              </a:rPr>
              <a:t>Upgrade tracker</a:t>
            </a:r>
            <a:endParaRPr lang="en-US" sz="1600" dirty="0"/>
          </a:p>
        </p:txBody>
      </p:sp>
      <p:sp>
        <p:nvSpPr>
          <p:cNvPr id="32" name="Text 26"/>
          <p:cNvSpPr/>
          <p:nvPr/>
        </p:nvSpPr>
        <p:spPr>
          <a:xfrm>
            <a:off x="4709160" y="5431536"/>
            <a:ext cx="5120640" cy="713232"/>
          </a:xfrm>
          <a:prstGeom prst="rect">
            <a:avLst/>
          </a:prstGeom>
          <a:noFill/>
          <a:ln/>
        </p:spPr>
        <p:txBody>
          <a:bodyPr wrap="square" lIns="0" tIns="0" rIns="0" bIns="0" rtlCol="0" anchor="ctr"/>
          <a:lstStyle/>
          <a:p>
            <a:pPr indent="0" marL="0">
              <a:buNone/>
            </a:pPr>
            <a:r>
              <a:rPr lang="en-US" sz="1250" dirty="0">
                <a:solidFill>
                  <a:srgbClr val="94A9C9"/>
                </a:solidFill>
                <a:latin typeface="Calibri" pitchFamily="34" charset="0"/>
                <a:ea typeface="Calibri" pitchFamily="34" charset="-122"/>
                <a:cs typeface="Calibri" pitchFamily="34" charset="-120"/>
              </a:rPr>
              <a:t>Track each student's progression through the syllabus — where they are, what is next.</a:t>
            </a:r>
            <a:endParaRPr lang="en-US" sz="1250" dirty="0"/>
          </a:p>
        </p:txBody>
      </p:sp>
      <p:sp>
        <p:nvSpPr>
          <p:cNvPr id="33" name="Shape 27"/>
          <p:cNvSpPr/>
          <p:nvPr/>
        </p:nvSpPr>
        <p:spPr>
          <a:xfrm>
            <a:off x="10012680" y="5614416"/>
            <a:ext cx="1280160" cy="329184"/>
          </a:xfrm>
          <a:prstGeom prst="roundRect">
            <a:avLst>
              <a:gd name="adj" fmla="val 50000"/>
            </a:avLst>
          </a:prstGeom>
          <a:solidFill>
            <a:srgbClr val="0A1526"/>
          </a:solidFill>
          <a:ln w="15875">
            <a:solidFill>
              <a:srgbClr val="37C46E"/>
            </a:solidFill>
            <a:prstDash val="solid"/>
          </a:ln>
        </p:spPr>
      </p:sp>
      <p:sp>
        <p:nvSpPr>
          <p:cNvPr id="34" name="Text 28"/>
          <p:cNvSpPr/>
          <p:nvPr/>
        </p:nvSpPr>
        <p:spPr>
          <a:xfrm>
            <a:off x="10012680" y="5614416"/>
            <a:ext cx="1280160" cy="329184"/>
          </a:xfrm>
          <a:prstGeom prst="rect">
            <a:avLst/>
          </a:prstGeom>
          <a:noFill/>
          <a:ln/>
        </p:spPr>
        <p:txBody>
          <a:bodyPr wrap="square" lIns="0" tIns="0" rIns="0" bIns="0" rtlCol="0" anchor="ctr"/>
          <a:lstStyle/>
          <a:p>
            <a:pPr algn="ctr" indent="0" marL="0">
              <a:buNone/>
            </a:pPr>
            <a:r>
              <a:rPr lang="en-US" sz="900" b="1" spc="100" kern="0" dirty="0">
                <a:solidFill>
                  <a:srgbClr val="37C46E"/>
                </a:solidFill>
                <a:latin typeface="Arial" pitchFamily="34" charset="0"/>
                <a:ea typeface="Arial" pitchFamily="34" charset="-122"/>
                <a:cs typeface="Arial" pitchFamily="34" charset="-120"/>
              </a:rPr>
              <a:t>NEAR TERM</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526"/>
        </a:solidFill>
      </p:bgPr>
    </p:bg>
    <p:spTree>
      <p:nvGrpSpPr>
        <p:cNvPr id="1" name=""/>
        <p:cNvGrpSpPr/>
        <p:nvPr/>
      </p:nvGrpSpPr>
      <p:grpSpPr>
        <a:xfrm>
          <a:off x="0" y="0"/>
          <a:ext cx="0" cy="0"/>
          <a:chOff x="0" y="0"/>
          <a:chExt cx="0" cy="0"/>
        </a:xfrm>
      </p:grpSpPr>
      <p:sp>
        <p:nvSpPr>
          <p:cNvPr id="2" name="Text 0"/>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10</a:t>
            </a:r>
            <a:endParaRPr lang="en-US" sz="1000" dirty="0"/>
          </a:p>
        </p:txBody>
      </p:sp>
      <p:sp>
        <p:nvSpPr>
          <p:cNvPr id="3" name="Text 1"/>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4" name="Text 2"/>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HOW IT WAS BUILT — AND WHY THAT MATTERS</a:t>
            </a:r>
            <a:endParaRPr lang="en-US" sz="1250" dirty="0"/>
          </a:p>
        </p:txBody>
      </p:sp>
      <p:sp>
        <p:nvSpPr>
          <p:cNvPr id="5" name="Text 3"/>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Engineered with AI, proven by tests</a:t>
            </a:r>
            <a:endParaRPr lang="en-US" sz="3400" dirty="0"/>
          </a:p>
        </p:txBody>
      </p:sp>
      <p:sp>
        <p:nvSpPr>
          <p:cNvPr id="6" name="Text 4"/>
          <p:cNvSpPr/>
          <p:nvPr/>
        </p:nvSpPr>
        <p:spPr>
          <a:xfrm>
            <a:off x="685800" y="1691640"/>
            <a:ext cx="10789920" cy="685800"/>
          </a:xfrm>
          <a:prstGeom prst="rect">
            <a:avLst/>
          </a:prstGeom>
          <a:noFill/>
          <a:ln/>
        </p:spPr>
        <p:txBody>
          <a:bodyPr wrap="square" lIns="0" tIns="0" rIns="0" bIns="0" rtlCol="0" anchor="ctr"/>
          <a:lstStyle/>
          <a:p>
            <a:pPr indent="0" marL="0">
              <a:buNone/>
            </a:pPr>
            <a:r>
              <a:rPr lang="en-US" sz="1450" dirty="0">
                <a:solidFill>
                  <a:srgbClr val="94A9C9"/>
                </a:solidFill>
                <a:latin typeface="Calibri" pitchFamily="34" charset="0"/>
                <a:ea typeface="Calibri" pitchFamily="34" charset="-122"/>
                <a:cs typeface="Calibri" pitchFamily="34" charset="-120"/>
              </a:rPr>
              <a:t>RAPTOR was built through 500+ rounds of AI-assisted development and correction — and every change has to clear an automated gauntlet before it ships.</a:t>
            </a:r>
            <a:endParaRPr lang="en-US" sz="1450" dirty="0"/>
          </a:p>
        </p:txBody>
      </p:sp>
      <p:sp>
        <p:nvSpPr>
          <p:cNvPr id="7" name="Shape 5"/>
          <p:cNvSpPr/>
          <p:nvPr/>
        </p:nvSpPr>
        <p:spPr>
          <a:xfrm>
            <a:off x="685800" y="2514600"/>
            <a:ext cx="2606040" cy="1691640"/>
          </a:xfrm>
          <a:prstGeom prst="roundRect">
            <a:avLst>
              <a:gd name="adj" fmla="val 5405"/>
            </a:avLst>
          </a:prstGeom>
          <a:solidFill>
            <a:srgbClr val="13294A"/>
          </a:solidFill>
          <a:ln w="12700">
            <a:solidFill>
              <a:srgbClr val="27446F"/>
            </a:solidFill>
            <a:prstDash val="solid"/>
          </a:ln>
        </p:spPr>
      </p:sp>
      <p:sp>
        <p:nvSpPr>
          <p:cNvPr id="8" name="Text 6"/>
          <p:cNvSpPr/>
          <p:nvPr/>
        </p:nvSpPr>
        <p:spPr>
          <a:xfrm>
            <a:off x="685800" y="2770632"/>
            <a:ext cx="2606040" cy="822960"/>
          </a:xfrm>
          <a:prstGeom prst="rect">
            <a:avLst/>
          </a:prstGeom>
          <a:noFill/>
          <a:ln/>
        </p:spPr>
        <p:txBody>
          <a:bodyPr wrap="square" lIns="0" tIns="0" rIns="0" bIns="0" rtlCol="0" anchor="ctr"/>
          <a:lstStyle/>
          <a:p>
            <a:pPr algn="ctr" indent="0" marL="0">
              <a:buNone/>
            </a:pPr>
            <a:r>
              <a:rPr lang="en-US" sz="4600" b="1" dirty="0">
                <a:solidFill>
                  <a:srgbClr val="F5A623"/>
                </a:solidFill>
                <a:latin typeface="Arial" pitchFamily="34" charset="0"/>
                <a:ea typeface="Arial" pitchFamily="34" charset="-122"/>
                <a:cs typeface="Arial" pitchFamily="34" charset="-120"/>
              </a:rPr>
              <a:t>500+</a:t>
            </a:r>
            <a:endParaRPr lang="en-US" sz="4600" dirty="0"/>
          </a:p>
        </p:txBody>
      </p:sp>
      <p:sp>
        <p:nvSpPr>
          <p:cNvPr id="9" name="Text 7"/>
          <p:cNvSpPr/>
          <p:nvPr/>
        </p:nvSpPr>
        <p:spPr>
          <a:xfrm>
            <a:off x="868680" y="3611880"/>
            <a:ext cx="2240280" cy="502920"/>
          </a:xfrm>
          <a:prstGeom prst="rect">
            <a:avLst/>
          </a:prstGeom>
          <a:noFill/>
          <a:ln/>
        </p:spPr>
        <p:txBody>
          <a:bodyPr wrap="square" lIns="0" tIns="0" rIns="0" bIns="0" rtlCol="0" anchor="ctr"/>
          <a:lstStyle/>
          <a:p>
            <a:pPr algn="ctr" indent="0" marL="0">
              <a:buNone/>
            </a:pPr>
            <a:r>
              <a:rPr lang="en-US" sz="1200" dirty="0">
                <a:solidFill>
                  <a:srgbClr val="94A9C9"/>
                </a:solidFill>
                <a:latin typeface="Calibri" pitchFamily="34" charset="0"/>
                <a:ea typeface="Calibri" pitchFamily="34" charset="-122"/>
                <a:cs typeface="Calibri" pitchFamily="34" charset="-120"/>
              </a:rPr>
              <a:t>AI build &amp; test iterations</a:t>
            </a:r>
            <a:endParaRPr lang="en-US" sz="1200" dirty="0"/>
          </a:p>
        </p:txBody>
      </p:sp>
      <p:sp>
        <p:nvSpPr>
          <p:cNvPr id="10" name="Shape 8"/>
          <p:cNvSpPr/>
          <p:nvPr/>
        </p:nvSpPr>
        <p:spPr>
          <a:xfrm>
            <a:off x="3511296" y="2514600"/>
            <a:ext cx="2606040" cy="1691640"/>
          </a:xfrm>
          <a:prstGeom prst="roundRect">
            <a:avLst>
              <a:gd name="adj" fmla="val 5405"/>
            </a:avLst>
          </a:prstGeom>
          <a:solidFill>
            <a:srgbClr val="13294A"/>
          </a:solidFill>
          <a:ln w="12700">
            <a:solidFill>
              <a:srgbClr val="27446F"/>
            </a:solidFill>
            <a:prstDash val="solid"/>
          </a:ln>
        </p:spPr>
      </p:sp>
      <p:sp>
        <p:nvSpPr>
          <p:cNvPr id="11" name="Text 9"/>
          <p:cNvSpPr/>
          <p:nvPr/>
        </p:nvSpPr>
        <p:spPr>
          <a:xfrm>
            <a:off x="3511296" y="2770632"/>
            <a:ext cx="2606040" cy="822960"/>
          </a:xfrm>
          <a:prstGeom prst="rect">
            <a:avLst/>
          </a:prstGeom>
          <a:noFill/>
          <a:ln/>
        </p:spPr>
        <p:txBody>
          <a:bodyPr wrap="square" lIns="0" tIns="0" rIns="0" bIns="0" rtlCol="0" anchor="ctr"/>
          <a:lstStyle/>
          <a:p>
            <a:pPr algn="ctr" indent="0" marL="0">
              <a:buNone/>
            </a:pPr>
            <a:r>
              <a:rPr lang="en-US" sz="4600" b="1" dirty="0">
                <a:solidFill>
                  <a:srgbClr val="6FA8DC"/>
                </a:solidFill>
                <a:latin typeface="Arial" pitchFamily="34" charset="0"/>
                <a:ea typeface="Arial" pitchFamily="34" charset="-122"/>
                <a:cs typeface="Arial" pitchFamily="34" charset="-120"/>
              </a:rPr>
              <a:t>3,600+</a:t>
            </a:r>
            <a:endParaRPr lang="en-US" sz="4600" dirty="0"/>
          </a:p>
        </p:txBody>
      </p:sp>
      <p:sp>
        <p:nvSpPr>
          <p:cNvPr id="12" name="Text 10"/>
          <p:cNvSpPr/>
          <p:nvPr/>
        </p:nvSpPr>
        <p:spPr>
          <a:xfrm>
            <a:off x="3694176" y="3611880"/>
            <a:ext cx="2240280" cy="502920"/>
          </a:xfrm>
          <a:prstGeom prst="rect">
            <a:avLst/>
          </a:prstGeom>
          <a:noFill/>
          <a:ln/>
        </p:spPr>
        <p:txBody>
          <a:bodyPr wrap="square" lIns="0" tIns="0" rIns="0" bIns="0" rtlCol="0" anchor="ctr"/>
          <a:lstStyle/>
          <a:p>
            <a:pPr algn="ctr" indent="0" marL="0">
              <a:buNone/>
            </a:pPr>
            <a:r>
              <a:rPr lang="en-US" sz="1200" dirty="0">
                <a:solidFill>
                  <a:srgbClr val="94A9C9"/>
                </a:solidFill>
                <a:latin typeface="Calibri" pitchFamily="34" charset="0"/>
                <a:ea typeface="Calibri" pitchFamily="34" charset="-122"/>
                <a:cs typeface="Calibri" pitchFamily="34" charset="-120"/>
              </a:rPr>
              <a:t>automated checks per release</a:t>
            </a:r>
            <a:endParaRPr lang="en-US" sz="1200" dirty="0"/>
          </a:p>
        </p:txBody>
      </p:sp>
      <p:sp>
        <p:nvSpPr>
          <p:cNvPr id="13" name="Shape 11"/>
          <p:cNvSpPr/>
          <p:nvPr/>
        </p:nvSpPr>
        <p:spPr>
          <a:xfrm>
            <a:off x="6336792" y="2514600"/>
            <a:ext cx="2606040" cy="1691640"/>
          </a:xfrm>
          <a:prstGeom prst="roundRect">
            <a:avLst>
              <a:gd name="adj" fmla="val 5405"/>
            </a:avLst>
          </a:prstGeom>
          <a:solidFill>
            <a:srgbClr val="13294A"/>
          </a:solidFill>
          <a:ln w="12700">
            <a:solidFill>
              <a:srgbClr val="27446F"/>
            </a:solidFill>
            <a:prstDash val="solid"/>
          </a:ln>
        </p:spPr>
      </p:sp>
      <p:sp>
        <p:nvSpPr>
          <p:cNvPr id="14" name="Text 12"/>
          <p:cNvSpPr/>
          <p:nvPr/>
        </p:nvSpPr>
        <p:spPr>
          <a:xfrm>
            <a:off x="6336792" y="2770632"/>
            <a:ext cx="2606040" cy="822960"/>
          </a:xfrm>
          <a:prstGeom prst="rect">
            <a:avLst/>
          </a:prstGeom>
          <a:noFill/>
          <a:ln/>
        </p:spPr>
        <p:txBody>
          <a:bodyPr wrap="square" lIns="0" tIns="0" rIns="0" bIns="0" rtlCol="0" anchor="ctr"/>
          <a:lstStyle/>
          <a:p>
            <a:pPr algn="ctr" indent="0" marL="0">
              <a:buNone/>
            </a:pPr>
            <a:r>
              <a:rPr lang="en-US" sz="4600" b="1" dirty="0">
                <a:solidFill>
                  <a:srgbClr val="37C46E"/>
                </a:solidFill>
                <a:latin typeface="Arial" pitchFamily="34" charset="0"/>
                <a:ea typeface="Arial" pitchFamily="34" charset="-122"/>
                <a:cs typeface="Arial" pitchFamily="34" charset="-120"/>
              </a:rPr>
              <a:t>6</a:t>
            </a:r>
            <a:endParaRPr lang="en-US" sz="4600" dirty="0"/>
          </a:p>
        </p:txBody>
      </p:sp>
      <p:sp>
        <p:nvSpPr>
          <p:cNvPr id="15" name="Text 13"/>
          <p:cNvSpPr/>
          <p:nvPr/>
        </p:nvSpPr>
        <p:spPr>
          <a:xfrm>
            <a:off x="6519672" y="3611880"/>
            <a:ext cx="2240280" cy="502920"/>
          </a:xfrm>
          <a:prstGeom prst="rect">
            <a:avLst/>
          </a:prstGeom>
          <a:noFill/>
          <a:ln/>
        </p:spPr>
        <p:txBody>
          <a:bodyPr wrap="square" lIns="0" tIns="0" rIns="0" bIns="0" rtlCol="0" anchor="ctr"/>
          <a:lstStyle/>
          <a:p>
            <a:pPr algn="ctr" indent="0" marL="0">
              <a:buNone/>
            </a:pPr>
            <a:r>
              <a:rPr lang="en-US" sz="1200" dirty="0">
                <a:solidFill>
                  <a:srgbClr val="94A9C9"/>
                </a:solidFill>
                <a:latin typeface="Calibri" pitchFamily="34" charset="0"/>
                <a:ea typeface="Calibri" pitchFamily="34" charset="-122"/>
                <a:cs typeface="Calibri" pitchFamily="34" charset="-120"/>
              </a:rPr>
              <a:t>quality gates, every change</a:t>
            </a:r>
            <a:endParaRPr lang="en-US" sz="1200" dirty="0"/>
          </a:p>
        </p:txBody>
      </p:sp>
      <p:sp>
        <p:nvSpPr>
          <p:cNvPr id="16" name="Shape 14"/>
          <p:cNvSpPr/>
          <p:nvPr/>
        </p:nvSpPr>
        <p:spPr>
          <a:xfrm>
            <a:off x="9162288" y="2514600"/>
            <a:ext cx="2606040" cy="1691640"/>
          </a:xfrm>
          <a:prstGeom prst="roundRect">
            <a:avLst>
              <a:gd name="adj" fmla="val 5405"/>
            </a:avLst>
          </a:prstGeom>
          <a:solidFill>
            <a:srgbClr val="13294A"/>
          </a:solidFill>
          <a:ln w="12700">
            <a:solidFill>
              <a:srgbClr val="27446F"/>
            </a:solidFill>
            <a:prstDash val="solid"/>
          </a:ln>
        </p:spPr>
      </p:sp>
      <p:sp>
        <p:nvSpPr>
          <p:cNvPr id="17" name="Text 15"/>
          <p:cNvSpPr/>
          <p:nvPr/>
        </p:nvSpPr>
        <p:spPr>
          <a:xfrm>
            <a:off x="9162288" y="2770632"/>
            <a:ext cx="2606040" cy="822960"/>
          </a:xfrm>
          <a:prstGeom prst="rect">
            <a:avLst/>
          </a:prstGeom>
          <a:noFill/>
          <a:ln/>
        </p:spPr>
        <p:txBody>
          <a:bodyPr wrap="square" lIns="0" tIns="0" rIns="0" bIns="0" rtlCol="0" anchor="ctr"/>
          <a:lstStyle/>
          <a:p>
            <a:pPr algn="ctr" indent="0" marL="0">
              <a:buNone/>
            </a:pPr>
            <a:r>
              <a:rPr lang="en-US" sz="4600" b="1" dirty="0">
                <a:solidFill>
                  <a:srgbClr val="FFC559"/>
                </a:solidFill>
                <a:latin typeface="Arial" pitchFamily="34" charset="0"/>
                <a:ea typeface="Arial" pitchFamily="34" charset="-122"/>
                <a:cs typeface="Arial" pitchFamily="34" charset="-120"/>
              </a:rPr>
              <a:t>Live</a:t>
            </a:r>
            <a:endParaRPr lang="en-US" sz="4600" dirty="0"/>
          </a:p>
        </p:txBody>
      </p:sp>
      <p:sp>
        <p:nvSpPr>
          <p:cNvPr id="18" name="Text 16"/>
          <p:cNvSpPr/>
          <p:nvPr/>
        </p:nvSpPr>
        <p:spPr>
          <a:xfrm>
            <a:off x="9345168" y="3611880"/>
            <a:ext cx="2240280" cy="502920"/>
          </a:xfrm>
          <a:prstGeom prst="rect">
            <a:avLst/>
          </a:prstGeom>
          <a:noFill/>
          <a:ln/>
        </p:spPr>
        <p:txBody>
          <a:bodyPr wrap="square" lIns="0" tIns="0" rIns="0" bIns="0" rtlCol="0" anchor="ctr"/>
          <a:lstStyle/>
          <a:p>
            <a:pPr algn="ctr" indent="0" marL="0">
              <a:buNone/>
            </a:pPr>
            <a:r>
              <a:rPr lang="en-US" sz="1200" dirty="0">
                <a:solidFill>
                  <a:srgbClr val="94A9C9"/>
                </a:solidFill>
                <a:latin typeface="Calibri" pitchFamily="34" charset="0"/>
                <a:ea typeface="Calibri" pitchFamily="34" charset="-122"/>
                <a:cs typeface="Calibri" pitchFamily="34" charset="-120"/>
              </a:rPr>
              <a:t>demo running today</a:t>
            </a:r>
            <a:endParaRPr lang="en-US" sz="1200" dirty="0"/>
          </a:p>
        </p:txBody>
      </p:sp>
      <p:sp>
        <p:nvSpPr>
          <p:cNvPr id="19" name="Shape 17"/>
          <p:cNvSpPr/>
          <p:nvPr/>
        </p:nvSpPr>
        <p:spPr>
          <a:xfrm>
            <a:off x="685800" y="4526280"/>
            <a:ext cx="10789920" cy="1600200"/>
          </a:xfrm>
          <a:prstGeom prst="roundRect">
            <a:avLst>
              <a:gd name="adj" fmla="val 5714"/>
            </a:avLst>
          </a:prstGeom>
          <a:solidFill>
            <a:srgbClr val="17335C"/>
          </a:solidFill>
          <a:ln w="12700">
            <a:solidFill>
              <a:srgbClr val="27446F"/>
            </a:solidFill>
            <a:prstDash val="solid"/>
          </a:ln>
        </p:spPr>
      </p:sp>
      <p:sp>
        <p:nvSpPr>
          <p:cNvPr id="20" name="Text 18"/>
          <p:cNvSpPr/>
          <p:nvPr/>
        </p:nvSpPr>
        <p:spPr>
          <a:xfrm>
            <a:off x="960120" y="4709160"/>
            <a:ext cx="10058400" cy="292608"/>
          </a:xfrm>
          <a:prstGeom prst="rect">
            <a:avLst/>
          </a:prstGeom>
          <a:noFill/>
          <a:ln/>
        </p:spPr>
        <p:txBody>
          <a:bodyPr wrap="square" lIns="0" tIns="0" rIns="0" bIns="0" rtlCol="0" anchor="ctr"/>
          <a:lstStyle/>
          <a:p>
            <a:pPr indent="0" marL="0">
              <a:buNone/>
            </a:pPr>
            <a:r>
              <a:rPr lang="en-US" sz="1200" b="1" spc="200" kern="0" dirty="0">
                <a:solidFill>
                  <a:srgbClr val="F5A623"/>
                </a:solidFill>
                <a:latin typeface="Arial" pitchFamily="34" charset="0"/>
                <a:ea typeface="Arial" pitchFamily="34" charset="-122"/>
                <a:cs typeface="Arial" pitchFamily="34" charset="-120"/>
              </a:rPr>
              <a:t>SIX GATES GUARD EVERY CHANGE</a:t>
            </a:r>
            <a:endParaRPr lang="en-US" sz="1200" dirty="0"/>
          </a:p>
        </p:txBody>
      </p:sp>
      <p:pic>
        <p:nvPicPr>
          <p:cNvPr id="21" name="Image 0" descr="preencoded.png">    </p:cNvPr>
          <p:cNvPicPr>
            <a:picLocks noChangeAspect="1"/>
          </p:cNvPicPr>
          <p:nvPr/>
        </p:nvPicPr>
        <p:blipFill>
          <a:blip r:embed="rId1"/>
          <a:stretch>
            <a:fillRect/>
          </a:stretch>
        </p:blipFill>
        <p:spPr>
          <a:xfrm>
            <a:off x="960120" y="5166360"/>
            <a:ext cx="365760" cy="365760"/>
          </a:xfrm>
          <a:prstGeom prst="rect">
            <a:avLst/>
          </a:prstGeom>
        </p:spPr>
      </p:pic>
      <p:sp>
        <p:nvSpPr>
          <p:cNvPr id="22" name="Text 19"/>
          <p:cNvSpPr/>
          <p:nvPr/>
        </p:nvSpPr>
        <p:spPr>
          <a:xfrm>
            <a:off x="1399032" y="5093208"/>
            <a:ext cx="1280160" cy="548640"/>
          </a:xfrm>
          <a:prstGeom prst="rect">
            <a:avLst/>
          </a:prstGeom>
          <a:noFill/>
          <a:ln/>
        </p:spPr>
        <p:txBody>
          <a:bodyPr wrap="square" lIns="0" tIns="0" rIns="0" bIns="0" rtlCol="0" anchor="ctr"/>
          <a:lstStyle/>
          <a:p>
            <a:pPr indent="0" marL="0">
              <a:buNone/>
            </a:pPr>
            <a:r>
              <a:rPr lang="en-US" sz="1100" b="1" dirty="0">
                <a:solidFill>
                  <a:srgbClr val="F2F6FC"/>
                </a:solidFill>
                <a:latin typeface="Calibri" pitchFamily="34" charset="0"/>
                <a:ea typeface="Calibri" pitchFamily="34" charset="-122"/>
                <a:cs typeface="Calibri" pitchFamily="34" charset="-120"/>
              </a:rPr>
              <a:t>Unit &amp; component tests</a:t>
            </a:r>
            <a:endParaRPr lang="en-US" sz="1100" dirty="0"/>
          </a:p>
        </p:txBody>
      </p:sp>
      <p:pic>
        <p:nvPicPr>
          <p:cNvPr id="23" name="Image 1" descr="preencoded.png">    </p:cNvPr>
          <p:cNvPicPr>
            <a:picLocks noChangeAspect="1"/>
          </p:cNvPicPr>
          <p:nvPr/>
        </p:nvPicPr>
        <p:blipFill>
          <a:blip r:embed="rId2"/>
          <a:stretch>
            <a:fillRect/>
          </a:stretch>
        </p:blipFill>
        <p:spPr>
          <a:xfrm>
            <a:off x="2697480" y="5166360"/>
            <a:ext cx="365760" cy="365760"/>
          </a:xfrm>
          <a:prstGeom prst="rect">
            <a:avLst/>
          </a:prstGeom>
        </p:spPr>
      </p:pic>
      <p:sp>
        <p:nvSpPr>
          <p:cNvPr id="24" name="Text 20"/>
          <p:cNvSpPr/>
          <p:nvPr/>
        </p:nvSpPr>
        <p:spPr>
          <a:xfrm>
            <a:off x="3136392" y="5093208"/>
            <a:ext cx="1280160" cy="548640"/>
          </a:xfrm>
          <a:prstGeom prst="rect">
            <a:avLst/>
          </a:prstGeom>
          <a:noFill/>
          <a:ln/>
        </p:spPr>
        <p:txBody>
          <a:bodyPr wrap="square" lIns="0" tIns="0" rIns="0" bIns="0" rtlCol="0" anchor="ctr"/>
          <a:lstStyle/>
          <a:p>
            <a:pPr indent="0" marL="0">
              <a:buNone/>
            </a:pPr>
            <a:r>
              <a:rPr lang="en-US" sz="1100" b="1" dirty="0">
                <a:solidFill>
                  <a:srgbClr val="F2F6FC"/>
                </a:solidFill>
                <a:latin typeface="Calibri" pitchFamily="34" charset="0"/>
                <a:ea typeface="Calibri" pitchFamily="34" charset="-122"/>
                <a:cs typeface="Calibri" pitchFamily="34" charset="-120"/>
              </a:rPr>
              <a:t>Type-check &amp; build</a:t>
            </a:r>
            <a:endParaRPr lang="en-US" sz="1100" dirty="0"/>
          </a:p>
        </p:txBody>
      </p:sp>
      <p:pic>
        <p:nvPicPr>
          <p:cNvPr id="25" name="Image 2" descr="preencoded.png">    </p:cNvPr>
          <p:cNvPicPr>
            <a:picLocks noChangeAspect="1"/>
          </p:cNvPicPr>
          <p:nvPr/>
        </p:nvPicPr>
        <p:blipFill>
          <a:blip r:embed="rId3"/>
          <a:stretch>
            <a:fillRect/>
          </a:stretch>
        </p:blipFill>
        <p:spPr>
          <a:xfrm>
            <a:off x="4434840" y="5166360"/>
            <a:ext cx="365760" cy="365760"/>
          </a:xfrm>
          <a:prstGeom prst="rect">
            <a:avLst/>
          </a:prstGeom>
        </p:spPr>
      </p:pic>
      <p:sp>
        <p:nvSpPr>
          <p:cNvPr id="26" name="Text 21"/>
          <p:cNvSpPr/>
          <p:nvPr/>
        </p:nvSpPr>
        <p:spPr>
          <a:xfrm>
            <a:off x="4873752" y="5093208"/>
            <a:ext cx="1280160" cy="548640"/>
          </a:xfrm>
          <a:prstGeom prst="rect">
            <a:avLst/>
          </a:prstGeom>
          <a:noFill/>
          <a:ln/>
        </p:spPr>
        <p:txBody>
          <a:bodyPr wrap="square" lIns="0" tIns="0" rIns="0" bIns="0" rtlCol="0" anchor="ctr"/>
          <a:lstStyle/>
          <a:p>
            <a:pPr indent="0" marL="0">
              <a:buNone/>
            </a:pPr>
            <a:r>
              <a:rPr lang="en-US" sz="1100" b="1" dirty="0">
                <a:solidFill>
                  <a:srgbClr val="F2F6FC"/>
                </a:solidFill>
                <a:latin typeface="Calibri" pitchFamily="34" charset="0"/>
                <a:ea typeface="Calibri" pitchFamily="34" charset="-122"/>
                <a:cs typeface="Calibri" pitchFamily="34" charset="-120"/>
              </a:rPr>
              <a:t>Reference assertions</a:t>
            </a:r>
            <a:endParaRPr lang="en-US" sz="1100" dirty="0"/>
          </a:p>
        </p:txBody>
      </p:sp>
      <p:pic>
        <p:nvPicPr>
          <p:cNvPr id="27" name="Image 3" descr="preencoded.png">    </p:cNvPr>
          <p:cNvPicPr>
            <a:picLocks noChangeAspect="1"/>
          </p:cNvPicPr>
          <p:nvPr/>
        </p:nvPicPr>
        <p:blipFill>
          <a:blip r:embed="rId4"/>
          <a:stretch>
            <a:fillRect/>
          </a:stretch>
        </p:blipFill>
        <p:spPr>
          <a:xfrm>
            <a:off x="6172200" y="5166360"/>
            <a:ext cx="365760" cy="365760"/>
          </a:xfrm>
          <a:prstGeom prst="rect">
            <a:avLst/>
          </a:prstGeom>
        </p:spPr>
      </p:pic>
      <p:sp>
        <p:nvSpPr>
          <p:cNvPr id="28" name="Text 22"/>
          <p:cNvSpPr/>
          <p:nvPr/>
        </p:nvSpPr>
        <p:spPr>
          <a:xfrm>
            <a:off x="6611112" y="5093208"/>
            <a:ext cx="1280160" cy="548640"/>
          </a:xfrm>
          <a:prstGeom prst="rect">
            <a:avLst/>
          </a:prstGeom>
          <a:noFill/>
          <a:ln/>
        </p:spPr>
        <p:txBody>
          <a:bodyPr wrap="square" lIns="0" tIns="0" rIns="0" bIns="0" rtlCol="0" anchor="ctr"/>
          <a:lstStyle/>
          <a:p>
            <a:pPr indent="0" marL="0">
              <a:buNone/>
            </a:pPr>
            <a:r>
              <a:rPr lang="en-US" sz="1100" b="1" dirty="0">
                <a:solidFill>
                  <a:srgbClr val="F2F6FC"/>
                </a:solidFill>
                <a:latin typeface="Calibri" pitchFamily="34" charset="0"/>
                <a:ea typeface="Calibri" pitchFamily="34" charset="-122"/>
                <a:cs typeface="Calibri" pitchFamily="34" charset="-120"/>
              </a:rPr>
              <a:t>Real-browser end-to-end</a:t>
            </a:r>
            <a:endParaRPr lang="en-US" sz="1100" dirty="0"/>
          </a:p>
        </p:txBody>
      </p:sp>
      <p:pic>
        <p:nvPicPr>
          <p:cNvPr id="29" name="Image 4" descr="preencoded.png">    </p:cNvPr>
          <p:cNvPicPr>
            <a:picLocks noChangeAspect="1"/>
          </p:cNvPicPr>
          <p:nvPr/>
        </p:nvPicPr>
        <p:blipFill>
          <a:blip r:embed="rId5"/>
          <a:stretch>
            <a:fillRect/>
          </a:stretch>
        </p:blipFill>
        <p:spPr>
          <a:xfrm>
            <a:off x="7909560" y="5166360"/>
            <a:ext cx="365760" cy="365760"/>
          </a:xfrm>
          <a:prstGeom prst="rect">
            <a:avLst/>
          </a:prstGeom>
        </p:spPr>
      </p:pic>
      <p:sp>
        <p:nvSpPr>
          <p:cNvPr id="30" name="Text 23"/>
          <p:cNvSpPr/>
          <p:nvPr/>
        </p:nvSpPr>
        <p:spPr>
          <a:xfrm>
            <a:off x="8348472" y="5093208"/>
            <a:ext cx="1280160" cy="548640"/>
          </a:xfrm>
          <a:prstGeom prst="rect">
            <a:avLst/>
          </a:prstGeom>
          <a:noFill/>
          <a:ln/>
        </p:spPr>
        <p:txBody>
          <a:bodyPr wrap="square" lIns="0" tIns="0" rIns="0" bIns="0" rtlCol="0" anchor="ctr"/>
          <a:lstStyle/>
          <a:p>
            <a:pPr indent="0" marL="0">
              <a:buNone/>
            </a:pPr>
            <a:r>
              <a:rPr lang="en-US" sz="1100" b="1" dirty="0">
                <a:solidFill>
                  <a:srgbClr val="F2F6FC"/>
                </a:solidFill>
                <a:latin typeface="Calibri" pitchFamily="34" charset="0"/>
                <a:ea typeface="Calibri" pitchFamily="34" charset="-122"/>
                <a:cs typeface="Calibri" pitchFamily="34" charset="-120"/>
              </a:rPr>
              <a:t>UI probe sweep</a:t>
            </a:r>
            <a:endParaRPr lang="en-US" sz="1100" dirty="0"/>
          </a:p>
        </p:txBody>
      </p:sp>
      <p:pic>
        <p:nvPicPr>
          <p:cNvPr id="31" name="Image 5" descr="preencoded.png">    </p:cNvPr>
          <p:cNvPicPr>
            <a:picLocks noChangeAspect="1"/>
          </p:cNvPicPr>
          <p:nvPr/>
        </p:nvPicPr>
        <p:blipFill>
          <a:blip r:embed="rId6"/>
          <a:stretch>
            <a:fillRect/>
          </a:stretch>
        </p:blipFill>
        <p:spPr>
          <a:xfrm>
            <a:off x="9646920" y="5166360"/>
            <a:ext cx="365760" cy="365760"/>
          </a:xfrm>
          <a:prstGeom prst="rect">
            <a:avLst/>
          </a:prstGeom>
        </p:spPr>
      </p:pic>
      <p:sp>
        <p:nvSpPr>
          <p:cNvPr id="32" name="Text 24"/>
          <p:cNvSpPr/>
          <p:nvPr/>
        </p:nvSpPr>
        <p:spPr>
          <a:xfrm>
            <a:off x="10085832" y="5093208"/>
            <a:ext cx="1280160" cy="548640"/>
          </a:xfrm>
          <a:prstGeom prst="rect">
            <a:avLst/>
          </a:prstGeom>
          <a:noFill/>
          <a:ln/>
        </p:spPr>
        <p:txBody>
          <a:bodyPr wrap="square" lIns="0" tIns="0" rIns="0" bIns="0" rtlCol="0" anchor="ctr"/>
          <a:lstStyle/>
          <a:p>
            <a:pPr indent="0" marL="0">
              <a:buNone/>
            </a:pPr>
            <a:r>
              <a:rPr lang="en-US" sz="1100" b="1" dirty="0">
                <a:solidFill>
                  <a:srgbClr val="F2F6FC"/>
                </a:solidFill>
                <a:latin typeface="Calibri" pitchFamily="34" charset="0"/>
                <a:ea typeface="Calibri" pitchFamily="34" charset="-122"/>
                <a:cs typeface="Calibri" pitchFamily="34" charset="-120"/>
              </a:rPr>
              <a:t>Performance ceilings</a:t>
            </a:r>
            <a:endParaRPr lang="en-US" sz="1100" dirty="0"/>
          </a:p>
        </p:txBody>
      </p:sp>
      <p:sp>
        <p:nvSpPr>
          <p:cNvPr id="33" name="Text 25"/>
          <p:cNvSpPr/>
          <p:nvPr/>
        </p:nvSpPr>
        <p:spPr>
          <a:xfrm>
            <a:off x="960120" y="5779008"/>
            <a:ext cx="10058400" cy="274320"/>
          </a:xfrm>
          <a:prstGeom prst="rect">
            <a:avLst/>
          </a:prstGeom>
          <a:noFill/>
          <a:ln/>
        </p:spPr>
        <p:txBody>
          <a:bodyPr wrap="square" lIns="0" tIns="0" rIns="0" bIns="0" rtlCol="0" anchor="ctr"/>
          <a:lstStyle/>
          <a:p>
            <a:pPr indent="0" marL="0">
              <a:buNone/>
            </a:pPr>
            <a:r>
              <a:rPr lang="en-US" sz="1100" i="1" dirty="0">
                <a:solidFill>
                  <a:srgbClr val="6C82A6"/>
                </a:solidFill>
                <a:latin typeface="Calibri" pitchFamily="34" charset="0"/>
                <a:ea typeface="Calibri" pitchFamily="34" charset="-122"/>
                <a:cs typeface="Calibri" pitchFamily="34" charset="-120"/>
              </a:rPr>
              <a:t>Nothing ships on a red result — the gauntlet refuses to publish.</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E36"/>
        </a:solidFill>
      </p:bgPr>
    </p:bg>
    <p:spTree>
      <p:nvGrpSpPr>
        <p:cNvPr id="1" name=""/>
        <p:cNvGrpSpPr/>
        <p:nvPr/>
      </p:nvGrpSpPr>
      <p:grpSpPr>
        <a:xfrm>
          <a:off x="0" y="0"/>
          <a:ext cx="0" cy="0"/>
          <a:chOff x="0" y="0"/>
          <a:chExt cx="0" cy="0"/>
        </a:xfrm>
      </p:grpSpPr>
      <p:sp>
        <p:nvSpPr>
          <p:cNvPr id="2" name="Text 0"/>
          <p:cNvSpPr/>
          <p:nvPr/>
        </p:nvSpPr>
        <p:spPr>
          <a:xfrm>
            <a:off x="11183112" y="6355080"/>
            <a:ext cx="548640" cy="274320"/>
          </a:xfrm>
          <a:prstGeom prst="rect">
            <a:avLst/>
          </a:prstGeom>
          <a:noFill/>
          <a:ln/>
        </p:spPr>
        <p:txBody>
          <a:bodyPr wrap="square" lIns="0" tIns="0" rIns="0" bIns="0" rtlCol="0" anchor="ctr"/>
          <a:lstStyle/>
          <a:p>
            <a:pPr algn="r" indent="0" marL="0">
              <a:buNone/>
            </a:pPr>
            <a:r>
              <a:rPr lang="en-US" sz="1000" dirty="0">
                <a:solidFill>
                  <a:srgbClr val="6C82A6"/>
                </a:solidFill>
                <a:latin typeface="Arial" pitchFamily="34" charset="0"/>
                <a:ea typeface="Arial" pitchFamily="34" charset="-122"/>
                <a:cs typeface="Arial" pitchFamily="34" charset="-120"/>
              </a:rPr>
              <a:t>11</a:t>
            </a:r>
            <a:endParaRPr lang="en-US" sz="1000" dirty="0"/>
          </a:p>
        </p:txBody>
      </p:sp>
      <p:sp>
        <p:nvSpPr>
          <p:cNvPr id="3" name="Text 1"/>
          <p:cNvSpPr/>
          <p:nvPr/>
        </p:nvSpPr>
        <p:spPr>
          <a:xfrm>
            <a:off x="685800" y="6355080"/>
            <a:ext cx="2743200" cy="274320"/>
          </a:xfrm>
          <a:prstGeom prst="rect">
            <a:avLst/>
          </a:prstGeom>
          <a:noFill/>
          <a:ln/>
        </p:spPr>
        <p:txBody>
          <a:bodyPr wrap="square" lIns="0" tIns="0" rIns="0" bIns="0" rtlCol="0" anchor="ctr"/>
          <a:lstStyle/>
          <a:p>
            <a:pPr algn="l" indent="0" marL="0">
              <a:buNone/>
            </a:pPr>
            <a:r>
              <a:rPr lang="en-US" sz="1000" b="1" spc="200" kern="0" dirty="0">
                <a:solidFill>
                  <a:srgbClr val="6C82A6"/>
                </a:solidFill>
                <a:latin typeface="Arial" pitchFamily="34" charset="0"/>
                <a:ea typeface="Arial" pitchFamily="34" charset="-122"/>
                <a:cs typeface="Arial" pitchFamily="34" charset="-120"/>
              </a:rPr>
              <a:t>RAPTOR</a:t>
            </a:r>
            <a:endParaRPr lang="en-US" sz="1000" dirty="0"/>
          </a:p>
        </p:txBody>
      </p:sp>
      <p:sp>
        <p:nvSpPr>
          <p:cNvPr id="4" name="Text 2"/>
          <p:cNvSpPr/>
          <p:nvPr/>
        </p:nvSpPr>
        <p:spPr>
          <a:xfrm>
            <a:off x="685800" y="566928"/>
            <a:ext cx="8229600" cy="292608"/>
          </a:xfrm>
          <a:prstGeom prst="rect">
            <a:avLst/>
          </a:prstGeom>
          <a:noFill/>
          <a:ln/>
        </p:spPr>
        <p:txBody>
          <a:bodyPr wrap="square" lIns="0" tIns="0" rIns="0" bIns="0" rtlCol="0" anchor="ctr"/>
          <a:lstStyle/>
          <a:p>
            <a:pPr algn="l" indent="0" marL="0">
              <a:buNone/>
            </a:pPr>
            <a:r>
              <a:rPr lang="en-US" sz="1250" b="1" spc="300" kern="0" dirty="0">
                <a:solidFill>
                  <a:srgbClr val="F5A623"/>
                </a:solidFill>
                <a:latin typeface="Arial" pitchFamily="34" charset="0"/>
                <a:ea typeface="Arial" pitchFamily="34" charset="-122"/>
                <a:cs typeface="Arial" pitchFamily="34" charset="-120"/>
              </a:rPr>
              <a:t>THE PLAN</a:t>
            </a:r>
            <a:endParaRPr lang="en-US" sz="1250" dirty="0"/>
          </a:p>
        </p:txBody>
      </p:sp>
      <p:sp>
        <p:nvSpPr>
          <p:cNvPr id="5" name="Text 3"/>
          <p:cNvSpPr/>
          <p:nvPr/>
        </p:nvSpPr>
        <p:spPr>
          <a:xfrm>
            <a:off x="685800" y="868680"/>
            <a:ext cx="10515600" cy="822960"/>
          </a:xfrm>
          <a:prstGeom prst="rect">
            <a:avLst/>
          </a:prstGeom>
          <a:noFill/>
          <a:ln/>
        </p:spPr>
        <p:txBody>
          <a:bodyPr wrap="square" lIns="0" tIns="0" rIns="0" bIns="0" rtlCol="0" anchor="ctr"/>
          <a:lstStyle/>
          <a:p>
            <a:pPr algn="l" indent="0" marL="0">
              <a:buNone/>
            </a:pPr>
            <a:r>
              <a:rPr lang="en-US" sz="3400" b="1" dirty="0">
                <a:solidFill>
                  <a:srgbClr val="F2F6FC"/>
                </a:solidFill>
                <a:latin typeface="Arial" pitchFamily="34" charset="0"/>
                <a:ea typeface="Arial" pitchFamily="34" charset="-122"/>
                <a:cs typeface="Arial" pitchFamily="34" charset="-120"/>
              </a:rPr>
              <a:t>Roll-out</a:t>
            </a:r>
            <a:endParaRPr lang="en-US" sz="3400" dirty="0"/>
          </a:p>
        </p:txBody>
      </p:sp>
      <p:sp>
        <p:nvSpPr>
          <p:cNvPr id="6" name="Text 4"/>
          <p:cNvSpPr/>
          <p:nvPr/>
        </p:nvSpPr>
        <p:spPr>
          <a:xfrm>
            <a:off x="685800" y="1645920"/>
            <a:ext cx="10789920" cy="457200"/>
          </a:xfrm>
          <a:prstGeom prst="rect">
            <a:avLst/>
          </a:prstGeom>
          <a:noFill/>
          <a:ln/>
        </p:spPr>
        <p:txBody>
          <a:bodyPr wrap="square" lIns="0" tIns="0" rIns="0" bIns="0" rtlCol="0" anchor="ctr"/>
          <a:lstStyle/>
          <a:p>
            <a:pPr indent="0" marL="0">
              <a:buNone/>
            </a:pPr>
            <a:r>
              <a:rPr lang="en-US" sz="1500" dirty="0">
                <a:solidFill>
                  <a:srgbClr val="6FA8DC"/>
                </a:solidFill>
                <a:latin typeface="Calibri" pitchFamily="34" charset="0"/>
                <a:ea typeface="Calibri" pitchFamily="34" charset="-122"/>
                <a:cs typeface="Calibri" pitchFamily="34" charset="-120"/>
              </a:rPr>
              <a:t>Prove it in one squadron, extend to the next, then scale — hardening the product at each step alongside the RAID office.</a:t>
            </a:r>
            <a:endParaRPr lang="en-US" sz="1500" dirty="0"/>
          </a:p>
        </p:txBody>
      </p:sp>
      <p:sp>
        <p:nvSpPr>
          <p:cNvPr id="7" name="Shape 5"/>
          <p:cNvSpPr/>
          <p:nvPr/>
        </p:nvSpPr>
        <p:spPr>
          <a:xfrm>
            <a:off x="685800" y="2468880"/>
            <a:ext cx="3474720" cy="3246120"/>
          </a:xfrm>
          <a:prstGeom prst="roundRect">
            <a:avLst>
              <a:gd name="adj" fmla="val 3380"/>
            </a:avLst>
          </a:prstGeom>
          <a:solidFill>
            <a:srgbClr val="13294A"/>
          </a:solidFill>
          <a:ln w="22225">
            <a:solidFill>
              <a:srgbClr val="F5A623"/>
            </a:solidFill>
            <a:prstDash val="solid"/>
          </a:ln>
        </p:spPr>
      </p:sp>
      <p:sp>
        <p:nvSpPr>
          <p:cNvPr id="8" name="Shape 6"/>
          <p:cNvSpPr/>
          <p:nvPr/>
        </p:nvSpPr>
        <p:spPr>
          <a:xfrm>
            <a:off x="960120" y="2761488"/>
            <a:ext cx="822960" cy="822960"/>
          </a:xfrm>
          <a:prstGeom prst="ellipse">
            <a:avLst/>
          </a:prstGeom>
          <a:solidFill>
            <a:srgbClr val="0E1E36"/>
          </a:solidFill>
          <a:ln w="25400">
            <a:solidFill>
              <a:srgbClr val="F5A623"/>
            </a:solidFill>
            <a:prstDash val="solid"/>
          </a:ln>
        </p:spPr>
      </p:sp>
      <p:sp>
        <p:nvSpPr>
          <p:cNvPr id="9" name="Text 7"/>
          <p:cNvSpPr/>
          <p:nvPr/>
        </p:nvSpPr>
        <p:spPr>
          <a:xfrm>
            <a:off x="960120" y="2761488"/>
            <a:ext cx="822960" cy="822960"/>
          </a:xfrm>
          <a:prstGeom prst="rect">
            <a:avLst/>
          </a:prstGeom>
          <a:noFill/>
          <a:ln/>
        </p:spPr>
        <p:txBody>
          <a:bodyPr wrap="square" lIns="0" tIns="0" rIns="0" bIns="0" rtlCol="0" anchor="ctr"/>
          <a:lstStyle/>
          <a:p>
            <a:pPr algn="ctr" indent="0" marL="0">
              <a:buNone/>
            </a:pPr>
            <a:r>
              <a:rPr lang="en-US" sz="2600" b="1" dirty="0">
                <a:solidFill>
                  <a:srgbClr val="F5A623"/>
                </a:solidFill>
                <a:latin typeface="Arial" pitchFamily="34" charset="0"/>
                <a:ea typeface="Arial" pitchFamily="34" charset="-122"/>
                <a:cs typeface="Arial" pitchFamily="34" charset="-120"/>
              </a:rPr>
              <a:t>01</a:t>
            </a:r>
            <a:endParaRPr lang="en-US" sz="2600" dirty="0"/>
          </a:p>
        </p:txBody>
      </p:sp>
      <p:sp>
        <p:nvSpPr>
          <p:cNvPr id="10" name="Text 8"/>
          <p:cNvSpPr/>
          <p:nvPr/>
        </p:nvSpPr>
        <p:spPr>
          <a:xfrm>
            <a:off x="960120" y="3730752"/>
            <a:ext cx="2926080" cy="502920"/>
          </a:xfrm>
          <a:prstGeom prst="rect">
            <a:avLst/>
          </a:prstGeom>
          <a:noFill/>
          <a:ln/>
        </p:spPr>
        <p:txBody>
          <a:bodyPr wrap="square" lIns="0" tIns="0" rIns="0" bIns="0" rtlCol="0" anchor="ctr"/>
          <a:lstStyle/>
          <a:p>
            <a:pPr indent="0" marL="0">
              <a:buNone/>
            </a:pPr>
            <a:r>
              <a:rPr lang="en-US" sz="2600" b="1" dirty="0">
                <a:solidFill>
                  <a:srgbClr val="F2F6FC"/>
                </a:solidFill>
                <a:latin typeface="Arial" pitchFamily="34" charset="0"/>
                <a:ea typeface="Arial" pitchFamily="34" charset="-122"/>
                <a:cs typeface="Arial" pitchFamily="34" charset="-120"/>
              </a:rPr>
              <a:t>142 SQN</a:t>
            </a:r>
            <a:endParaRPr lang="en-US" sz="2600" dirty="0"/>
          </a:p>
        </p:txBody>
      </p:sp>
      <p:sp>
        <p:nvSpPr>
          <p:cNvPr id="11" name="Text 9"/>
          <p:cNvSpPr/>
          <p:nvPr/>
        </p:nvSpPr>
        <p:spPr>
          <a:xfrm>
            <a:off x="960120" y="4297680"/>
            <a:ext cx="2926080" cy="731520"/>
          </a:xfrm>
          <a:prstGeom prst="rect">
            <a:avLst/>
          </a:prstGeom>
          <a:noFill/>
          <a:ln/>
        </p:spPr>
        <p:txBody>
          <a:bodyPr wrap="square" lIns="0" tIns="0" rIns="0" bIns="0" rtlCol="0" anchor="t"/>
          <a:lstStyle/>
          <a:p>
            <a:pPr indent="0" marL="0">
              <a:buNone/>
            </a:pPr>
            <a:r>
              <a:rPr lang="en-US" sz="1250" dirty="0">
                <a:solidFill>
                  <a:srgbClr val="94A9C9"/>
                </a:solidFill>
                <a:latin typeface="Calibri" pitchFamily="34" charset="0"/>
                <a:ea typeface="Calibri" pitchFamily="34" charset="-122"/>
                <a:cs typeface="Calibri" pitchFamily="34" charset="-120"/>
              </a:rPr>
              <a:t>First operational squadron — tested and hardened for daily use with the RAID office.</a:t>
            </a:r>
            <a:endParaRPr lang="en-US" sz="1250" dirty="0"/>
          </a:p>
        </p:txBody>
      </p:sp>
      <p:sp>
        <p:nvSpPr>
          <p:cNvPr id="12" name="Shape 10"/>
          <p:cNvSpPr/>
          <p:nvPr/>
        </p:nvSpPr>
        <p:spPr>
          <a:xfrm>
            <a:off x="960120" y="5166360"/>
            <a:ext cx="2103120" cy="365760"/>
          </a:xfrm>
          <a:prstGeom prst="roundRect">
            <a:avLst>
              <a:gd name="adj" fmla="val 50000"/>
            </a:avLst>
          </a:prstGeom>
          <a:solidFill>
            <a:srgbClr val="0E1E36"/>
          </a:solidFill>
          <a:ln w="12700">
            <a:solidFill>
              <a:srgbClr val="F5A623"/>
            </a:solidFill>
            <a:prstDash val="solid"/>
          </a:ln>
        </p:spPr>
      </p:sp>
      <p:sp>
        <p:nvSpPr>
          <p:cNvPr id="13" name="Text 11"/>
          <p:cNvSpPr/>
          <p:nvPr/>
        </p:nvSpPr>
        <p:spPr>
          <a:xfrm>
            <a:off x="960120" y="5166360"/>
            <a:ext cx="2103120" cy="365760"/>
          </a:xfrm>
          <a:prstGeom prst="rect">
            <a:avLst/>
          </a:prstGeom>
          <a:noFill/>
          <a:ln/>
        </p:spPr>
        <p:txBody>
          <a:bodyPr wrap="square" lIns="0" tIns="0" rIns="0" bIns="0" rtlCol="0" anchor="ctr"/>
          <a:lstStyle/>
          <a:p>
            <a:pPr algn="ctr" indent="0" marL="0">
              <a:buNone/>
            </a:pPr>
            <a:r>
              <a:rPr lang="en-US" sz="1000" b="1" spc="100" kern="0" dirty="0">
                <a:solidFill>
                  <a:srgbClr val="F5A623"/>
                </a:solidFill>
                <a:latin typeface="Arial" pitchFamily="34" charset="0"/>
                <a:ea typeface="Arial" pitchFamily="34" charset="-122"/>
                <a:cs typeface="Arial" pitchFamily="34" charset="-120"/>
              </a:rPr>
              <a:t>NOW → 3 MONTHS</a:t>
            </a:r>
            <a:endParaRPr lang="en-US" sz="1000" dirty="0"/>
          </a:p>
        </p:txBody>
      </p:sp>
      <p:pic>
        <p:nvPicPr>
          <p:cNvPr id="14" name="Image 0" descr="preencoded.png">    </p:cNvPr>
          <p:cNvPicPr>
            <a:picLocks noChangeAspect="1"/>
          </p:cNvPicPr>
          <p:nvPr/>
        </p:nvPicPr>
        <p:blipFill>
          <a:blip r:embed="rId1"/>
          <a:stretch>
            <a:fillRect/>
          </a:stretch>
        </p:blipFill>
        <p:spPr>
          <a:xfrm>
            <a:off x="4142232" y="3909060"/>
            <a:ext cx="365760" cy="365760"/>
          </a:xfrm>
          <a:prstGeom prst="rect">
            <a:avLst/>
          </a:prstGeom>
        </p:spPr>
      </p:pic>
      <p:sp>
        <p:nvSpPr>
          <p:cNvPr id="15" name="Shape 12"/>
          <p:cNvSpPr/>
          <p:nvPr/>
        </p:nvSpPr>
        <p:spPr>
          <a:xfrm>
            <a:off x="4416552" y="2468880"/>
            <a:ext cx="3474720" cy="3246120"/>
          </a:xfrm>
          <a:prstGeom prst="roundRect">
            <a:avLst>
              <a:gd name="adj" fmla="val 3380"/>
            </a:avLst>
          </a:prstGeom>
          <a:solidFill>
            <a:srgbClr val="13294A"/>
          </a:solidFill>
          <a:ln w="12700">
            <a:solidFill>
              <a:srgbClr val="27446F"/>
            </a:solidFill>
            <a:prstDash val="solid"/>
          </a:ln>
        </p:spPr>
      </p:sp>
      <p:sp>
        <p:nvSpPr>
          <p:cNvPr id="16" name="Shape 13"/>
          <p:cNvSpPr/>
          <p:nvPr/>
        </p:nvSpPr>
        <p:spPr>
          <a:xfrm>
            <a:off x="4690872" y="2761488"/>
            <a:ext cx="822960" cy="822960"/>
          </a:xfrm>
          <a:prstGeom prst="ellipse">
            <a:avLst/>
          </a:prstGeom>
          <a:solidFill>
            <a:srgbClr val="0E1E36"/>
          </a:solidFill>
          <a:ln w="25400">
            <a:solidFill>
              <a:srgbClr val="6FA8DC"/>
            </a:solidFill>
            <a:prstDash val="solid"/>
          </a:ln>
        </p:spPr>
      </p:sp>
      <p:sp>
        <p:nvSpPr>
          <p:cNvPr id="17" name="Text 14"/>
          <p:cNvSpPr/>
          <p:nvPr/>
        </p:nvSpPr>
        <p:spPr>
          <a:xfrm>
            <a:off x="4690872" y="2761488"/>
            <a:ext cx="822960" cy="822960"/>
          </a:xfrm>
          <a:prstGeom prst="rect">
            <a:avLst/>
          </a:prstGeom>
          <a:noFill/>
          <a:ln/>
        </p:spPr>
        <p:txBody>
          <a:bodyPr wrap="square" lIns="0" tIns="0" rIns="0" bIns="0" rtlCol="0" anchor="ctr"/>
          <a:lstStyle/>
          <a:p>
            <a:pPr algn="ctr" indent="0" marL="0">
              <a:buNone/>
            </a:pPr>
            <a:r>
              <a:rPr lang="en-US" sz="2600" b="1" dirty="0">
                <a:solidFill>
                  <a:srgbClr val="6FA8DC"/>
                </a:solidFill>
                <a:latin typeface="Arial" pitchFamily="34" charset="0"/>
                <a:ea typeface="Arial" pitchFamily="34" charset="-122"/>
                <a:cs typeface="Arial" pitchFamily="34" charset="-120"/>
              </a:rPr>
              <a:t>02</a:t>
            </a:r>
            <a:endParaRPr lang="en-US" sz="2600" dirty="0"/>
          </a:p>
        </p:txBody>
      </p:sp>
      <p:sp>
        <p:nvSpPr>
          <p:cNvPr id="18" name="Text 15"/>
          <p:cNvSpPr/>
          <p:nvPr/>
        </p:nvSpPr>
        <p:spPr>
          <a:xfrm>
            <a:off x="4690872" y="3730752"/>
            <a:ext cx="2926080" cy="502920"/>
          </a:xfrm>
          <a:prstGeom prst="rect">
            <a:avLst/>
          </a:prstGeom>
          <a:noFill/>
          <a:ln/>
        </p:spPr>
        <p:txBody>
          <a:bodyPr wrap="square" lIns="0" tIns="0" rIns="0" bIns="0" rtlCol="0" anchor="ctr"/>
          <a:lstStyle/>
          <a:p>
            <a:pPr indent="0" marL="0">
              <a:buNone/>
            </a:pPr>
            <a:r>
              <a:rPr lang="en-US" sz="2600" b="1" dirty="0">
                <a:solidFill>
                  <a:srgbClr val="F2F6FC"/>
                </a:solidFill>
                <a:latin typeface="Arial" pitchFamily="34" charset="0"/>
                <a:ea typeface="Arial" pitchFamily="34" charset="-122"/>
                <a:cs typeface="Arial" pitchFamily="34" charset="-120"/>
              </a:rPr>
              <a:t>149 SQN</a:t>
            </a:r>
            <a:endParaRPr lang="en-US" sz="2600" dirty="0"/>
          </a:p>
        </p:txBody>
      </p:sp>
      <p:sp>
        <p:nvSpPr>
          <p:cNvPr id="19" name="Text 16"/>
          <p:cNvSpPr/>
          <p:nvPr/>
        </p:nvSpPr>
        <p:spPr>
          <a:xfrm>
            <a:off x="4690872" y="4297680"/>
            <a:ext cx="2926080" cy="731520"/>
          </a:xfrm>
          <a:prstGeom prst="rect">
            <a:avLst/>
          </a:prstGeom>
          <a:noFill/>
          <a:ln/>
        </p:spPr>
        <p:txBody>
          <a:bodyPr wrap="square" lIns="0" tIns="0" rIns="0" bIns="0" rtlCol="0" anchor="t"/>
          <a:lstStyle/>
          <a:p>
            <a:pPr indent="0" marL="0">
              <a:buNone/>
            </a:pPr>
            <a:r>
              <a:rPr lang="en-US" sz="1250" dirty="0">
                <a:solidFill>
                  <a:srgbClr val="94A9C9"/>
                </a:solidFill>
                <a:latin typeface="Calibri" pitchFamily="34" charset="0"/>
                <a:ea typeface="Calibri" pitchFamily="34" charset="-122"/>
                <a:cs typeface="Calibri" pitchFamily="34" charset="-120"/>
              </a:rPr>
              <a:t>Extend the proven product to the second squadron once robustness is shown.</a:t>
            </a:r>
            <a:endParaRPr lang="en-US" sz="1250" dirty="0"/>
          </a:p>
        </p:txBody>
      </p:sp>
      <p:sp>
        <p:nvSpPr>
          <p:cNvPr id="20" name="Shape 17"/>
          <p:cNvSpPr/>
          <p:nvPr/>
        </p:nvSpPr>
        <p:spPr>
          <a:xfrm>
            <a:off x="4690872" y="5166360"/>
            <a:ext cx="2103120" cy="365760"/>
          </a:xfrm>
          <a:prstGeom prst="roundRect">
            <a:avLst>
              <a:gd name="adj" fmla="val 50000"/>
            </a:avLst>
          </a:prstGeom>
          <a:solidFill>
            <a:srgbClr val="0E1E36"/>
          </a:solidFill>
          <a:ln w="12700">
            <a:solidFill>
              <a:srgbClr val="6FA8DC"/>
            </a:solidFill>
            <a:prstDash val="solid"/>
          </a:ln>
        </p:spPr>
      </p:sp>
      <p:sp>
        <p:nvSpPr>
          <p:cNvPr id="21" name="Text 18"/>
          <p:cNvSpPr/>
          <p:nvPr/>
        </p:nvSpPr>
        <p:spPr>
          <a:xfrm>
            <a:off x="4690872" y="5166360"/>
            <a:ext cx="2103120" cy="365760"/>
          </a:xfrm>
          <a:prstGeom prst="rect">
            <a:avLst/>
          </a:prstGeom>
          <a:noFill/>
          <a:ln/>
        </p:spPr>
        <p:txBody>
          <a:bodyPr wrap="square" lIns="0" tIns="0" rIns="0" bIns="0" rtlCol="0" anchor="ctr"/>
          <a:lstStyle/>
          <a:p>
            <a:pPr algn="ctr" indent="0" marL="0">
              <a:buNone/>
            </a:pPr>
            <a:r>
              <a:rPr lang="en-US" sz="1000" b="1" spc="100" kern="0" dirty="0">
                <a:solidFill>
                  <a:srgbClr val="6FA8DC"/>
                </a:solidFill>
                <a:latin typeface="Arial" pitchFamily="34" charset="0"/>
                <a:ea typeface="Arial" pitchFamily="34" charset="-122"/>
                <a:cs typeface="Arial" pitchFamily="34" charset="-120"/>
              </a:rPr>
              <a:t>NEXT</a:t>
            </a:r>
            <a:endParaRPr lang="en-US" sz="1000" dirty="0"/>
          </a:p>
        </p:txBody>
      </p:sp>
      <p:pic>
        <p:nvPicPr>
          <p:cNvPr id="22" name="Image 1" descr="preencoded.png">    </p:cNvPr>
          <p:cNvPicPr>
            <a:picLocks noChangeAspect="1"/>
          </p:cNvPicPr>
          <p:nvPr/>
        </p:nvPicPr>
        <p:blipFill>
          <a:blip r:embed="rId2"/>
          <a:stretch>
            <a:fillRect/>
          </a:stretch>
        </p:blipFill>
        <p:spPr>
          <a:xfrm>
            <a:off x="7872984" y="3909060"/>
            <a:ext cx="365760" cy="365760"/>
          </a:xfrm>
          <a:prstGeom prst="rect">
            <a:avLst/>
          </a:prstGeom>
        </p:spPr>
      </p:pic>
      <p:sp>
        <p:nvSpPr>
          <p:cNvPr id="23" name="Shape 19"/>
          <p:cNvSpPr/>
          <p:nvPr/>
        </p:nvSpPr>
        <p:spPr>
          <a:xfrm>
            <a:off x="8147304" y="2468880"/>
            <a:ext cx="3474720" cy="3246120"/>
          </a:xfrm>
          <a:prstGeom prst="roundRect">
            <a:avLst>
              <a:gd name="adj" fmla="val 3380"/>
            </a:avLst>
          </a:prstGeom>
          <a:solidFill>
            <a:srgbClr val="13294A"/>
          </a:solidFill>
          <a:ln w="12700">
            <a:solidFill>
              <a:srgbClr val="27446F"/>
            </a:solidFill>
            <a:prstDash val="solid"/>
          </a:ln>
        </p:spPr>
      </p:sp>
      <p:sp>
        <p:nvSpPr>
          <p:cNvPr id="24" name="Shape 20"/>
          <p:cNvSpPr/>
          <p:nvPr/>
        </p:nvSpPr>
        <p:spPr>
          <a:xfrm>
            <a:off x="8421624" y="2761488"/>
            <a:ext cx="822960" cy="822960"/>
          </a:xfrm>
          <a:prstGeom prst="ellipse">
            <a:avLst/>
          </a:prstGeom>
          <a:solidFill>
            <a:srgbClr val="0E1E36"/>
          </a:solidFill>
          <a:ln w="25400">
            <a:solidFill>
              <a:srgbClr val="37C46E"/>
            </a:solidFill>
            <a:prstDash val="solid"/>
          </a:ln>
        </p:spPr>
      </p:sp>
      <p:sp>
        <p:nvSpPr>
          <p:cNvPr id="25" name="Text 21"/>
          <p:cNvSpPr/>
          <p:nvPr/>
        </p:nvSpPr>
        <p:spPr>
          <a:xfrm>
            <a:off x="8421624" y="2761488"/>
            <a:ext cx="822960" cy="822960"/>
          </a:xfrm>
          <a:prstGeom prst="rect">
            <a:avLst/>
          </a:prstGeom>
          <a:noFill/>
          <a:ln/>
        </p:spPr>
        <p:txBody>
          <a:bodyPr wrap="square" lIns="0" tIns="0" rIns="0" bIns="0" rtlCol="0" anchor="ctr"/>
          <a:lstStyle/>
          <a:p>
            <a:pPr algn="ctr" indent="0" marL="0">
              <a:buNone/>
            </a:pPr>
            <a:r>
              <a:rPr lang="en-US" sz="2600" b="1" dirty="0">
                <a:solidFill>
                  <a:srgbClr val="37C46E"/>
                </a:solidFill>
                <a:latin typeface="Arial" pitchFamily="34" charset="0"/>
                <a:ea typeface="Arial" pitchFamily="34" charset="-122"/>
                <a:cs typeface="Arial" pitchFamily="34" charset="-120"/>
              </a:rPr>
              <a:t>03</a:t>
            </a:r>
            <a:endParaRPr lang="en-US" sz="2600" dirty="0"/>
          </a:p>
        </p:txBody>
      </p:sp>
      <p:sp>
        <p:nvSpPr>
          <p:cNvPr id="26" name="Text 22"/>
          <p:cNvSpPr/>
          <p:nvPr/>
        </p:nvSpPr>
        <p:spPr>
          <a:xfrm>
            <a:off x="8421624" y="3730752"/>
            <a:ext cx="2926080" cy="502920"/>
          </a:xfrm>
          <a:prstGeom prst="rect">
            <a:avLst/>
          </a:prstGeom>
          <a:noFill/>
          <a:ln/>
        </p:spPr>
        <p:txBody>
          <a:bodyPr wrap="square" lIns="0" tIns="0" rIns="0" bIns="0" rtlCol="0" anchor="ctr"/>
          <a:lstStyle/>
          <a:p>
            <a:pPr indent="0" marL="0">
              <a:buNone/>
            </a:pPr>
            <a:r>
              <a:rPr lang="en-US" sz="2600" b="1" dirty="0">
                <a:solidFill>
                  <a:srgbClr val="F2F6FC"/>
                </a:solidFill>
                <a:latin typeface="Arial" pitchFamily="34" charset="0"/>
                <a:ea typeface="Arial" pitchFamily="34" charset="-122"/>
                <a:cs typeface="Arial" pitchFamily="34" charset="-120"/>
              </a:rPr>
              <a:t>FG</a:t>
            </a:r>
            <a:endParaRPr lang="en-US" sz="2600" dirty="0"/>
          </a:p>
        </p:txBody>
      </p:sp>
      <p:sp>
        <p:nvSpPr>
          <p:cNvPr id="27" name="Text 23"/>
          <p:cNvSpPr/>
          <p:nvPr/>
        </p:nvSpPr>
        <p:spPr>
          <a:xfrm>
            <a:off x="8421624" y="4297680"/>
            <a:ext cx="2926080" cy="731520"/>
          </a:xfrm>
          <a:prstGeom prst="rect">
            <a:avLst/>
          </a:prstGeom>
          <a:noFill/>
          <a:ln/>
        </p:spPr>
        <p:txBody>
          <a:bodyPr wrap="square" lIns="0" tIns="0" rIns="0" bIns="0" rtlCol="0" anchor="t"/>
          <a:lstStyle/>
          <a:p>
            <a:pPr indent="0" marL="0">
              <a:buNone/>
            </a:pPr>
            <a:r>
              <a:rPr lang="en-US" sz="1250" dirty="0">
                <a:solidFill>
                  <a:srgbClr val="94A9C9"/>
                </a:solidFill>
                <a:latin typeface="Calibri" pitchFamily="34" charset="0"/>
                <a:ea typeface="Calibri" pitchFamily="34" charset="-122"/>
                <a:cs typeface="Calibri" pitchFamily="34" charset="-120"/>
              </a:rPr>
              <a:t>Potential wider roll-out across the group, on an already-tested system.</a:t>
            </a:r>
            <a:endParaRPr lang="en-US" sz="1250" dirty="0"/>
          </a:p>
        </p:txBody>
      </p:sp>
      <p:sp>
        <p:nvSpPr>
          <p:cNvPr id="28" name="Shape 24"/>
          <p:cNvSpPr/>
          <p:nvPr/>
        </p:nvSpPr>
        <p:spPr>
          <a:xfrm>
            <a:off x="8421624" y="5166360"/>
            <a:ext cx="2103120" cy="365760"/>
          </a:xfrm>
          <a:prstGeom prst="roundRect">
            <a:avLst>
              <a:gd name="adj" fmla="val 50000"/>
            </a:avLst>
          </a:prstGeom>
          <a:solidFill>
            <a:srgbClr val="0E1E36"/>
          </a:solidFill>
          <a:ln w="12700">
            <a:solidFill>
              <a:srgbClr val="37C46E"/>
            </a:solidFill>
            <a:prstDash val="solid"/>
          </a:ln>
        </p:spPr>
      </p:sp>
      <p:sp>
        <p:nvSpPr>
          <p:cNvPr id="29" name="Text 25"/>
          <p:cNvSpPr/>
          <p:nvPr/>
        </p:nvSpPr>
        <p:spPr>
          <a:xfrm>
            <a:off x="8421624" y="5166360"/>
            <a:ext cx="2103120" cy="365760"/>
          </a:xfrm>
          <a:prstGeom prst="rect">
            <a:avLst/>
          </a:prstGeom>
          <a:noFill/>
          <a:ln/>
        </p:spPr>
        <p:txBody>
          <a:bodyPr wrap="square" lIns="0" tIns="0" rIns="0" bIns="0" rtlCol="0" anchor="ctr"/>
          <a:lstStyle/>
          <a:p>
            <a:pPr algn="ctr" indent="0" marL="0">
              <a:buNone/>
            </a:pPr>
            <a:r>
              <a:rPr lang="en-US" sz="1000" b="1" spc="100" kern="0" dirty="0">
                <a:solidFill>
                  <a:srgbClr val="37C46E"/>
                </a:solidFill>
                <a:latin typeface="Arial" pitchFamily="34" charset="0"/>
                <a:ea typeface="Arial" pitchFamily="34" charset="-122"/>
                <a:cs typeface="Arial" pitchFamily="34" charset="-120"/>
              </a:rPr>
              <a:t>FUTURE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526"/>
        </a:solidFill>
      </p:bgPr>
    </p:bg>
    <p:spTree>
      <p:nvGrpSpPr>
        <p:cNvPr id="1" name=""/>
        <p:cNvGrpSpPr/>
        <p:nvPr/>
      </p:nvGrpSpPr>
      <p:grpSpPr>
        <a:xfrm>
          <a:off x="0" y="0"/>
          <a:ext cx="0" cy="0"/>
          <a:chOff x="0" y="0"/>
          <a:chExt cx="0" cy="0"/>
        </a:xfrm>
      </p:grpSpPr>
      <p:sp>
        <p:nvSpPr>
          <p:cNvPr id="2" name="Shape 0"/>
          <p:cNvSpPr/>
          <p:nvPr/>
        </p:nvSpPr>
        <p:spPr>
          <a:xfrm>
            <a:off x="0" y="0"/>
            <a:ext cx="12188952" cy="2194560"/>
          </a:xfrm>
          <a:prstGeom prst="rect">
            <a:avLst/>
          </a:prstGeom>
          <a:solidFill>
            <a:srgbClr val="0E1E36"/>
          </a:solidFill>
          <a:ln/>
        </p:spPr>
      </p:sp>
      <p:sp>
        <p:nvSpPr>
          <p:cNvPr id="3" name="Shape 1"/>
          <p:cNvSpPr/>
          <p:nvPr/>
        </p:nvSpPr>
        <p:spPr>
          <a:xfrm>
            <a:off x="8257032" y="2560320"/>
            <a:ext cx="5943600" cy="5943600"/>
          </a:xfrm>
          <a:prstGeom prst="ellipse">
            <a:avLst/>
          </a:prstGeom>
          <a:ln w="12700">
            <a:solidFill>
              <a:srgbClr val="27446F"/>
            </a:solidFill>
            <a:prstDash val="solid"/>
          </a:ln>
        </p:spPr>
      </p:sp>
      <p:sp>
        <p:nvSpPr>
          <p:cNvPr id="4" name="Shape 2"/>
          <p:cNvSpPr/>
          <p:nvPr/>
        </p:nvSpPr>
        <p:spPr>
          <a:xfrm>
            <a:off x="9171432" y="3474720"/>
            <a:ext cx="4114800" cy="4114800"/>
          </a:xfrm>
          <a:prstGeom prst="ellipse">
            <a:avLst/>
          </a:prstGeom>
          <a:ln w="12700">
            <a:solidFill>
              <a:srgbClr val="27446F"/>
            </a:solidFill>
            <a:prstDash val="solid"/>
          </a:ln>
        </p:spPr>
      </p:sp>
      <p:sp>
        <p:nvSpPr>
          <p:cNvPr id="5" name="Shape 3"/>
          <p:cNvSpPr/>
          <p:nvPr/>
        </p:nvSpPr>
        <p:spPr>
          <a:xfrm>
            <a:off x="9948672" y="4251960"/>
            <a:ext cx="2560320" cy="2560320"/>
          </a:xfrm>
          <a:prstGeom prst="ellipse">
            <a:avLst/>
          </a:prstGeom>
          <a:ln w="12700">
            <a:solidFill>
              <a:srgbClr val="F5A623">
                <a:alpha val="65000"/>
              </a:srgbClr>
            </a:solidFill>
            <a:prstDash val="solid"/>
          </a:ln>
        </p:spPr>
      </p:sp>
      <p:sp>
        <p:nvSpPr>
          <p:cNvPr id="6" name="Shape 4"/>
          <p:cNvSpPr/>
          <p:nvPr/>
        </p:nvSpPr>
        <p:spPr>
          <a:xfrm>
            <a:off x="685800" y="777240"/>
            <a:ext cx="548640" cy="548640"/>
          </a:xfrm>
          <a:prstGeom prst="ellipse">
            <a:avLst/>
          </a:prstGeom>
          <a:solidFill>
            <a:srgbClr val="0E1E36"/>
          </a:solidFill>
          <a:ln w="19050">
            <a:solidFill>
              <a:srgbClr val="F5A623"/>
            </a:solidFill>
            <a:prstDash val="solid"/>
          </a:ln>
        </p:spPr>
      </p:sp>
      <p:pic>
        <p:nvPicPr>
          <p:cNvPr id="7" name="Image 0" descr="preencoded.png">    </p:cNvPr>
          <p:cNvPicPr>
            <a:picLocks noChangeAspect="1"/>
          </p:cNvPicPr>
          <p:nvPr/>
        </p:nvPicPr>
        <p:blipFill>
          <a:blip r:embed="rId1"/>
          <a:stretch>
            <a:fillRect/>
          </a:stretch>
        </p:blipFill>
        <p:spPr>
          <a:xfrm>
            <a:off x="828446" y="919886"/>
            <a:ext cx="263347" cy="263347"/>
          </a:xfrm>
          <a:prstGeom prst="rect">
            <a:avLst/>
          </a:prstGeom>
        </p:spPr>
      </p:pic>
      <p:sp>
        <p:nvSpPr>
          <p:cNvPr id="8" name="Text 5"/>
          <p:cNvSpPr/>
          <p:nvPr/>
        </p:nvSpPr>
        <p:spPr>
          <a:xfrm>
            <a:off x="1417320" y="804672"/>
            <a:ext cx="7315200" cy="502920"/>
          </a:xfrm>
          <a:prstGeom prst="rect">
            <a:avLst/>
          </a:prstGeom>
          <a:noFill/>
          <a:ln/>
        </p:spPr>
        <p:txBody>
          <a:bodyPr wrap="square" lIns="0" tIns="0" rIns="0" bIns="0" rtlCol="0" anchor="ctr"/>
          <a:lstStyle/>
          <a:p>
            <a:pPr indent="0" marL="0">
              <a:buNone/>
            </a:pPr>
            <a:r>
              <a:rPr lang="en-US" sz="2200" b="1" spc="300" kern="0" dirty="0">
                <a:solidFill>
                  <a:srgbClr val="F2F6FC"/>
                </a:solidFill>
                <a:latin typeface="Arial" pitchFamily="34" charset="0"/>
                <a:ea typeface="Arial" pitchFamily="34" charset="-122"/>
                <a:cs typeface="Arial" pitchFamily="34" charset="-120"/>
              </a:rPr>
              <a:t>RAPTOR</a:t>
            </a:r>
            <a:endParaRPr lang="en-US" sz="2200" dirty="0"/>
          </a:p>
        </p:txBody>
      </p:sp>
      <p:sp>
        <p:nvSpPr>
          <p:cNvPr id="9" name="Text 6"/>
          <p:cNvSpPr/>
          <p:nvPr/>
        </p:nvSpPr>
        <p:spPr>
          <a:xfrm>
            <a:off x="685800" y="2651760"/>
            <a:ext cx="9601200" cy="1828800"/>
          </a:xfrm>
          <a:prstGeom prst="rect">
            <a:avLst/>
          </a:prstGeom>
          <a:noFill/>
          <a:ln/>
        </p:spPr>
        <p:txBody>
          <a:bodyPr wrap="square" lIns="0" tIns="0" rIns="0" bIns="0" rtlCol="0" anchor="ctr"/>
          <a:lstStyle/>
          <a:p>
            <a:pPr algn="l" indent="0" marL="0">
              <a:lnSpc>
                <a:spcPts val="5600"/>
              </a:lnSpc>
              <a:buNone/>
            </a:pPr>
            <a:r>
              <a:rPr lang="en-US" sz="5200" b="1" dirty="0">
                <a:solidFill>
                  <a:srgbClr val="F2F6FC"/>
                </a:solidFill>
                <a:latin typeface="Arial" pitchFamily="34" charset="0"/>
                <a:ea typeface="Arial" pitchFamily="34" charset="-122"/>
                <a:cs typeface="Arial" pitchFamily="34" charset="-120"/>
              </a:rPr>
              <a:t>One squadron.
</a:t>
            </a:r>
            <a:pPr algn="l" indent="0" marL="0">
              <a:lnSpc>
                <a:spcPts val="5600"/>
              </a:lnSpc>
              <a:buNone/>
            </a:pPr>
            <a:r>
              <a:rPr lang="en-US" sz="5200" b="1" dirty="0">
                <a:solidFill>
                  <a:srgbClr val="FFC559"/>
                </a:solidFill>
                <a:latin typeface="Arial" pitchFamily="34" charset="0"/>
                <a:ea typeface="Arial" pitchFamily="34" charset="-122"/>
                <a:cs typeface="Arial" pitchFamily="34" charset="-120"/>
              </a:rPr>
              <a:t>One source of truth.</a:t>
            </a:r>
            <a:endParaRPr lang="en-US" sz="5200" dirty="0"/>
          </a:p>
        </p:txBody>
      </p:sp>
      <p:sp>
        <p:nvSpPr>
          <p:cNvPr id="10" name="Text 7"/>
          <p:cNvSpPr/>
          <p:nvPr/>
        </p:nvSpPr>
        <p:spPr>
          <a:xfrm>
            <a:off x="685800" y="4617720"/>
            <a:ext cx="7863840" cy="914400"/>
          </a:xfrm>
          <a:prstGeom prst="rect">
            <a:avLst/>
          </a:prstGeom>
          <a:noFill/>
          <a:ln/>
        </p:spPr>
        <p:txBody>
          <a:bodyPr wrap="square" lIns="0" tIns="0" rIns="0" bIns="0" rtlCol="0" anchor="ctr"/>
          <a:lstStyle/>
          <a:p>
            <a:pPr indent="0" marL="0">
              <a:buNone/>
            </a:pPr>
            <a:r>
              <a:rPr lang="en-US" sz="1600" dirty="0">
                <a:solidFill>
                  <a:srgbClr val="94A9C9"/>
                </a:solidFill>
                <a:latin typeface="Calibri" pitchFamily="34" charset="0"/>
                <a:ea typeface="Calibri" pitchFamily="34" charset="-122"/>
                <a:cs typeface="Calibri" pitchFamily="34" charset="-120"/>
              </a:rPr>
              <a:t>The programme, the rules, the crew and the manpower picture — planned, checked and synced in one place. Now we test it hard, and put it in the squadron's hands.</a:t>
            </a:r>
            <a:endParaRPr lang="en-US" sz="1600" dirty="0"/>
          </a:p>
        </p:txBody>
      </p:sp>
      <p:sp>
        <p:nvSpPr>
          <p:cNvPr id="11" name="Shape 8"/>
          <p:cNvSpPr/>
          <p:nvPr/>
        </p:nvSpPr>
        <p:spPr>
          <a:xfrm>
            <a:off x="685800" y="5806440"/>
            <a:ext cx="3108960" cy="365760"/>
          </a:xfrm>
          <a:prstGeom prst="roundRect">
            <a:avLst>
              <a:gd name="adj" fmla="val 50000"/>
            </a:avLst>
          </a:prstGeom>
          <a:solidFill>
            <a:srgbClr val="0E1E36"/>
          </a:solidFill>
          <a:ln w="15875">
            <a:solidFill>
              <a:srgbClr val="F5A623"/>
            </a:solidFill>
            <a:prstDash val="solid"/>
          </a:ln>
        </p:spPr>
      </p:sp>
      <p:sp>
        <p:nvSpPr>
          <p:cNvPr id="12" name="Shape 9"/>
          <p:cNvSpPr/>
          <p:nvPr/>
        </p:nvSpPr>
        <p:spPr>
          <a:xfrm>
            <a:off x="813816" y="5925312"/>
            <a:ext cx="128016" cy="128016"/>
          </a:xfrm>
          <a:prstGeom prst="ellipse">
            <a:avLst/>
          </a:prstGeom>
          <a:solidFill>
            <a:srgbClr val="F5A623"/>
          </a:solidFill>
          <a:ln/>
        </p:spPr>
      </p:sp>
      <p:sp>
        <p:nvSpPr>
          <p:cNvPr id="13" name="Text 10"/>
          <p:cNvSpPr/>
          <p:nvPr/>
        </p:nvSpPr>
        <p:spPr>
          <a:xfrm>
            <a:off x="996696" y="5806440"/>
            <a:ext cx="2743200" cy="365760"/>
          </a:xfrm>
          <a:prstGeom prst="rect">
            <a:avLst/>
          </a:prstGeom>
          <a:noFill/>
          <a:ln/>
        </p:spPr>
        <p:txBody>
          <a:bodyPr wrap="square" lIns="0" tIns="0" rIns="0" bIns="0" rtlCol="0" anchor="ctr"/>
          <a:lstStyle/>
          <a:p>
            <a:pPr algn="l" indent="0" marL="0">
              <a:buNone/>
            </a:pPr>
            <a:r>
              <a:rPr lang="en-US" sz="1150" b="1" dirty="0">
                <a:solidFill>
                  <a:srgbClr val="F2F6FC"/>
                </a:solidFill>
                <a:latin typeface="Calibri" pitchFamily="34" charset="0"/>
                <a:ea typeface="Calibri" pitchFamily="34" charset="-122"/>
                <a:cs typeface="Calibri" pitchFamily="34" charset="-120"/>
              </a:rPr>
              <a:t>Next: hardening with RAID office</a:t>
            </a:r>
            <a:endParaRPr lang="en-US" sz="1150" dirty="0"/>
          </a:p>
        </p:txBody>
      </p:sp>
      <p:sp>
        <p:nvSpPr>
          <p:cNvPr id="14" name="Shape 11"/>
          <p:cNvSpPr/>
          <p:nvPr/>
        </p:nvSpPr>
        <p:spPr>
          <a:xfrm>
            <a:off x="3977640" y="5806440"/>
            <a:ext cx="2926080" cy="365760"/>
          </a:xfrm>
          <a:prstGeom prst="roundRect">
            <a:avLst>
              <a:gd name="adj" fmla="val 50000"/>
            </a:avLst>
          </a:prstGeom>
          <a:solidFill>
            <a:srgbClr val="0E1E36"/>
          </a:solidFill>
          <a:ln w="15875">
            <a:solidFill>
              <a:srgbClr val="37C46E"/>
            </a:solidFill>
            <a:prstDash val="solid"/>
          </a:ln>
        </p:spPr>
      </p:sp>
      <p:sp>
        <p:nvSpPr>
          <p:cNvPr id="15" name="Shape 12"/>
          <p:cNvSpPr/>
          <p:nvPr/>
        </p:nvSpPr>
        <p:spPr>
          <a:xfrm>
            <a:off x="4105656" y="5925312"/>
            <a:ext cx="128016" cy="128016"/>
          </a:xfrm>
          <a:prstGeom prst="ellipse">
            <a:avLst/>
          </a:prstGeom>
          <a:solidFill>
            <a:srgbClr val="37C46E"/>
          </a:solidFill>
          <a:ln/>
        </p:spPr>
      </p:sp>
      <p:sp>
        <p:nvSpPr>
          <p:cNvPr id="16" name="Text 13"/>
          <p:cNvSpPr/>
          <p:nvPr/>
        </p:nvSpPr>
        <p:spPr>
          <a:xfrm>
            <a:off x="4288536" y="5806440"/>
            <a:ext cx="2560320" cy="365760"/>
          </a:xfrm>
          <a:prstGeom prst="rect">
            <a:avLst/>
          </a:prstGeom>
          <a:noFill/>
          <a:ln/>
        </p:spPr>
        <p:txBody>
          <a:bodyPr wrap="square" lIns="0" tIns="0" rIns="0" bIns="0" rtlCol="0" anchor="ctr"/>
          <a:lstStyle/>
          <a:p>
            <a:pPr algn="l" indent="0" marL="0">
              <a:buNone/>
            </a:pPr>
            <a:r>
              <a:rPr lang="en-US" sz="1150" b="1" dirty="0">
                <a:solidFill>
                  <a:srgbClr val="F2F6FC"/>
                </a:solidFill>
                <a:latin typeface="Calibri" pitchFamily="34" charset="0"/>
                <a:ea typeface="Calibri" pitchFamily="34" charset="-122"/>
                <a:cs typeface="Calibri" pitchFamily="34" charset="-120"/>
              </a:rPr>
              <a:t>Then: 142 SQN, live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2026-08-24T03:10:41Z</dcterms:created>
  <dcterms:modified xsi:type="dcterms:W3CDTF">2026-08-24T03:10:41Z</dcterms:modified>
</cp:coreProperties>
</file>