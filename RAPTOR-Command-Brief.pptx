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RAPTOR — Readiness, Availability, Planning, Tracking and Ops Reporting — is 142 Squadron's operations planner. The idea in one line: it's the wingman in the planning room. It holds the flying programme, the crew, the rules and the manpower picture in one place, and it backs the planner up the moment something doesn't add up. It works on a desktop and on a phone, and it's live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problem. Everything a squadron plans against sits in a different place — the programme in one spreadsheet, leave over chat, medical certs in email, up-chits on paper, quals in another sheet, student progress in yet another tool. The same fact gets entered again and again, and because nothing is joined up, mistakes slip through and nobody is ever sure they're looking at the current picture. RAPTOR pulls all of it into one application, so a fact is entered once and everyone sees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RAPTOR a wingman rather than a spreadsheet. The moment a line changes, the engine re-checks the whole day and flags anything that breaks the rules — and these are real examples from the app: a crew-rest breach where it has actually done the maths on last night's landing versus this morning's report; a person double-booked across two events; someone medically down still on a flying line; a flight whose brief window is eaten by a meeting; a qualification or currency problem. It grades them — red for a hard breach, amber for a tight advisory — but it never blocks the planner. It catches the mistake before it flies.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Placing crew is where the rules engine meets the roster. On the right of the schedule is the available-crew palette — the placeholders — showing exactly who is free, and striking out anyone already flying, on duty or on leave. When you click a crew member, every slot they could legally fill lights up green, so you can see at a glance where they can go. And selecting a puck highlights that person across the whole week, so you can read where they are all week without hunting. All of it qualification-, rest- and conflict-aware — and if you override and place someone anyway, the breach is flagged right on the puck.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medical and manpower are the other half. Leave is approved once and appears on the programme automatically; file it on the schedule side and the balances draw down. Two things people will feel immediately: they can just screenshot their leave application or a medical cert and upload it — no forms to re-fill — and the app reminds anyone who's due to be up-chitted but hasn't been, so it isn't tracked on someone's personal note. Underneath is the manpower red line: management sets the daily floor for each category, and the grid turns amber then red the instant manning drops below it. This is a whole year of leave and duties in one view, always in step with the flying programme.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scheduling tool only helps if people actually use it, so the interface was a first-class concern. On a phone it reads top to bottom, stays spacious, and every control is reachable with a thumb. On a desktop it uses the full width — three days side by side, the crew palette docked on the right, drag-to-place. Same data, same rules, shaped for whichever screen the planner or a squadron member happens to have in front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direction from here. First, move off the demo and onto the squadron's own Microsoft platform — Power Apps inside Teams, backed by a live shared database — so it becomes genuinely multi-user and real-time inside tools the squadron already runs. Second, make it robust: extensive testing with the RAID office is the priority for the next three months. Third, fold in the OCU syllabus tracker that already exists, so every student's progress lives right beside the flying programme. It was built with AI over more than 500 rounds of testing behind six automated quality gates, and that same discipline carries into the hardening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RAPTOR brings the programme, the crew, the rules and the manpower into one place — planned, checked and synced — a wingman that catches the mistake before it flies. The near-term ask is simple: harden it with the RAID office over the next three months and put it in 142 Squadron's hands, then extend to 149 Squadron once it's proven, and potentially wider across FG. One squadron, one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1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0D10"/>
          </a:solidFill>
          <a:ln/>
        </p:spPr>
      </p:sp>
      <p:sp>
        <p:nvSpPr>
          <p:cNvPr id="3" name="Shape 1"/>
          <p:cNvSpPr/>
          <p:nvPr/>
        </p:nvSpPr>
        <p:spPr>
          <a:xfrm>
            <a:off x="-2194560" y="3383280"/>
            <a:ext cx="6035040" cy="6035040"/>
          </a:xfrm>
          <a:prstGeom prst="ellipse">
            <a:avLst/>
          </a:prstGeom>
          <a:ln w="12700">
            <a:solidFill>
              <a:srgbClr val="2A313A"/>
            </a:solidFill>
            <a:prstDash val="solid"/>
          </a:ln>
        </p:spPr>
      </p:sp>
      <p:sp>
        <p:nvSpPr>
          <p:cNvPr id="4" name="Shape 2"/>
          <p:cNvSpPr/>
          <p:nvPr/>
        </p:nvSpPr>
        <p:spPr>
          <a:xfrm>
            <a:off x="-1188720" y="4389120"/>
            <a:ext cx="4023360" cy="4023360"/>
          </a:xfrm>
          <a:prstGeom prst="ellipse">
            <a:avLst/>
          </a:prstGeom>
          <a:ln w="12700">
            <a:solidFill>
              <a:srgbClr val="2A313A"/>
            </a:solidFill>
            <a:prstDash val="solid"/>
          </a:ln>
        </p:spPr>
      </p:sp>
      <p:sp>
        <p:nvSpPr>
          <p:cNvPr id="5" name="Shape 3"/>
          <p:cNvSpPr/>
          <p:nvPr/>
        </p:nvSpPr>
        <p:spPr>
          <a:xfrm>
            <a:off x="-457200" y="5120640"/>
            <a:ext cx="2560320" cy="2560320"/>
          </a:xfrm>
          <a:prstGeom prst="ellipse">
            <a:avLst/>
          </a:prstGeom>
          <a:ln w="12700">
            <a:solidFill>
              <a:srgbClr val="2E7F94">
                <a:alpha val="60000"/>
              </a:srgbClr>
            </a:solidFill>
            <a:prstDash val="solid"/>
          </a:ln>
        </p:spPr>
      </p:sp>
      <p:pic>
        <p:nvPicPr>
          <p:cNvPr id="6" name="Image 0" descr="preencoded.png">    </p:cNvPr>
          <p:cNvPicPr>
            <a:picLocks noChangeAspect="1"/>
          </p:cNvPicPr>
          <p:nvPr/>
        </p:nvPicPr>
        <p:blipFill>
          <a:blip r:embed="rId1"/>
          <a:stretch>
            <a:fillRect/>
          </a:stretch>
        </p:blipFill>
        <p:spPr>
          <a:xfrm>
            <a:off x="658368" y="603504"/>
            <a:ext cx="749808" cy="749808"/>
          </a:xfrm>
          <a:prstGeom prst="rect">
            <a:avLst/>
          </a:prstGeom>
        </p:spPr>
      </p:pic>
      <p:sp>
        <p:nvSpPr>
          <p:cNvPr id="7" name="Text 4"/>
          <p:cNvSpPr/>
          <p:nvPr/>
        </p:nvSpPr>
        <p:spPr>
          <a:xfrm>
            <a:off x="1572768" y="603504"/>
            <a:ext cx="4572000" cy="320040"/>
          </a:xfrm>
          <a:prstGeom prst="rect">
            <a:avLst/>
          </a:prstGeom>
          <a:noFill/>
          <a:ln/>
        </p:spPr>
        <p:txBody>
          <a:bodyPr wrap="square" lIns="0" tIns="0" rIns="0" bIns="0" rtlCol="0" anchor="ctr"/>
          <a:lstStyle/>
          <a:p>
            <a:pPr indent="0" marL="0">
              <a:buNone/>
            </a:pPr>
            <a:r>
              <a:rPr lang="en-US" sz="1300" b="1" spc="300" kern="0" dirty="0">
                <a:solidFill>
                  <a:srgbClr val="8A96A3"/>
                </a:solidFill>
                <a:latin typeface="Arial" pitchFamily="34" charset="0"/>
                <a:ea typeface="Arial" pitchFamily="34" charset="-122"/>
                <a:cs typeface="Arial" pitchFamily="34" charset="-120"/>
              </a:rPr>
              <a:t>142 · RSAF</a:t>
            </a:r>
            <a:endParaRPr lang="en-US" sz="1300" dirty="0"/>
          </a:p>
        </p:txBody>
      </p:sp>
      <p:sp>
        <p:nvSpPr>
          <p:cNvPr id="8" name="Text 5"/>
          <p:cNvSpPr/>
          <p:nvPr/>
        </p:nvSpPr>
        <p:spPr>
          <a:xfrm>
            <a:off x="1536192" y="896112"/>
            <a:ext cx="5486400" cy="822960"/>
          </a:xfrm>
          <a:prstGeom prst="rect">
            <a:avLst/>
          </a:prstGeom>
          <a:noFill/>
          <a:ln/>
        </p:spPr>
        <p:txBody>
          <a:bodyPr wrap="square" lIns="0" tIns="0" rIns="0" bIns="0" rtlCol="0" anchor="ctr"/>
          <a:lstStyle/>
          <a:p>
            <a:pPr indent="0" marL="0">
              <a:buNone/>
            </a:pPr>
            <a:r>
              <a:rPr lang="en-US" sz="5200" b="1" spc="200" kern="0" dirty="0">
                <a:solidFill>
                  <a:srgbClr val="F1F4F7"/>
                </a:solidFill>
                <a:latin typeface="Arial" pitchFamily="34" charset="0"/>
                <a:ea typeface="Arial" pitchFamily="34" charset="-122"/>
                <a:cs typeface="Arial" pitchFamily="34" charset="-120"/>
              </a:rPr>
              <a:t>RAPTOR</a:t>
            </a:r>
            <a:endParaRPr lang="en-US" sz="5200" dirty="0"/>
          </a:p>
        </p:txBody>
      </p:sp>
      <p:sp>
        <p:nvSpPr>
          <p:cNvPr id="9" name="Text 6"/>
          <p:cNvSpPr/>
          <p:nvPr/>
        </p:nvSpPr>
        <p:spPr>
          <a:xfrm>
            <a:off x="685800" y="2148840"/>
            <a:ext cx="5852160" cy="320040"/>
          </a:xfrm>
          <a:prstGeom prst="rect">
            <a:avLst/>
          </a:prstGeom>
          <a:noFill/>
          <a:ln/>
        </p:spPr>
        <p:txBody>
          <a:bodyPr wrap="square" lIns="0" tIns="0" rIns="0" bIns="0" rtlCol="0" anchor="ctr"/>
          <a:lstStyle/>
          <a:p>
            <a:pPr indent="0" marL="0">
              <a:buNone/>
            </a:pPr>
            <a:r>
              <a:rPr lang="en-US" sz="1450" b="1" spc="100" kern="0" dirty="0">
                <a:solidFill>
                  <a:srgbClr val="3BC6E8"/>
                </a:solidFill>
                <a:latin typeface="Arial" pitchFamily="34" charset="0"/>
                <a:ea typeface="Arial" pitchFamily="34" charset="-122"/>
                <a:cs typeface="Arial" pitchFamily="34" charset="-120"/>
              </a:rPr>
              <a:t>R</a:t>
            </a:r>
            <a:pPr indent="0" marL="0">
              <a:buNone/>
            </a:pPr>
            <a:r>
              <a:rPr lang="en-US" sz="1450" b="1" spc="100" kern="0" dirty="0">
                <a:solidFill>
                  <a:srgbClr val="B6C0CB"/>
                </a:solidFill>
                <a:latin typeface="Arial" pitchFamily="34" charset="0"/>
                <a:ea typeface="Arial" pitchFamily="34" charset="-122"/>
                <a:cs typeface="Arial" pitchFamily="34" charset="-120"/>
              </a:rPr>
              <a:t>EADINESS   </a:t>
            </a:r>
            <a:pPr indent="0" marL="0">
              <a:buNone/>
            </a:pPr>
            <a:r>
              <a:rPr lang="en-US" sz="1450" b="1" spc="100" kern="0" dirty="0">
                <a:solidFill>
                  <a:srgbClr val="3BC6E8"/>
                </a:solidFill>
                <a:latin typeface="Arial" pitchFamily="34" charset="0"/>
                <a:ea typeface="Arial" pitchFamily="34" charset="-122"/>
                <a:cs typeface="Arial" pitchFamily="34" charset="-120"/>
              </a:rPr>
              <a:t>A</a:t>
            </a:r>
            <a:pPr indent="0" marL="0">
              <a:buNone/>
            </a:pPr>
            <a:r>
              <a:rPr lang="en-US" sz="1450" b="1" spc="100" kern="0" dirty="0">
                <a:solidFill>
                  <a:srgbClr val="B6C0CB"/>
                </a:solidFill>
                <a:latin typeface="Arial" pitchFamily="34" charset="0"/>
                <a:ea typeface="Arial" pitchFamily="34" charset="-122"/>
                <a:cs typeface="Arial" pitchFamily="34" charset="-120"/>
              </a:rPr>
              <a:t>VAILABILITY   </a:t>
            </a:r>
            <a:pPr indent="0" marL="0">
              <a:buNone/>
            </a:pPr>
            <a:r>
              <a:rPr lang="en-US" sz="1450" b="1" spc="100" kern="0" dirty="0">
                <a:solidFill>
                  <a:srgbClr val="3BC6E8"/>
                </a:solidFill>
                <a:latin typeface="Arial" pitchFamily="34" charset="0"/>
                <a:ea typeface="Arial" pitchFamily="34" charset="-122"/>
                <a:cs typeface="Arial" pitchFamily="34" charset="-120"/>
              </a:rPr>
              <a:t>P</a:t>
            </a:r>
            <a:pPr indent="0" marL="0">
              <a:buNone/>
            </a:pPr>
            <a:r>
              <a:rPr lang="en-US" sz="1450" b="1" spc="100" kern="0" dirty="0">
                <a:solidFill>
                  <a:srgbClr val="B6C0CB"/>
                </a:solidFill>
                <a:latin typeface="Arial" pitchFamily="34" charset="0"/>
                <a:ea typeface="Arial" pitchFamily="34" charset="-122"/>
                <a:cs typeface="Arial" pitchFamily="34" charset="-120"/>
              </a:rPr>
              <a:t>LANNING</a:t>
            </a:r>
            <a:endParaRPr lang="en-US" sz="1450" dirty="0"/>
          </a:p>
        </p:txBody>
      </p:sp>
      <p:sp>
        <p:nvSpPr>
          <p:cNvPr id="10" name="Text 7"/>
          <p:cNvSpPr/>
          <p:nvPr/>
        </p:nvSpPr>
        <p:spPr>
          <a:xfrm>
            <a:off x="685800" y="2487168"/>
            <a:ext cx="5852160" cy="320040"/>
          </a:xfrm>
          <a:prstGeom prst="rect">
            <a:avLst/>
          </a:prstGeom>
          <a:noFill/>
          <a:ln/>
        </p:spPr>
        <p:txBody>
          <a:bodyPr wrap="square" lIns="0" tIns="0" rIns="0" bIns="0" rtlCol="0" anchor="ctr"/>
          <a:lstStyle/>
          <a:p>
            <a:pPr indent="0" marL="0">
              <a:buNone/>
            </a:pPr>
            <a:r>
              <a:rPr lang="en-US" sz="1450" b="1" spc="100" kern="0" dirty="0">
                <a:solidFill>
                  <a:srgbClr val="3BC6E8"/>
                </a:solidFill>
                <a:latin typeface="Arial" pitchFamily="34" charset="0"/>
                <a:ea typeface="Arial" pitchFamily="34" charset="-122"/>
                <a:cs typeface="Arial" pitchFamily="34" charset="-120"/>
              </a:rPr>
              <a:t>T</a:t>
            </a:r>
            <a:pPr indent="0" marL="0">
              <a:buNone/>
            </a:pPr>
            <a:r>
              <a:rPr lang="en-US" sz="1450" b="1" spc="100" kern="0" dirty="0">
                <a:solidFill>
                  <a:srgbClr val="B6C0CB"/>
                </a:solidFill>
                <a:latin typeface="Arial" pitchFamily="34" charset="0"/>
                <a:ea typeface="Arial" pitchFamily="34" charset="-122"/>
                <a:cs typeface="Arial" pitchFamily="34" charset="-120"/>
              </a:rPr>
              <a:t>RACKING   &amp;   </a:t>
            </a:r>
            <a:pPr indent="0" marL="0">
              <a:buNone/>
            </a:pPr>
            <a:r>
              <a:rPr lang="en-US" sz="1450" b="1" spc="100" kern="0" dirty="0">
                <a:solidFill>
                  <a:srgbClr val="3BC6E8"/>
                </a:solidFill>
                <a:latin typeface="Arial" pitchFamily="34" charset="0"/>
                <a:ea typeface="Arial" pitchFamily="34" charset="-122"/>
                <a:cs typeface="Arial" pitchFamily="34" charset="-120"/>
              </a:rPr>
              <a:t>O</a:t>
            </a:r>
            <a:pPr indent="0" marL="0">
              <a:buNone/>
            </a:pPr>
            <a:r>
              <a:rPr lang="en-US" sz="1450" b="1" spc="100" kern="0" dirty="0">
                <a:solidFill>
                  <a:srgbClr val="B6C0CB"/>
                </a:solidFill>
                <a:latin typeface="Arial" pitchFamily="34" charset="0"/>
                <a:ea typeface="Arial" pitchFamily="34" charset="-122"/>
                <a:cs typeface="Arial" pitchFamily="34" charset="-120"/>
              </a:rPr>
              <a:t>PS   </a:t>
            </a:r>
            <a:pPr indent="0" marL="0">
              <a:buNone/>
            </a:pPr>
            <a:r>
              <a:rPr lang="en-US" sz="1450" b="1" spc="100" kern="0" dirty="0">
                <a:solidFill>
                  <a:srgbClr val="3BC6E8"/>
                </a:solidFill>
                <a:latin typeface="Arial" pitchFamily="34" charset="0"/>
                <a:ea typeface="Arial" pitchFamily="34" charset="-122"/>
                <a:cs typeface="Arial" pitchFamily="34" charset="-120"/>
              </a:rPr>
              <a:t>R</a:t>
            </a:r>
            <a:pPr indent="0" marL="0">
              <a:buNone/>
            </a:pPr>
            <a:r>
              <a:rPr lang="en-US" sz="1450" b="1" spc="100" kern="0" dirty="0">
                <a:solidFill>
                  <a:srgbClr val="B6C0CB"/>
                </a:solidFill>
                <a:latin typeface="Arial" pitchFamily="34" charset="0"/>
                <a:ea typeface="Arial" pitchFamily="34" charset="-122"/>
                <a:cs typeface="Arial" pitchFamily="34" charset="-120"/>
              </a:rPr>
              <a:t>EPORTING</a:t>
            </a:r>
            <a:endParaRPr lang="en-US" sz="1450" dirty="0"/>
          </a:p>
        </p:txBody>
      </p:sp>
      <p:sp>
        <p:nvSpPr>
          <p:cNvPr id="11" name="Text 8"/>
          <p:cNvSpPr/>
          <p:nvPr/>
        </p:nvSpPr>
        <p:spPr>
          <a:xfrm>
            <a:off x="685800" y="3200400"/>
            <a:ext cx="5760720" cy="1280160"/>
          </a:xfrm>
          <a:prstGeom prst="rect">
            <a:avLst/>
          </a:prstGeom>
          <a:noFill/>
          <a:ln/>
        </p:spPr>
        <p:txBody>
          <a:bodyPr wrap="square" lIns="0" tIns="0" rIns="0" bIns="0" rtlCol="0" anchor="ctr"/>
          <a:lstStyle/>
          <a:p>
            <a:pPr indent="0" marL="0">
              <a:lnSpc>
                <a:spcPct val="112000"/>
              </a:lnSpc>
              <a:buNone/>
            </a:pPr>
            <a:r>
              <a:rPr lang="en-US" sz="1900" b="1" dirty="0">
                <a:solidFill>
                  <a:srgbClr val="F1F4F7"/>
                </a:solidFill>
                <a:latin typeface="Calibri" pitchFamily="34" charset="0"/>
                <a:ea typeface="Calibri" pitchFamily="34" charset="-122"/>
                <a:cs typeface="Calibri" pitchFamily="34" charset="-120"/>
              </a:rPr>
              <a:t>Your wingman in the planning room.
</a:t>
            </a:r>
            <a:pPr indent="0" marL="0">
              <a:lnSpc>
                <a:spcPct val="112000"/>
              </a:lnSpc>
              <a:buNone/>
            </a:pPr>
            <a:r>
              <a:rPr lang="en-US" sz="1900" dirty="0">
                <a:solidFill>
                  <a:srgbClr val="B6C0CB"/>
                </a:solidFill>
                <a:latin typeface="Calibri" pitchFamily="34" charset="0"/>
                <a:ea typeface="Calibri" pitchFamily="34" charset="-122"/>
                <a:cs typeface="Calibri" pitchFamily="34" charset="-120"/>
              </a:rPr>
              <a:t>One application for the flying programme, the crew, the rules and the manpower.</a:t>
            </a:r>
            <a:endParaRPr lang="en-US" sz="1900" dirty="0"/>
          </a:p>
        </p:txBody>
      </p:sp>
      <p:sp>
        <p:nvSpPr>
          <p:cNvPr id="12" name="Shape 9"/>
          <p:cNvSpPr/>
          <p:nvPr/>
        </p:nvSpPr>
        <p:spPr>
          <a:xfrm>
            <a:off x="685800" y="4709160"/>
            <a:ext cx="2788920" cy="402336"/>
          </a:xfrm>
          <a:prstGeom prst="roundRect">
            <a:avLst>
              <a:gd name="adj" fmla="val 13636"/>
            </a:avLst>
          </a:prstGeom>
          <a:solidFill>
            <a:srgbClr val="1A1F26"/>
          </a:solidFill>
          <a:ln w="9525">
            <a:solidFill>
              <a:srgbClr val="39424D"/>
            </a:solidFill>
            <a:prstDash val="solid"/>
          </a:ln>
        </p:spPr>
      </p:sp>
      <p:sp>
        <p:nvSpPr>
          <p:cNvPr id="13" name="Shape 10"/>
          <p:cNvSpPr/>
          <p:nvPr/>
        </p:nvSpPr>
        <p:spPr>
          <a:xfrm>
            <a:off x="740664" y="4764024"/>
            <a:ext cx="292608" cy="292608"/>
          </a:xfrm>
          <a:prstGeom prst="roundRect">
            <a:avLst>
              <a:gd name="adj" fmla="val 12500"/>
            </a:avLst>
          </a:prstGeom>
          <a:solidFill>
            <a:srgbClr val="E5A83B"/>
          </a:solidFill>
          <a:ln/>
        </p:spPr>
      </p:sp>
      <p:sp>
        <p:nvSpPr>
          <p:cNvPr id="14" name="Text 11"/>
          <p:cNvSpPr/>
          <p:nvPr/>
        </p:nvSpPr>
        <p:spPr>
          <a:xfrm>
            <a:off x="1106424" y="4709160"/>
            <a:ext cx="2295144" cy="402336"/>
          </a:xfrm>
          <a:prstGeom prst="rect">
            <a:avLst/>
          </a:prstGeom>
          <a:noFill/>
          <a:ln/>
        </p:spPr>
        <p:txBody>
          <a:bodyPr wrap="square" lIns="0" tIns="0" rIns="0" bIns="0" rtlCol="0" anchor="ctr"/>
          <a:lstStyle/>
          <a:p>
            <a:pPr indent="0" marL="0">
              <a:buNone/>
            </a:pPr>
            <a:r>
              <a:rPr lang="en-US" sz="1150" b="1" dirty="0">
                <a:solidFill>
                  <a:srgbClr val="F1F4F7"/>
                </a:solidFill>
                <a:latin typeface="Calibri" pitchFamily="34" charset="0"/>
                <a:ea typeface="Calibri" pitchFamily="34" charset="-122"/>
                <a:cs typeface="Calibri" pitchFamily="34" charset="-120"/>
              </a:rPr>
              <a:t>Application in progress</a:t>
            </a:r>
            <a:endParaRPr lang="en-US" sz="1150" dirty="0"/>
          </a:p>
        </p:txBody>
      </p:sp>
      <p:sp>
        <p:nvSpPr>
          <p:cNvPr id="15" name="Shape 12"/>
          <p:cNvSpPr/>
          <p:nvPr/>
        </p:nvSpPr>
        <p:spPr>
          <a:xfrm>
            <a:off x="3611880" y="4709160"/>
            <a:ext cx="2788920" cy="402336"/>
          </a:xfrm>
          <a:prstGeom prst="roundRect">
            <a:avLst>
              <a:gd name="adj" fmla="val 13636"/>
            </a:avLst>
          </a:prstGeom>
          <a:solidFill>
            <a:srgbClr val="1A1F26"/>
          </a:solidFill>
          <a:ln w="9525">
            <a:solidFill>
              <a:srgbClr val="39424D"/>
            </a:solidFill>
            <a:prstDash val="solid"/>
          </a:ln>
        </p:spPr>
      </p:sp>
      <p:sp>
        <p:nvSpPr>
          <p:cNvPr id="16" name="Shape 13"/>
          <p:cNvSpPr/>
          <p:nvPr/>
        </p:nvSpPr>
        <p:spPr>
          <a:xfrm>
            <a:off x="3666744" y="4764024"/>
            <a:ext cx="292608" cy="292608"/>
          </a:xfrm>
          <a:prstGeom prst="roundRect">
            <a:avLst>
              <a:gd name="adj" fmla="val 12500"/>
            </a:avLst>
          </a:prstGeom>
          <a:solidFill>
            <a:srgbClr val="3BC6E8"/>
          </a:solidFill>
          <a:ln/>
        </p:spPr>
      </p:sp>
      <p:sp>
        <p:nvSpPr>
          <p:cNvPr id="17" name="Text 14"/>
          <p:cNvSpPr/>
          <p:nvPr/>
        </p:nvSpPr>
        <p:spPr>
          <a:xfrm>
            <a:off x="4032504" y="4709160"/>
            <a:ext cx="2295144" cy="402336"/>
          </a:xfrm>
          <a:prstGeom prst="rect">
            <a:avLst/>
          </a:prstGeom>
          <a:noFill/>
          <a:ln/>
        </p:spPr>
        <p:txBody>
          <a:bodyPr wrap="square" lIns="0" tIns="0" rIns="0" bIns="0" rtlCol="0" anchor="ctr"/>
          <a:lstStyle/>
          <a:p>
            <a:pPr indent="0" marL="0">
              <a:buNone/>
            </a:pPr>
            <a:r>
              <a:rPr lang="en-US" sz="1150" b="1" dirty="0">
                <a:solidFill>
                  <a:srgbClr val="F1F4F7"/>
                </a:solidFill>
                <a:latin typeface="Calibri" pitchFamily="34" charset="0"/>
                <a:ea typeface="Calibri" pitchFamily="34" charset="-122"/>
                <a:cs typeface="Calibri" pitchFamily="34" charset="-120"/>
              </a:rPr>
              <a:t>Commander brief · Aug 2026</a:t>
            </a:r>
            <a:endParaRPr lang="en-US" sz="1150" dirty="0"/>
          </a:p>
        </p:txBody>
      </p:sp>
      <p:sp>
        <p:nvSpPr>
          <p:cNvPr id="18" name="Text 15"/>
          <p:cNvSpPr/>
          <p:nvPr/>
        </p:nvSpPr>
        <p:spPr>
          <a:xfrm>
            <a:off x="685800" y="5440680"/>
            <a:ext cx="5760720" cy="365760"/>
          </a:xfrm>
          <a:prstGeom prst="rect">
            <a:avLst/>
          </a:prstGeom>
          <a:noFill/>
          <a:ln/>
        </p:spPr>
        <p:txBody>
          <a:bodyPr wrap="square" lIns="0" tIns="0" rIns="0" bIns="0" rtlCol="0" anchor="ctr"/>
          <a:lstStyle/>
          <a:p>
            <a:pPr indent="0" marL="0">
              <a:buNone/>
            </a:pPr>
            <a:r>
              <a:rPr lang="en-US" sz="1350" dirty="0">
                <a:solidFill>
                  <a:srgbClr val="8A96A3"/>
                </a:solidFill>
                <a:latin typeface="Calibri" pitchFamily="34" charset="0"/>
                <a:ea typeface="Calibri" pitchFamily="34" charset="-122"/>
                <a:cs typeface="Calibri" pitchFamily="34" charset="-120"/>
              </a:rPr>
              <a:t>Roll-out:  142 SQN  →  149 SQN  →  FG</a:t>
            </a:r>
            <a:endParaRPr lang="en-US" sz="1350" dirty="0"/>
          </a:p>
        </p:txBody>
      </p:sp>
      <p:sp>
        <p:nvSpPr>
          <p:cNvPr id="19" name="Shape 16"/>
          <p:cNvSpPr/>
          <p:nvPr/>
        </p:nvSpPr>
        <p:spPr>
          <a:xfrm>
            <a:off x="6693408" y="1024128"/>
            <a:ext cx="4992624" cy="3182112"/>
          </a:xfrm>
          <a:prstGeom prst="roundRect">
            <a:avLst>
              <a:gd name="adj" fmla="val 2874"/>
            </a:avLst>
          </a:prstGeom>
          <a:solidFill>
            <a:srgbClr val="000000"/>
          </a:solidFill>
          <a:ln/>
          <a:effectLst>
            <a:outerShdw sx="100000" sy="100000" kx="0" ky="0" algn="bl" rotWithShape="0" blurRad="177800" dist="63500" dir="5400000">
              <a:srgbClr val="000000">
                <a:alpha val="55000"/>
              </a:srgbClr>
            </a:outerShdw>
          </a:effectLst>
        </p:spPr>
      </p:sp>
      <p:sp>
        <p:nvSpPr>
          <p:cNvPr id="20" name="Shape 17"/>
          <p:cNvSpPr/>
          <p:nvPr/>
        </p:nvSpPr>
        <p:spPr>
          <a:xfrm>
            <a:off x="6720840" y="1051560"/>
            <a:ext cx="4937760" cy="3127248"/>
          </a:xfrm>
          <a:prstGeom prst="roundRect">
            <a:avLst>
              <a:gd name="adj" fmla="val 2632"/>
            </a:avLst>
          </a:prstGeom>
          <a:solidFill>
            <a:srgbClr val="0E1116"/>
          </a:solidFill>
          <a:ln w="12700">
            <a:solidFill>
              <a:srgbClr val="3BC6E8"/>
            </a:solidFill>
            <a:prstDash val="solid"/>
          </a:ln>
        </p:spPr>
      </p:sp>
      <p:pic>
        <p:nvPicPr>
          <p:cNvPr id="21" name="Image 1" descr="preencoded.png">    </p:cNvPr>
          <p:cNvPicPr>
            <a:picLocks noChangeAspect="1"/>
          </p:cNvPicPr>
          <p:nvPr/>
        </p:nvPicPr>
        <p:blipFill>
          <a:blip r:embed="rId2"/>
          <a:stretch>
            <a:fillRect/>
          </a:stretch>
        </p:blipFill>
        <p:spPr>
          <a:xfrm>
            <a:off x="6806807" y="1106424"/>
            <a:ext cx="4765825" cy="3017520"/>
          </a:xfrm>
          <a:prstGeom prst="rect">
            <a:avLst/>
          </a:prstGeom>
        </p:spPr>
      </p:pic>
      <p:sp>
        <p:nvSpPr>
          <p:cNvPr id="22" name="Text 18"/>
          <p:cNvSpPr/>
          <p:nvPr/>
        </p:nvSpPr>
        <p:spPr>
          <a:xfrm>
            <a:off x="6720840" y="4224528"/>
            <a:ext cx="3017520" cy="502920"/>
          </a:xfrm>
          <a:prstGeom prst="rect">
            <a:avLst/>
          </a:prstGeom>
          <a:noFill/>
          <a:ln/>
        </p:spPr>
        <p:txBody>
          <a:bodyPr wrap="square" lIns="0" tIns="0" rIns="0" bIns="0" rtlCol="0" anchor="t"/>
          <a:lstStyle/>
          <a:p>
            <a:pPr algn="l" indent="0" marL="0">
              <a:buNone/>
            </a:pPr>
            <a:r>
              <a:rPr lang="en-US" sz="1050" i="1" dirty="0">
                <a:solidFill>
                  <a:srgbClr val="8A96A3"/>
                </a:solidFill>
                <a:latin typeface="Calibri" pitchFamily="34" charset="0"/>
                <a:ea typeface="Calibri" pitchFamily="34" charset="-122"/>
                <a:cs typeface="Calibri" pitchFamily="34" charset="-120"/>
              </a:rPr>
              <a:t>The live flying programme — a full week at a glance</a:t>
            </a:r>
            <a:endParaRPr lang="en-US" sz="1050" dirty="0"/>
          </a:p>
        </p:txBody>
      </p:sp>
      <p:sp>
        <p:nvSpPr>
          <p:cNvPr id="23" name="Shape 19"/>
          <p:cNvSpPr/>
          <p:nvPr/>
        </p:nvSpPr>
        <p:spPr>
          <a:xfrm>
            <a:off x="9939528" y="3950208"/>
            <a:ext cx="1792224" cy="2706624"/>
          </a:xfrm>
          <a:prstGeom prst="roundRect">
            <a:avLst>
              <a:gd name="adj" fmla="val 5102"/>
            </a:avLst>
          </a:prstGeom>
          <a:solidFill>
            <a:srgbClr val="000000"/>
          </a:solidFill>
          <a:ln/>
          <a:effectLst>
            <a:outerShdw sx="100000" sy="100000" kx="0" ky="0" algn="bl" rotWithShape="0" blurRad="177800" dist="63500" dir="5400000">
              <a:srgbClr val="000000">
                <a:alpha val="55000"/>
              </a:srgbClr>
            </a:outerShdw>
          </a:effectLst>
        </p:spPr>
      </p:sp>
      <p:sp>
        <p:nvSpPr>
          <p:cNvPr id="24" name="Shape 20"/>
          <p:cNvSpPr/>
          <p:nvPr/>
        </p:nvSpPr>
        <p:spPr>
          <a:xfrm>
            <a:off x="9966960" y="3977640"/>
            <a:ext cx="1737360" cy="2651760"/>
          </a:xfrm>
          <a:prstGeom prst="roundRect">
            <a:avLst>
              <a:gd name="adj" fmla="val 4737"/>
            </a:avLst>
          </a:prstGeom>
          <a:solidFill>
            <a:srgbClr val="0E1116"/>
          </a:solidFill>
          <a:ln w="12700">
            <a:solidFill>
              <a:srgbClr val="3BC6E8"/>
            </a:solidFill>
            <a:prstDash val="solid"/>
          </a:ln>
        </p:spPr>
      </p:sp>
      <p:pic>
        <p:nvPicPr>
          <p:cNvPr id="25" name="Image 2" descr="preencoded.png">    </p:cNvPr>
          <p:cNvPicPr>
            <a:picLocks noChangeAspect="1"/>
          </p:cNvPicPr>
          <p:nvPr/>
        </p:nvPicPr>
        <p:blipFill>
          <a:blip r:embed="rId3"/>
          <a:stretch>
            <a:fillRect/>
          </a:stretch>
        </p:blipFill>
        <p:spPr>
          <a:xfrm>
            <a:off x="10240143" y="4014216"/>
            <a:ext cx="1190995" cy="257860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1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65000"/>
          </a:blip>
          <a:stretch>
            <a:fillRect/>
          </a:stretch>
        </p:blipFill>
        <p:spPr>
          <a:xfrm>
            <a:off x="11137392" y="384048"/>
            <a:ext cx="548640" cy="548640"/>
          </a:xfrm>
          <a:prstGeom prst="rect">
            <a:avLst/>
          </a:prstGeom>
        </p:spPr>
      </p:pic>
      <p:pic>
        <p:nvPicPr>
          <p:cNvPr id="3" name="Image 1" descr="preencoded.png">    </p:cNvPr>
          <p:cNvPicPr>
            <a:picLocks noChangeAspect="1"/>
          </p:cNvPicPr>
          <p:nvPr/>
        </p:nvPicPr>
        <p:blipFill>
          <a:blip r:embed="rId2">
            <a:alphaModFix amt="80000"/>
          </a:blip>
          <a:stretch>
            <a:fillRect/>
          </a:stretch>
        </p:blipFill>
        <p:spPr>
          <a:xfrm>
            <a:off x="640080" y="6291072"/>
            <a:ext cx="219456" cy="219456"/>
          </a:xfrm>
          <a:prstGeom prst="rect">
            <a:avLst/>
          </a:prstGeom>
        </p:spPr>
      </p:pic>
      <p:sp>
        <p:nvSpPr>
          <p:cNvPr id="4" name="Text 0"/>
          <p:cNvSpPr/>
          <p:nvPr/>
        </p:nvSpPr>
        <p:spPr>
          <a:xfrm>
            <a:off x="914400" y="6309360"/>
            <a:ext cx="2743200" cy="219456"/>
          </a:xfrm>
          <a:prstGeom prst="rect">
            <a:avLst/>
          </a:prstGeom>
          <a:noFill/>
          <a:ln/>
        </p:spPr>
        <p:txBody>
          <a:bodyPr wrap="square" lIns="0" tIns="0" rIns="0" bIns="0" rtlCol="0" anchor="ctr"/>
          <a:lstStyle/>
          <a:p>
            <a:pPr indent="0" marL="0">
              <a:buNone/>
            </a:pPr>
            <a:r>
              <a:rPr lang="en-US" sz="900" b="1" spc="200" kern="0" dirty="0">
                <a:solidFill>
                  <a:srgbClr val="8A96A3"/>
                </a:solidFill>
                <a:latin typeface="Arial" pitchFamily="34" charset="0"/>
                <a:ea typeface="Arial" pitchFamily="34" charset="-122"/>
                <a:cs typeface="Arial" pitchFamily="34" charset="-120"/>
              </a:rPr>
              <a:t>RAPTOR</a:t>
            </a:r>
            <a:endParaRPr lang="en-US" sz="900" dirty="0"/>
          </a:p>
        </p:txBody>
      </p:sp>
      <p:sp>
        <p:nvSpPr>
          <p:cNvPr id="5" name="Text 1"/>
          <p:cNvSpPr/>
          <p:nvPr/>
        </p:nvSpPr>
        <p:spPr>
          <a:xfrm>
            <a:off x="11228832" y="6309360"/>
            <a:ext cx="457200" cy="219456"/>
          </a:xfrm>
          <a:prstGeom prst="rect">
            <a:avLst/>
          </a:prstGeom>
          <a:noFill/>
          <a:ln/>
        </p:spPr>
        <p:txBody>
          <a:bodyPr wrap="square" lIns="0" tIns="0" rIns="0" bIns="0" rtlCol="0" anchor="ctr"/>
          <a:lstStyle/>
          <a:p>
            <a:pPr algn="r" indent="0" marL="0">
              <a:buNone/>
            </a:pPr>
            <a:r>
              <a:rPr lang="en-US" sz="900" dirty="0">
                <a:solidFill>
                  <a:srgbClr val="8A96A3"/>
                </a:solidFill>
                <a:latin typeface="Arial" pitchFamily="34" charset="0"/>
                <a:ea typeface="Arial" pitchFamily="34" charset="-122"/>
                <a:cs typeface="Arial" pitchFamily="34" charset="-120"/>
              </a:rPr>
              <a:t>02</a:t>
            </a:r>
            <a:endParaRPr lang="en-US" sz="900" dirty="0"/>
          </a:p>
        </p:txBody>
      </p:sp>
      <p:sp>
        <p:nvSpPr>
          <p:cNvPr id="6" name="Text 2"/>
          <p:cNvSpPr/>
          <p:nvPr/>
        </p:nvSpPr>
        <p:spPr>
          <a:xfrm>
            <a:off x="640080" y="512064"/>
            <a:ext cx="9144000" cy="274320"/>
          </a:xfrm>
          <a:prstGeom prst="rect">
            <a:avLst/>
          </a:prstGeom>
          <a:noFill/>
          <a:ln/>
        </p:spPr>
        <p:txBody>
          <a:bodyPr wrap="square" lIns="0" tIns="0" rIns="0" bIns="0" rtlCol="0" anchor="ctr"/>
          <a:lstStyle/>
          <a:p>
            <a:pPr indent="0" marL="0">
              <a:buNone/>
            </a:pPr>
            <a:r>
              <a:rPr lang="en-US" sz="1200" b="1" spc="300" kern="0" dirty="0">
                <a:solidFill>
                  <a:srgbClr val="3BC6E8"/>
                </a:solidFill>
                <a:latin typeface="Arial" pitchFamily="34" charset="0"/>
                <a:ea typeface="Arial" pitchFamily="34" charset="-122"/>
                <a:cs typeface="Arial" pitchFamily="34" charset="-120"/>
              </a:rPr>
              <a:t>THE PROBLEM WE SET OUT TO SOLVE</a:t>
            </a:r>
            <a:endParaRPr lang="en-US" sz="1200" dirty="0"/>
          </a:p>
        </p:txBody>
      </p:sp>
      <p:sp>
        <p:nvSpPr>
          <p:cNvPr id="7" name="Text 3"/>
          <p:cNvSpPr/>
          <p:nvPr/>
        </p:nvSpPr>
        <p:spPr>
          <a:xfrm>
            <a:off x="640080" y="786384"/>
            <a:ext cx="11338560" cy="822960"/>
          </a:xfrm>
          <a:prstGeom prst="rect">
            <a:avLst/>
          </a:prstGeom>
          <a:noFill/>
          <a:ln/>
        </p:spPr>
        <p:txBody>
          <a:bodyPr wrap="square" lIns="0" tIns="0" rIns="0" bIns="0" rtlCol="0" anchor="ctr"/>
          <a:lstStyle/>
          <a:p>
            <a:pPr indent="0" marL="0">
              <a:buNone/>
            </a:pPr>
            <a:r>
              <a:rPr lang="en-US" sz="2900" b="1" dirty="0">
                <a:solidFill>
                  <a:srgbClr val="F1F4F7"/>
                </a:solidFill>
                <a:latin typeface="Arial" pitchFamily="34" charset="0"/>
                <a:ea typeface="Arial" pitchFamily="34" charset="-122"/>
                <a:cs typeface="Arial" pitchFamily="34" charset="-120"/>
              </a:rPr>
              <a:t>Today the picture is scattered across too many places</a:t>
            </a:r>
            <a:endParaRPr lang="en-US" sz="2900" dirty="0"/>
          </a:p>
        </p:txBody>
      </p:sp>
      <p:sp>
        <p:nvSpPr>
          <p:cNvPr id="8" name="Text 4"/>
          <p:cNvSpPr/>
          <p:nvPr/>
        </p:nvSpPr>
        <p:spPr>
          <a:xfrm>
            <a:off x="640080" y="1810512"/>
            <a:ext cx="11064240" cy="548640"/>
          </a:xfrm>
          <a:prstGeom prst="rect">
            <a:avLst/>
          </a:prstGeom>
          <a:noFill/>
          <a:ln/>
        </p:spPr>
        <p:txBody>
          <a:bodyPr wrap="square" lIns="0" tIns="0" rIns="0" bIns="0" rtlCol="0" anchor="ctr"/>
          <a:lstStyle/>
          <a:p>
            <a:pPr indent="0" marL="0">
              <a:buNone/>
            </a:pPr>
            <a:r>
              <a:rPr lang="en-US" sz="1350" dirty="0">
                <a:solidFill>
                  <a:srgbClr val="B6C0CB"/>
                </a:solidFill>
                <a:latin typeface="Calibri" pitchFamily="34" charset="0"/>
                <a:ea typeface="Calibri" pitchFamily="34" charset="-122"/>
                <a:cs typeface="Calibri" pitchFamily="34" charset="-120"/>
              </a:rPr>
              <a:t>The flying programme, leave, medical status, up-chits, qualifications, duties and student progress each live in a different spreadsheet, chat or form — and the same facts get re-typed into every one.</a:t>
            </a:r>
            <a:endParaRPr lang="en-US" sz="1350" dirty="0"/>
          </a:p>
        </p:txBody>
      </p:sp>
      <p:sp>
        <p:nvSpPr>
          <p:cNvPr id="9" name="Shape 5"/>
          <p:cNvSpPr/>
          <p:nvPr/>
        </p:nvSpPr>
        <p:spPr>
          <a:xfrm>
            <a:off x="3886200" y="2679192"/>
            <a:ext cx="4434840" cy="1481328"/>
          </a:xfrm>
          <a:prstGeom prst="line">
            <a:avLst/>
          </a:prstGeom>
          <a:noFill/>
          <a:ln w="9525">
            <a:solidFill>
              <a:srgbClr val="2E7F94">
                <a:alpha val="42000"/>
              </a:srgbClr>
            </a:solidFill>
            <a:prstDash val="solid"/>
          </a:ln>
        </p:spPr>
      </p:sp>
      <p:sp>
        <p:nvSpPr>
          <p:cNvPr id="10" name="Shape 6"/>
          <p:cNvSpPr/>
          <p:nvPr/>
        </p:nvSpPr>
        <p:spPr>
          <a:xfrm>
            <a:off x="685800" y="2450592"/>
            <a:ext cx="3200400" cy="457200"/>
          </a:xfrm>
          <a:prstGeom prst="roundRect">
            <a:avLst>
              <a:gd name="adj" fmla="val 12000"/>
            </a:avLst>
          </a:prstGeom>
          <a:solidFill>
            <a:srgbClr val="14181D"/>
          </a:solidFill>
          <a:ln w="12700">
            <a:solidFill>
              <a:srgbClr val="2A313A"/>
            </a:solidFill>
            <a:prstDash val="solid"/>
          </a:ln>
        </p:spPr>
      </p:sp>
      <p:sp>
        <p:nvSpPr>
          <p:cNvPr id="11" name="Shape 7"/>
          <p:cNvSpPr/>
          <p:nvPr/>
        </p:nvSpPr>
        <p:spPr>
          <a:xfrm>
            <a:off x="786384" y="2542032"/>
            <a:ext cx="128016" cy="274320"/>
          </a:xfrm>
          <a:prstGeom prst="roundRect">
            <a:avLst>
              <a:gd name="adj" fmla="val 21429"/>
            </a:avLst>
          </a:prstGeom>
          <a:solidFill>
            <a:srgbClr val="8A8F3C"/>
          </a:solidFill>
          <a:ln/>
        </p:spPr>
      </p:sp>
      <p:sp>
        <p:nvSpPr>
          <p:cNvPr id="12" name="Text 8"/>
          <p:cNvSpPr/>
          <p:nvPr/>
        </p:nvSpPr>
        <p:spPr>
          <a:xfrm>
            <a:off x="1033272" y="2468880"/>
            <a:ext cx="2743200" cy="256032"/>
          </a:xfrm>
          <a:prstGeom prst="rect">
            <a:avLst/>
          </a:prstGeom>
          <a:noFill/>
          <a:ln/>
        </p:spPr>
        <p:txBody>
          <a:bodyPr wrap="square" lIns="0" tIns="0" rIns="0" bIns="0" rtlCol="0" anchor="ctr"/>
          <a:lstStyle/>
          <a:p>
            <a:pPr indent="0" marL="0">
              <a:buNone/>
            </a:pPr>
            <a:r>
              <a:rPr lang="en-US" sz="1200" b="1" dirty="0">
                <a:solidFill>
                  <a:srgbClr val="F1F4F7"/>
                </a:solidFill>
                <a:latin typeface="Arial" pitchFamily="34" charset="0"/>
                <a:ea typeface="Arial" pitchFamily="34" charset="-122"/>
                <a:cs typeface="Arial" pitchFamily="34" charset="-120"/>
              </a:rPr>
              <a:t>Flying programme</a:t>
            </a:r>
            <a:endParaRPr lang="en-US" sz="1200" dirty="0"/>
          </a:p>
        </p:txBody>
      </p:sp>
      <p:sp>
        <p:nvSpPr>
          <p:cNvPr id="13" name="Text 9"/>
          <p:cNvSpPr/>
          <p:nvPr/>
        </p:nvSpPr>
        <p:spPr>
          <a:xfrm>
            <a:off x="1033272" y="2706624"/>
            <a:ext cx="2743200" cy="201168"/>
          </a:xfrm>
          <a:prstGeom prst="rect">
            <a:avLst/>
          </a:prstGeom>
          <a:noFill/>
          <a:ln/>
        </p:spPr>
        <p:txBody>
          <a:bodyPr wrap="square" lIns="0" tIns="0" rIns="0" bIns="0" rtlCol="0" anchor="ctr"/>
          <a:lstStyle/>
          <a:p>
            <a:pPr indent="0" marL="0">
              <a:buNone/>
            </a:pPr>
            <a:r>
              <a:rPr lang="en-US" sz="950" dirty="0">
                <a:solidFill>
                  <a:srgbClr val="8A96A3"/>
                </a:solidFill>
                <a:latin typeface="Courier New" pitchFamily="34" charset="0"/>
                <a:ea typeface="Courier New" pitchFamily="34" charset="-122"/>
                <a:cs typeface="Courier New" pitchFamily="34" charset="-120"/>
              </a:rPr>
              <a:t>spreadsheet</a:t>
            </a:r>
            <a:endParaRPr lang="en-US" sz="950" dirty="0"/>
          </a:p>
        </p:txBody>
      </p:sp>
      <p:sp>
        <p:nvSpPr>
          <p:cNvPr id="14" name="Shape 10"/>
          <p:cNvSpPr/>
          <p:nvPr/>
        </p:nvSpPr>
        <p:spPr>
          <a:xfrm>
            <a:off x="3886200" y="3204972"/>
            <a:ext cx="4434840" cy="955548"/>
          </a:xfrm>
          <a:prstGeom prst="line">
            <a:avLst/>
          </a:prstGeom>
          <a:noFill/>
          <a:ln w="9525">
            <a:solidFill>
              <a:srgbClr val="2E7F94">
                <a:alpha val="42000"/>
              </a:srgbClr>
            </a:solidFill>
            <a:prstDash val="solid"/>
          </a:ln>
        </p:spPr>
      </p:sp>
      <p:sp>
        <p:nvSpPr>
          <p:cNvPr id="15" name="Shape 11"/>
          <p:cNvSpPr/>
          <p:nvPr/>
        </p:nvSpPr>
        <p:spPr>
          <a:xfrm>
            <a:off x="685800" y="2976372"/>
            <a:ext cx="3200400" cy="457200"/>
          </a:xfrm>
          <a:prstGeom prst="roundRect">
            <a:avLst>
              <a:gd name="adj" fmla="val 12000"/>
            </a:avLst>
          </a:prstGeom>
          <a:solidFill>
            <a:srgbClr val="14181D"/>
          </a:solidFill>
          <a:ln w="12700">
            <a:solidFill>
              <a:srgbClr val="2A313A"/>
            </a:solidFill>
            <a:prstDash val="solid"/>
          </a:ln>
        </p:spPr>
      </p:sp>
      <p:sp>
        <p:nvSpPr>
          <p:cNvPr id="16" name="Shape 12"/>
          <p:cNvSpPr/>
          <p:nvPr/>
        </p:nvSpPr>
        <p:spPr>
          <a:xfrm>
            <a:off x="786384" y="3067812"/>
            <a:ext cx="128016" cy="274320"/>
          </a:xfrm>
          <a:prstGeom prst="roundRect">
            <a:avLst>
              <a:gd name="adj" fmla="val 21429"/>
            </a:avLst>
          </a:prstGeom>
          <a:solidFill>
            <a:srgbClr val="B24DEA"/>
          </a:solidFill>
          <a:ln/>
        </p:spPr>
      </p:sp>
      <p:sp>
        <p:nvSpPr>
          <p:cNvPr id="17" name="Text 13"/>
          <p:cNvSpPr/>
          <p:nvPr/>
        </p:nvSpPr>
        <p:spPr>
          <a:xfrm>
            <a:off x="1033272" y="2994660"/>
            <a:ext cx="2743200" cy="256032"/>
          </a:xfrm>
          <a:prstGeom prst="rect">
            <a:avLst/>
          </a:prstGeom>
          <a:noFill/>
          <a:ln/>
        </p:spPr>
        <p:txBody>
          <a:bodyPr wrap="square" lIns="0" tIns="0" rIns="0" bIns="0" rtlCol="0" anchor="ctr"/>
          <a:lstStyle/>
          <a:p>
            <a:pPr indent="0" marL="0">
              <a:buNone/>
            </a:pPr>
            <a:r>
              <a:rPr lang="en-US" sz="1200" b="1" dirty="0">
                <a:solidFill>
                  <a:srgbClr val="F1F4F7"/>
                </a:solidFill>
                <a:latin typeface="Arial" pitchFamily="34" charset="0"/>
                <a:ea typeface="Arial" pitchFamily="34" charset="-122"/>
                <a:cs typeface="Arial" pitchFamily="34" charset="-120"/>
              </a:rPr>
              <a:t>Leave applications</a:t>
            </a:r>
            <a:endParaRPr lang="en-US" sz="1200" dirty="0"/>
          </a:p>
        </p:txBody>
      </p:sp>
      <p:sp>
        <p:nvSpPr>
          <p:cNvPr id="18" name="Text 14"/>
          <p:cNvSpPr/>
          <p:nvPr/>
        </p:nvSpPr>
        <p:spPr>
          <a:xfrm>
            <a:off x="1033272" y="3232404"/>
            <a:ext cx="2743200" cy="201168"/>
          </a:xfrm>
          <a:prstGeom prst="rect">
            <a:avLst/>
          </a:prstGeom>
          <a:noFill/>
          <a:ln/>
        </p:spPr>
        <p:txBody>
          <a:bodyPr wrap="square" lIns="0" tIns="0" rIns="0" bIns="0" rtlCol="0" anchor="ctr"/>
          <a:lstStyle/>
          <a:p>
            <a:pPr indent="0" marL="0">
              <a:buNone/>
            </a:pPr>
            <a:r>
              <a:rPr lang="en-US" sz="950" dirty="0">
                <a:solidFill>
                  <a:srgbClr val="8A96A3"/>
                </a:solidFill>
                <a:latin typeface="Courier New" pitchFamily="34" charset="0"/>
                <a:ea typeface="Courier New" pitchFamily="34" charset="-122"/>
                <a:cs typeface="Courier New" pitchFamily="34" charset="-120"/>
              </a:rPr>
              <a:t>chat + forms</a:t>
            </a:r>
            <a:endParaRPr lang="en-US" sz="950" dirty="0"/>
          </a:p>
        </p:txBody>
      </p:sp>
      <p:sp>
        <p:nvSpPr>
          <p:cNvPr id="19" name="Shape 15"/>
          <p:cNvSpPr/>
          <p:nvPr/>
        </p:nvSpPr>
        <p:spPr>
          <a:xfrm>
            <a:off x="3886200" y="3730752"/>
            <a:ext cx="4434840" cy="429768"/>
          </a:xfrm>
          <a:prstGeom prst="line">
            <a:avLst/>
          </a:prstGeom>
          <a:noFill/>
          <a:ln w="9525">
            <a:solidFill>
              <a:srgbClr val="2E7F94">
                <a:alpha val="42000"/>
              </a:srgbClr>
            </a:solidFill>
            <a:prstDash val="solid"/>
          </a:ln>
        </p:spPr>
      </p:sp>
      <p:sp>
        <p:nvSpPr>
          <p:cNvPr id="20" name="Shape 16"/>
          <p:cNvSpPr/>
          <p:nvPr/>
        </p:nvSpPr>
        <p:spPr>
          <a:xfrm>
            <a:off x="685800" y="3502152"/>
            <a:ext cx="3200400" cy="457200"/>
          </a:xfrm>
          <a:prstGeom prst="roundRect">
            <a:avLst>
              <a:gd name="adj" fmla="val 12000"/>
            </a:avLst>
          </a:prstGeom>
          <a:solidFill>
            <a:srgbClr val="14181D"/>
          </a:solidFill>
          <a:ln w="12700">
            <a:solidFill>
              <a:srgbClr val="2A313A"/>
            </a:solidFill>
            <a:prstDash val="solid"/>
          </a:ln>
        </p:spPr>
      </p:sp>
      <p:sp>
        <p:nvSpPr>
          <p:cNvPr id="21" name="Shape 17"/>
          <p:cNvSpPr/>
          <p:nvPr/>
        </p:nvSpPr>
        <p:spPr>
          <a:xfrm>
            <a:off x="786384" y="3593592"/>
            <a:ext cx="128016" cy="274320"/>
          </a:xfrm>
          <a:prstGeom prst="roundRect">
            <a:avLst>
              <a:gd name="adj" fmla="val 21429"/>
            </a:avLst>
          </a:prstGeom>
          <a:solidFill>
            <a:srgbClr val="F0555F"/>
          </a:solidFill>
          <a:ln/>
        </p:spPr>
      </p:sp>
      <p:sp>
        <p:nvSpPr>
          <p:cNvPr id="22" name="Text 18"/>
          <p:cNvSpPr/>
          <p:nvPr/>
        </p:nvSpPr>
        <p:spPr>
          <a:xfrm>
            <a:off x="1033272" y="3520440"/>
            <a:ext cx="2743200" cy="256032"/>
          </a:xfrm>
          <a:prstGeom prst="rect">
            <a:avLst/>
          </a:prstGeom>
          <a:noFill/>
          <a:ln/>
        </p:spPr>
        <p:txBody>
          <a:bodyPr wrap="square" lIns="0" tIns="0" rIns="0" bIns="0" rtlCol="0" anchor="ctr"/>
          <a:lstStyle/>
          <a:p>
            <a:pPr indent="0" marL="0">
              <a:buNone/>
            </a:pPr>
            <a:r>
              <a:rPr lang="en-US" sz="1200" b="1" dirty="0">
                <a:solidFill>
                  <a:srgbClr val="F1F4F7"/>
                </a:solidFill>
                <a:latin typeface="Arial" pitchFamily="34" charset="0"/>
                <a:ea typeface="Arial" pitchFamily="34" charset="-122"/>
                <a:cs typeface="Arial" pitchFamily="34" charset="-120"/>
              </a:rPr>
              <a:t>Medical certs</a:t>
            </a:r>
            <a:endParaRPr lang="en-US" sz="1200" dirty="0"/>
          </a:p>
        </p:txBody>
      </p:sp>
      <p:sp>
        <p:nvSpPr>
          <p:cNvPr id="23" name="Text 19"/>
          <p:cNvSpPr/>
          <p:nvPr/>
        </p:nvSpPr>
        <p:spPr>
          <a:xfrm>
            <a:off x="1033272" y="3758184"/>
            <a:ext cx="2743200" cy="201168"/>
          </a:xfrm>
          <a:prstGeom prst="rect">
            <a:avLst/>
          </a:prstGeom>
          <a:noFill/>
          <a:ln/>
        </p:spPr>
        <p:txBody>
          <a:bodyPr wrap="square" lIns="0" tIns="0" rIns="0" bIns="0" rtlCol="0" anchor="ctr"/>
          <a:lstStyle/>
          <a:p>
            <a:pPr indent="0" marL="0">
              <a:buNone/>
            </a:pPr>
            <a:r>
              <a:rPr lang="en-US" sz="950" dirty="0">
                <a:solidFill>
                  <a:srgbClr val="8A96A3"/>
                </a:solidFill>
                <a:latin typeface="Courier New" pitchFamily="34" charset="0"/>
                <a:ea typeface="Courier New" pitchFamily="34" charset="-122"/>
                <a:cs typeface="Courier New" pitchFamily="34" charset="-120"/>
              </a:rPr>
              <a:t>email / paper</a:t>
            </a:r>
            <a:endParaRPr lang="en-US" sz="950" dirty="0"/>
          </a:p>
        </p:txBody>
      </p:sp>
      <p:sp>
        <p:nvSpPr>
          <p:cNvPr id="24" name="Shape 20"/>
          <p:cNvSpPr/>
          <p:nvPr/>
        </p:nvSpPr>
        <p:spPr>
          <a:xfrm flipV="1">
            <a:off x="3886200" y="4160520"/>
            <a:ext cx="4434840" cy="96012"/>
          </a:xfrm>
          <a:prstGeom prst="line">
            <a:avLst/>
          </a:prstGeom>
          <a:noFill/>
          <a:ln w="9525">
            <a:solidFill>
              <a:srgbClr val="2E7F94">
                <a:alpha val="42000"/>
              </a:srgbClr>
            </a:solidFill>
            <a:prstDash val="solid"/>
          </a:ln>
        </p:spPr>
      </p:sp>
      <p:sp>
        <p:nvSpPr>
          <p:cNvPr id="25" name="Shape 21"/>
          <p:cNvSpPr/>
          <p:nvPr/>
        </p:nvSpPr>
        <p:spPr>
          <a:xfrm>
            <a:off x="685800" y="4027932"/>
            <a:ext cx="3200400" cy="457200"/>
          </a:xfrm>
          <a:prstGeom prst="roundRect">
            <a:avLst>
              <a:gd name="adj" fmla="val 12000"/>
            </a:avLst>
          </a:prstGeom>
          <a:solidFill>
            <a:srgbClr val="14181D"/>
          </a:solidFill>
          <a:ln w="12700">
            <a:solidFill>
              <a:srgbClr val="2A313A"/>
            </a:solidFill>
            <a:prstDash val="solid"/>
          </a:ln>
        </p:spPr>
      </p:sp>
      <p:sp>
        <p:nvSpPr>
          <p:cNvPr id="26" name="Shape 22"/>
          <p:cNvSpPr/>
          <p:nvPr/>
        </p:nvSpPr>
        <p:spPr>
          <a:xfrm>
            <a:off x="786384" y="4119372"/>
            <a:ext cx="128016" cy="274320"/>
          </a:xfrm>
          <a:prstGeom prst="roundRect">
            <a:avLst>
              <a:gd name="adj" fmla="val 21429"/>
            </a:avLst>
          </a:prstGeom>
          <a:solidFill>
            <a:srgbClr val="E5A83B"/>
          </a:solidFill>
          <a:ln/>
        </p:spPr>
      </p:sp>
      <p:sp>
        <p:nvSpPr>
          <p:cNvPr id="27" name="Text 23"/>
          <p:cNvSpPr/>
          <p:nvPr/>
        </p:nvSpPr>
        <p:spPr>
          <a:xfrm>
            <a:off x="1033272" y="4046220"/>
            <a:ext cx="2743200" cy="256032"/>
          </a:xfrm>
          <a:prstGeom prst="rect">
            <a:avLst/>
          </a:prstGeom>
          <a:noFill/>
          <a:ln/>
        </p:spPr>
        <p:txBody>
          <a:bodyPr wrap="square" lIns="0" tIns="0" rIns="0" bIns="0" rtlCol="0" anchor="ctr"/>
          <a:lstStyle/>
          <a:p>
            <a:pPr indent="0" marL="0">
              <a:buNone/>
            </a:pPr>
            <a:r>
              <a:rPr lang="en-US" sz="1200" b="1" dirty="0">
                <a:solidFill>
                  <a:srgbClr val="F1F4F7"/>
                </a:solidFill>
                <a:latin typeface="Arial" pitchFamily="34" charset="0"/>
                <a:ea typeface="Arial" pitchFamily="34" charset="-122"/>
                <a:cs typeface="Arial" pitchFamily="34" charset="-120"/>
              </a:rPr>
              <a:t>Up-chits</a:t>
            </a:r>
            <a:endParaRPr lang="en-US" sz="1200" dirty="0"/>
          </a:p>
        </p:txBody>
      </p:sp>
      <p:sp>
        <p:nvSpPr>
          <p:cNvPr id="28" name="Text 24"/>
          <p:cNvSpPr/>
          <p:nvPr/>
        </p:nvSpPr>
        <p:spPr>
          <a:xfrm>
            <a:off x="1033272" y="4283964"/>
            <a:ext cx="2743200" cy="201168"/>
          </a:xfrm>
          <a:prstGeom prst="rect">
            <a:avLst/>
          </a:prstGeom>
          <a:noFill/>
          <a:ln/>
        </p:spPr>
        <p:txBody>
          <a:bodyPr wrap="square" lIns="0" tIns="0" rIns="0" bIns="0" rtlCol="0" anchor="ctr"/>
          <a:lstStyle/>
          <a:p>
            <a:pPr indent="0" marL="0">
              <a:buNone/>
            </a:pPr>
            <a:r>
              <a:rPr lang="en-US" sz="950" dirty="0">
                <a:solidFill>
                  <a:srgbClr val="8A96A3"/>
                </a:solidFill>
                <a:latin typeface="Courier New" pitchFamily="34" charset="0"/>
                <a:ea typeface="Courier New" pitchFamily="34" charset="-122"/>
                <a:cs typeface="Courier New" pitchFamily="34" charset="-120"/>
              </a:rPr>
              <a:t>paper / memory</a:t>
            </a:r>
            <a:endParaRPr lang="en-US" sz="950" dirty="0"/>
          </a:p>
        </p:txBody>
      </p:sp>
      <p:sp>
        <p:nvSpPr>
          <p:cNvPr id="29" name="Shape 25"/>
          <p:cNvSpPr/>
          <p:nvPr/>
        </p:nvSpPr>
        <p:spPr>
          <a:xfrm flipV="1">
            <a:off x="3886200" y="4160520"/>
            <a:ext cx="4434840" cy="621792"/>
          </a:xfrm>
          <a:prstGeom prst="line">
            <a:avLst/>
          </a:prstGeom>
          <a:noFill/>
          <a:ln w="9525">
            <a:solidFill>
              <a:srgbClr val="2E7F94">
                <a:alpha val="42000"/>
              </a:srgbClr>
            </a:solidFill>
            <a:prstDash val="solid"/>
          </a:ln>
        </p:spPr>
      </p:sp>
      <p:sp>
        <p:nvSpPr>
          <p:cNvPr id="30" name="Shape 26"/>
          <p:cNvSpPr/>
          <p:nvPr/>
        </p:nvSpPr>
        <p:spPr>
          <a:xfrm>
            <a:off x="685800" y="4553712"/>
            <a:ext cx="3200400" cy="457200"/>
          </a:xfrm>
          <a:prstGeom prst="roundRect">
            <a:avLst>
              <a:gd name="adj" fmla="val 12000"/>
            </a:avLst>
          </a:prstGeom>
          <a:solidFill>
            <a:srgbClr val="14181D"/>
          </a:solidFill>
          <a:ln w="12700">
            <a:solidFill>
              <a:srgbClr val="2A313A"/>
            </a:solidFill>
            <a:prstDash val="solid"/>
          </a:ln>
        </p:spPr>
      </p:sp>
      <p:sp>
        <p:nvSpPr>
          <p:cNvPr id="31" name="Shape 27"/>
          <p:cNvSpPr/>
          <p:nvPr/>
        </p:nvSpPr>
        <p:spPr>
          <a:xfrm>
            <a:off x="786384" y="4645152"/>
            <a:ext cx="128016" cy="274320"/>
          </a:xfrm>
          <a:prstGeom prst="roundRect">
            <a:avLst>
              <a:gd name="adj" fmla="val 21429"/>
            </a:avLst>
          </a:prstGeom>
          <a:solidFill>
            <a:srgbClr val="2E9E74"/>
          </a:solidFill>
          <a:ln/>
        </p:spPr>
      </p:sp>
      <p:sp>
        <p:nvSpPr>
          <p:cNvPr id="32" name="Text 28"/>
          <p:cNvSpPr/>
          <p:nvPr/>
        </p:nvSpPr>
        <p:spPr>
          <a:xfrm>
            <a:off x="1033272" y="4572000"/>
            <a:ext cx="2743200" cy="256032"/>
          </a:xfrm>
          <a:prstGeom prst="rect">
            <a:avLst/>
          </a:prstGeom>
          <a:noFill/>
          <a:ln/>
        </p:spPr>
        <p:txBody>
          <a:bodyPr wrap="square" lIns="0" tIns="0" rIns="0" bIns="0" rtlCol="0" anchor="ctr"/>
          <a:lstStyle/>
          <a:p>
            <a:pPr indent="0" marL="0">
              <a:buNone/>
            </a:pPr>
            <a:r>
              <a:rPr lang="en-US" sz="1200" b="1" dirty="0">
                <a:solidFill>
                  <a:srgbClr val="F1F4F7"/>
                </a:solidFill>
                <a:latin typeface="Arial" pitchFamily="34" charset="0"/>
                <a:ea typeface="Arial" pitchFamily="34" charset="-122"/>
                <a:cs typeface="Arial" pitchFamily="34" charset="-120"/>
              </a:rPr>
              <a:t>Qualifications</a:t>
            </a:r>
            <a:endParaRPr lang="en-US" sz="1200" dirty="0"/>
          </a:p>
        </p:txBody>
      </p:sp>
      <p:sp>
        <p:nvSpPr>
          <p:cNvPr id="33" name="Text 29"/>
          <p:cNvSpPr/>
          <p:nvPr/>
        </p:nvSpPr>
        <p:spPr>
          <a:xfrm>
            <a:off x="1033272" y="4809744"/>
            <a:ext cx="2743200" cy="201168"/>
          </a:xfrm>
          <a:prstGeom prst="rect">
            <a:avLst/>
          </a:prstGeom>
          <a:noFill/>
          <a:ln/>
        </p:spPr>
        <p:txBody>
          <a:bodyPr wrap="square" lIns="0" tIns="0" rIns="0" bIns="0" rtlCol="0" anchor="ctr"/>
          <a:lstStyle/>
          <a:p>
            <a:pPr indent="0" marL="0">
              <a:buNone/>
            </a:pPr>
            <a:r>
              <a:rPr lang="en-US" sz="950" dirty="0">
                <a:solidFill>
                  <a:srgbClr val="8A96A3"/>
                </a:solidFill>
                <a:latin typeface="Courier New" pitchFamily="34" charset="0"/>
                <a:ea typeface="Courier New" pitchFamily="34" charset="-122"/>
                <a:cs typeface="Courier New" pitchFamily="34" charset="-120"/>
              </a:rPr>
              <a:t>spreadsheet</a:t>
            </a:r>
            <a:endParaRPr lang="en-US" sz="950" dirty="0"/>
          </a:p>
        </p:txBody>
      </p:sp>
      <p:sp>
        <p:nvSpPr>
          <p:cNvPr id="34" name="Shape 30"/>
          <p:cNvSpPr/>
          <p:nvPr/>
        </p:nvSpPr>
        <p:spPr>
          <a:xfrm flipV="1">
            <a:off x="3886200" y="4160520"/>
            <a:ext cx="4434840" cy="1147572"/>
          </a:xfrm>
          <a:prstGeom prst="line">
            <a:avLst/>
          </a:prstGeom>
          <a:noFill/>
          <a:ln w="9525">
            <a:solidFill>
              <a:srgbClr val="2E7F94">
                <a:alpha val="42000"/>
              </a:srgbClr>
            </a:solidFill>
            <a:prstDash val="solid"/>
          </a:ln>
        </p:spPr>
      </p:sp>
      <p:sp>
        <p:nvSpPr>
          <p:cNvPr id="35" name="Shape 31"/>
          <p:cNvSpPr/>
          <p:nvPr/>
        </p:nvSpPr>
        <p:spPr>
          <a:xfrm>
            <a:off x="685800" y="5079492"/>
            <a:ext cx="3200400" cy="457200"/>
          </a:xfrm>
          <a:prstGeom prst="roundRect">
            <a:avLst>
              <a:gd name="adj" fmla="val 12000"/>
            </a:avLst>
          </a:prstGeom>
          <a:solidFill>
            <a:srgbClr val="14181D"/>
          </a:solidFill>
          <a:ln w="12700">
            <a:solidFill>
              <a:srgbClr val="2A313A"/>
            </a:solidFill>
            <a:prstDash val="solid"/>
          </a:ln>
        </p:spPr>
      </p:sp>
      <p:sp>
        <p:nvSpPr>
          <p:cNvPr id="36" name="Shape 32"/>
          <p:cNvSpPr/>
          <p:nvPr/>
        </p:nvSpPr>
        <p:spPr>
          <a:xfrm>
            <a:off x="786384" y="5170932"/>
            <a:ext cx="128016" cy="274320"/>
          </a:xfrm>
          <a:prstGeom prst="roundRect">
            <a:avLst>
              <a:gd name="adj" fmla="val 21429"/>
            </a:avLst>
          </a:prstGeom>
          <a:solidFill>
            <a:srgbClr val="3BC6E8"/>
          </a:solidFill>
          <a:ln/>
        </p:spPr>
      </p:sp>
      <p:sp>
        <p:nvSpPr>
          <p:cNvPr id="37" name="Text 33"/>
          <p:cNvSpPr/>
          <p:nvPr/>
        </p:nvSpPr>
        <p:spPr>
          <a:xfrm>
            <a:off x="1033272" y="5097780"/>
            <a:ext cx="2743200" cy="256032"/>
          </a:xfrm>
          <a:prstGeom prst="rect">
            <a:avLst/>
          </a:prstGeom>
          <a:noFill/>
          <a:ln/>
        </p:spPr>
        <p:txBody>
          <a:bodyPr wrap="square" lIns="0" tIns="0" rIns="0" bIns="0" rtlCol="0" anchor="ctr"/>
          <a:lstStyle/>
          <a:p>
            <a:pPr indent="0" marL="0">
              <a:buNone/>
            </a:pPr>
            <a:r>
              <a:rPr lang="en-US" sz="1200" b="1" dirty="0">
                <a:solidFill>
                  <a:srgbClr val="F1F4F7"/>
                </a:solidFill>
                <a:latin typeface="Arial" pitchFamily="34" charset="0"/>
                <a:ea typeface="Arial" pitchFamily="34" charset="-122"/>
                <a:cs typeface="Arial" pitchFamily="34" charset="-120"/>
              </a:rPr>
              <a:t>Duties &amp; manning</a:t>
            </a:r>
            <a:endParaRPr lang="en-US" sz="1200" dirty="0"/>
          </a:p>
        </p:txBody>
      </p:sp>
      <p:sp>
        <p:nvSpPr>
          <p:cNvPr id="38" name="Text 34"/>
          <p:cNvSpPr/>
          <p:nvPr/>
        </p:nvSpPr>
        <p:spPr>
          <a:xfrm>
            <a:off x="1033272" y="5335524"/>
            <a:ext cx="2743200" cy="201168"/>
          </a:xfrm>
          <a:prstGeom prst="rect">
            <a:avLst/>
          </a:prstGeom>
          <a:noFill/>
          <a:ln/>
        </p:spPr>
        <p:txBody>
          <a:bodyPr wrap="square" lIns="0" tIns="0" rIns="0" bIns="0" rtlCol="0" anchor="ctr"/>
          <a:lstStyle/>
          <a:p>
            <a:pPr indent="0" marL="0">
              <a:buNone/>
            </a:pPr>
            <a:r>
              <a:rPr lang="en-US" sz="950" dirty="0">
                <a:solidFill>
                  <a:srgbClr val="8A96A3"/>
                </a:solidFill>
                <a:latin typeface="Courier New" pitchFamily="34" charset="0"/>
                <a:ea typeface="Courier New" pitchFamily="34" charset="-122"/>
                <a:cs typeface="Courier New" pitchFamily="34" charset="-120"/>
              </a:rPr>
              <a:t>whiteboard</a:t>
            </a:r>
            <a:endParaRPr lang="en-US" sz="950" dirty="0"/>
          </a:p>
        </p:txBody>
      </p:sp>
      <p:sp>
        <p:nvSpPr>
          <p:cNvPr id="39" name="Shape 35"/>
          <p:cNvSpPr/>
          <p:nvPr/>
        </p:nvSpPr>
        <p:spPr>
          <a:xfrm flipV="1">
            <a:off x="3886200" y="4160520"/>
            <a:ext cx="4434840" cy="1673352"/>
          </a:xfrm>
          <a:prstGeom prst="line">
            <a:avLst/>
          </a:prstGeom>
          <a:noFill/>
          <a:ln w="9525">
            <a:solidFill>
              <a:srgbClr val="2E7F94">
                <a:alpha val="42000"/>
              </a:srgbClr>
            </a:solidFill>
            <a:prstDash val="solid"/>
          </a:ln>
        </p:spPr>
      </p:sp>
      <p:sp>
        <p:nvSpPr>
          <p:cNvPr id="40" name="Shape 36"/>
          <p:cNvSpPr/>
          <p:nvPr/>
        </p:nvSpPr>
        <p:spPr>
          <a:xfrm>
            <a:off x="685800" y="5605272"/>
            <a:ext cx="3200400" cy="457200"/>
          </a:xfrm>
          <a:prstGeom prst="roundRect">
            <a:avLst>
              <a:gd name="adj" fmla="val 12000"/>
            </a:avLst>
          </a:prstGeom>
          <a:solidFill>
            <a:srgbClr val="14181D"/>
          </a:solidFill>
          <a:ln w="12700">
            <a:solidFill>
              <a:srgbClr val="2A313A"/>
            </a:solidFill>
            <a:prstDash val="solid"/>
          </a:ln>
        </p:spPr>
      </p:sp>
      <p:sp>
        <p:nvSpPr>
          <p:cNvPr id="41" name="Shape 37"/>
          <p:cNvSpPr/>
          <p:nvPr/>
        </p:nvSpPr>
        <p:spPr>
          <a:xfrm>
            <a:off x="786384" y="5696712"/>
            <a:ext cx="128016" cy="274320"/>
          </a:xfrm>
          <a:prstGeom prst="roundRect">
            <a:avLst>
              <a:gd name="adj" fmla="val 21429"/>
            </a:avLst>
          </a:prstGeom>
          <a:solidFill>
            <a:srgbClr val="8A8F3C"/>
          </a:solidFill>
          <a:ln/>
        </p:spPr>
      </p:sp>
      <p:sp>
        <p:nvSpPr>
          <p:cNvPr id="42" name="Text 38"/>
          <p:cNvSpPr/>
          <p:nvPr/>
        </p:nvSpPr>
        <p:spPr>
          <a:xfrm>
            <a:off x="1033272" y="5623560"/>
            <a:ext cx="2743200" cy="256032"/>
          </a:xfrm>
          <a:prstGeom prst="rect">
            <a:avLst/>
          </a:prstGeom>
          <a:noFill/>
          <a:ln/>
        </p:spPr>
        <p:txBody>
          <a:bodyPr wrap="square" lIns="0" tIns="0" rIns="0" bIns="0" rtlCol="0" anchor="ctr"/>
          <a:lstStyle/>
          <a:p>
            <a:pPr indent="0" marL="0">
              <a:buNone/>
            </a:pPr>
            <a:r>
              <a:rPr lang="en-US" sz="1200" b="1" dirty="0">
                <a:solidFill>
                  <a:srgbClr val="F1F4F7"/>
                </a:solidFill>
                <a:latin typeface="Arial" pitchFamily="34" charset="0"/>
                <a:ea typeface="Arial" pitchFamily="34" charset="-122"/>
                <a:cs typeface="Arial" pitchFamily="34" charset="-120"/>
              </a:rPr>
              <a:t>Student syllabus</a:t>
            </a:r>
            <a:endParaRPr lang="en-US" sz="1200" dirty="0"/>
          </a:p>
        </p:txBody>
      </p:sp>
      <p:sp>
        <p:nvSpPr>
          <p:cNvPr id="43" name="Text 39"/>
          <p:cNvSpPr/>
          <p:nvPr/>
        </p:nvSpPr>
        <p:spPr>
          <a:xfrm>
            <a:off x="1033272" y="5861304"/>
            <a:ext cx="2743200" cy="201168"/>
          </a:xfrm>
          <a:prstGeom prst="rect">
            <a:avLst/>
          </a:prstGeom>
          <a:noFill/>
          <a:ln/>
        </p:spPr>
        <p:txBody>
          <a:bodyPr wrap="square" lIns="0" tIns="0" rIns="0" bIns="0" rtlCol="0" anchor="ctr"/>
          <a:lstStyle/>
          <a:p>
            <a:pPr indent="0" marL="0">
              <a:buNone/>
            </a:pPr>
            <a:r>
              <a:rPr lang="en-US" sz="950" dirty="0">
                <a:solidFill>
                  <a:srgbClr val="8A96A3"/>
                </a:solidFill>
                <a:latin typeface="Courier New" pitchFamily="34" charset="0"/>
                <a:ea typeface="Courier New" pitchFamily="34" charset="-122"/>
                <a:cs typeface="Courier New" pitchFamily="34" charset="-120"/>
              </a:rPr>
              <a:t>separate tracker</a:t>
            </a:r>
            <a:endParaRPr lang="en-US" sz="950" dirty="0"/>
          </a:p>
        </p:txBody>
      </p:sp>
      <p:sp>
        <p:nvSpPr>
          <p:cNvPr id="44" name="Shape 40"/>
          <p:cNvSpPr/>
          <p:nvPr/>
        </p:nvSpPr>
        <p:spPr>
          <a:xfrm>
            <a:off x="8293608" y="3218688"/>
            <a:ext cx="3209544" cy="1883664"/>
          </a:xfrm>
          <a:prstGeom prst="roundRect">
            <a:avLst>
              <a:gd name="adj" fmla="val 6796"/>
            </a:avLst>
          </a:prstGeom>
          <a:solidFill>
            <a:srgbClr val="000000"/>
          </a:solidFill>
          <a:ln/>
          <a:effectLst>
            <a:outerShdw sx="100000" sy="100000" kx="0" ky="0" algn="bl" rotWithShape="0" blurRad="203200" dist="63500" dir="5400000">
              <a:srgbClr val="000000">
                <a:alpha val="50000"/>
              </a:srgbClr>
            </a:outerShdw>
          </a:effectLst>
        </p:spPr>
      </p:sp>
      <p:sp>
        <p:nvSpPr>
          <p:cNvPr id="45" name="Shape 41"/>
          <p:cNvSpPr/>
          <p:nvPr/>
        </p:nvSpPr>
        <p:spPr>
          <a:xfrm>
            <a:off x="8321040" y="3246120"/>
            <a:ext cx="3154680" cy="1828800"/>
          </a:xfrm>
          <a:prstGeom prst="roundRect">
            <a:avLst>
              <a:gd name="adj" fmla="val 6500"/>
            </a:avLst>
          </a:prstGeom>
          <a:solidFill>
            <a:srgbClr val="1A1F26"/>
          </a:solidFill>
          <a:ln w="19050">
            <a:solidFill>
              <a:srgbClr val="3BC6E8"/>
            </a:solidFill>
            <a:prstDash val="solid"/>
          </a:ln>
        </p:spPr>
      </p:sp>
      <p:pic>
        <p:nvPicPr>
          <p:cNvPr id="46" name="Image 2" descr="preencoded.png">    </p:cNvPr>
          <p:cNvPicPr>
            <a:picLocks noChangeAspect="1"/>
          </p:cNvPicPr>
          <p:nvPr/>
        </p:nvPicPr>
        <p:blipFill>
          <a:blip r:embed="rId3"/>
          <a:stretch>
            <a:fillRect/>
          </a:stretch>
        </p:blipFill>
        <p:spPr>
          <a:xfrm>
            <a:off x="9532620" y="3502152"/>
            <a:ext cx="731520" cy="731520"/>
          </a:xfrm>
          <a:prstGeom prst="rect">
            <a:avLst/>
          </a:prstGeom>
        </p:spPr>
      </p:pic>
      <p:sp>
        <p:nvSpPr>
          <p:cNvPr id="47" name="Text 42"/>
          <p:cNvSpPr/>
          <p:nvPr/>
        </p:nvSpPr>
        <p:spPr>
          <a:xfrm>
            <a:off x="8321040" y="4270248"/>
            <a:ext cx="3154680" cy="365760"/>
          </a:xfrm>
          <a:prstGeom prst="rect">
            <a:avLst/>
          </a:prstGeom>
          <a:noFill/>
          <a:ln/>
        </p:spPr>
        <p:txBody>
          <a:bodyPr wrap="square" lIns="0" tIns="0" rIns="0" bIns="0" rtlCol="0" anchor="ctr"/>
          <a:lstStyle/>
          <a:p>
            <a:pPr algn="ctr" indent="0" marL="0">
              <a:buNone/>
            </a:pPr>
            <a:r>
              <a:rPr lang="en-US" sz="2200" b="1" spc="200" kern="0" dirty="0">
                <a:solidFill>
                  <a:srgbClr val="F1F4F7"/>
                </a:solidFill>
                <a:latin typeface="Arial" pitchFamily="34" charset="0"/>
                <a:ea typeface="Arial" pitchFamily="34" charset="-122"/>
                <a:cs typeface="Arial" pitchFamily="34" charset="-120"/>
              </a:rPr>
              <a:t>RAPTOR</a:t>
            </a:r>
            <a:endParaRPr lang="en-US" sz="2200" dirty="0"/>
          </a:p>
        </p:txBody>
      </p:sp>
      <p:sp>
        <p:nvSpPr>
          <p:cNvPr id="48" name="Text 43"/>
          <p:cNvSpPr/>
          <p:nvPr/>
        </p:nvSpPr>
        <p:spPr>
          <a:xfrm>
            <a:off x="8321040" y="4663440"/>
            <a:ext cx="3154680" cy="292608"/>
          </a:xfrm>
          <a:prstGeom prst="rect">
            <a:avLst/>
          </a:prstGeom>
          <a:noFill/>
          <a:ln/>
        </p:spPr>
        <p:txBody>
          <a:bodyPr wrap="square" lIns="0" tIns="0" rIns="0" bIns="0" rtlCol="0" anchor="ctr"/>
          <a:lstStyle/>
          <a:p>
            <a:pPr algn="ctr" indent="0" marL="0">
              <a:buNone/>
            </a:pPr>
            <a:r>
              <a:rPr lang="en-US" sz="1200" dirty="0">
                <a:solidFill>
                  <a:srgbClr val="3BC6E8"/>
                </a:solidFill>
                <a:latin typeface="Calibri" pitchFamily="34" charset="0"/>
                <a:ea typeface="Calibri" pitchFamily="34" charset="-122"/>
                <a:cs typeface="Calibri" pitchFamily="34" charset="-120"/>
              </a:rPr>
              <a:t>One application · one source of truth</a:t>
            </a:r>
            <a:endParaRPr lang="en-US" sz="1200" dirty="0"/>
          </a:p>
        </p:txBody>
      </p:sp>
      <p:sp>
        <p:nvSpPr>
          <p:cNvPr id="49" name="Text 44"/>
          <p:cNvSpPr/>
          <p:nvPr/>
        </p:nvSpPr>
        <p:spPr>
          <a:xfrm>
            <a:off x="7955280" y="5257800"/>
            <a:ext cx="3931920" cy="548640"/>
          </a:xfrm>
          <a:prstGeom prst="rect">
            <a:avLst/>
          </a:prstGeom>
          <a:noFill/>
          <a:ln/>
        </p:spPr>
        <p:txBody>
          <a:bodyPr wrap="square" lIns="0" tIns="0" rIns="0" bIns="0" rtlCol="0" anchor="ctr"/>
          <a:lstStyle/>
          <a:p>
            <a:pPr algn="ctr" indent="0" marL="0">
              <a:buNone/>
            </a:pPr>
            <a:r>
              <a:rPr lang="en-US" sz="1250" i="1" dirty="0">
                <a:solidFill>
                  <a:srgbClr val="B6C0CB"/>
                </a:solidFill>
                <a:latin typeface="Calibri" pitchFamily="34" charset="0"/>
                <a:ea typeface="Calibri" pitchFamily="34" charset="-122"/>
                <a:cs typeface="Calibri" pitchFamily="34" charset="-120"/>
              </a:rPr>
              <a:t>Enter a fact once. Everyone sees the same picture — and nothing has to be re-keyed.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80000"/>
          </a:blip>
          <a:stretch>
            <a:fillRect/>
          </a:stretch>
        </p:blipFill>
        <p:spPr>
          <a:xfrm>
            <a:off x="640080" y="6291072"/>
            <a:ext cx="219456" cy="219456"/>
          </a:xfrm>
          <a:prstGeom prst="rect">
            <a:avLst/>
          </a:prstGeom>
        </p:spPr>
      </p:pic>
      <p:sp>
        <p:nvSpPr>
          <p:cNvPr id="3" name="Text 0"/>
          <p:cNvSpPr/>
          <p:nvPr/>
        </p:nvSpPr>
        <p:spPr>
          <a:xfrm>
            <a:off x="914400" y="6309360"/>
            <a:ext cx="2743200" cy="219456"/>
          </a:xfrm>
          <a:prstGeom prst="rect">
            <a:avLst/>
          </a:prstGeom>
          <a:noFill/>
          <a:ln/>
        </p:spPr>
        <p:txBody>
          <a:bodyPr wrap="square" lIns="0" tIns="0" rIns="0" bIns="0" rtlCol="0" anchor="ctr"/>
          <a:lstStyle/>
          <a:p>
            <a:pPr indent="0" marL="0">
              <a:buNone/>
            </a:pPr>
            <a:r>
              <a:rPr lang="en-US" sz="900" b="1" spc="200" kern="0" dirty="0">
                <a:solidFill>
                  <a:srgbClr val="8A96A3"/>
                </a:solidFill>
                <a:latin typeface="Arial" pitchFamily="34" charset="0"/>
                <a:ea typeface="Arial" pitchFamily="34" charset="-122"/>
                <a:cs typeface="Arial" pitchFamily="34" charset="-120"/>
              </a:rPr>
              <a:t>RAPTOR</a:t>
            </a:r>
            <a:endParaRPr lang="en-US" sz="900" dirty="0"/>
          </a:p>
        </p:txBody>
      </p:sp>
      <p:sp>
        <p:nvSpPr>
          <p:cNvPr id="4" name="Text 1"/>
          <p:cNvSpPr/>
          <p:nvPr/>
        </p:nvSpPr>
        <p:spPr>
          <a:xfrm>
            <a:off x="11228832" y="6309360"/>
            <a:ext cx="457200" cy="219456"/>
          </a:xfrm>
          <a:prstGeom prst="rect">
            <a:avLst/>
          </a:prstGeom>
          <a:noFill/>
          <a:ln/>
        </p:spPr>
        <p:txBody>
          <a:bodyPr wrap="square" lIns="0" tIns="0" rIns="0" bIns="0" rtlCol="0" anchor="ctr"/>
          <a:lstStyle/>
          <a:p>
            <a:pPr algn="r" indent="0" marL="0">
              <a:buNone/>
            </a:pPr>
            <a:r>
              <a:rPr lang="en-US" sz="900" dirty="0">
                <a:solidFill>
                  <a:srgbClr val="8A96A3"/>
                </a:solidFill>
                <a:latin typeface="Arial" pitchFamily="34" charset="0"/>
                <a:ea typeface="Arial" pitchFamily="34" charset="-122"/>
                <a:cs typeface="Arial" pitchFamily="34" charset="-120"/>
              </a:rPr>
              <a:t>03</a:t>
            </a:r>
            <a:endParaRPr lang="en-US" sz="900" dirty="0"/>
          </a:p>
        </p:txBody>
      </p:sp>
      <p:sp>
        <p:nvSpPr>
          <p:cNvPr id="5" name="Text 2"/>
          <p:cNvSpPr/>
          <p:nvPr/>
        </p:nvSpPr>
        <p:spPr>
          <a:xfrm>
            <a:off x="640080" y="512064"/>
            <a:ext cx="9144000" cy="274320"/>
          </a:xfrm>
          <a:prstGeom prst="rect">
            <a:avLst/>
          </a:prstGeom>
          <a:noFill/>
          <a:ln/>
        </p:spPr>
        <p:txBody>
          <a:bodyPr wrap="square" lIns="0" tIns="0" rIns="0" bIns="0" rtlCol="0" anchor="ctr"/>
          <a:lstStyle/>
          <a:p>
            <a:pPr indent="0" marL="0">
              <a:buNone/>
            </a:pPr>
            <a:r>
              <a:rPr lang="en-US" sz="1200" b="1" spc="300" kern="0" dirty="0">
                <a:solidFill>
                  <a:srgbClr val="3BC6E8"/>
                </a:solidFill>
                <a:latin typeface="Arial" pitchFamily="34" charset="0"/>
                <a:ea typeface="Arial" pitchFamily="34" charset="-122"/>
                <a:cs typeface="Arial" pitchFamily="34" charset="-120"/>
              </a:rPr>
              <a:t>YOUR WINGMAN · 1</a:t>
            </a:r>
            <a:endParaRPr lang="en-US" sz="1200" dirty="0"/>
          </a:p>
        </p:txBody>
      </p:sp>
      <p:sp>
        <p:nvSpPr>
          <p:cNvPr id="6" name="Text 3"/>
          <p:cNvSpPr/>
          <p:nvPr/>
        </p:nvSpPr>
        <p:spPr>
          <a:xfrm>
            <a:off x="640080" y="804672"/>
            <a:ext cx="6949440" cy="822960"/>
          </a:xfrm>
          <a:prstGeom prst="rect">
            <a:avLst/>
          </a:prstGeom>
          <a:noFill/>
          <a:ln/>
        </p:spPr>
        <p:txBody>
          <a:bodyPr wrap="square" lIns="0" tIns="0" rIns="0" bIns="0" rtlCol="0" anchor="ctr"/>
          <a:lstStyle/>
          <a:p>
            <a:pPr indent="0" marL="0">
              <a:buNone/>
            </a:pPr>
            <a:r>
              <a:rPr lang="en-US" sz="3000" b="1" dirty="0">
                <a:solidFill>
                  <a:srgbClr val="F1F4F7"/>
                </a:solidFill>
                <a:latin typeface="Arial" pitchFamily="34" charset="0"/>
                <a:ea typeface="Arial" pitchFamily="34" charset="-122"/>
                <a:cs typeface="Arial" pitchFamily="34" charset="-120"/>
              </a:rPr>
              <a:t>It backs you up when a plan doesn't add up</a:t>
            </a:r>
            <a:endParaRPr lang="en-US" sz="3000" dirty="0"/>
          </a:p>
        </p:txBody>
      </p:sp>
      <p:sp>
        <p:nvSpPr>
          <p:cNvPr id="7" name="Text 4"/>
          <p:cNvSpPr/>
          <p:nvPr/>
        </p:nvSpPr>
        <p:spPr>
          <a:xfrm>
            <a:off x="640080" y="1810512"/>
            <a:ext cx="6949440" cy="640080"/>
          </a:xfrm>
          <a:prstGeom prst="rect">
            <a:avLst/>
          </a:prstGeom>
          <a:noFill/>
          <a:ln/>
        </p:spPr>
        <p:txBody>
          <a:bodyPr wrap="square" lIns="0" tIns="0" rIns="0" bIns="0" rtlCol="0" anchor="ctr"/>
          <a:lstStyle/>
          <a:p>
            <a:pPr indent="0" marL="0">
              <a:buNone/>
            </a:pPr>
            <a:r>
              <a:rPr lang="en-US" sz="1350" dirty="0">
                <a:solidFill>
                  <a:srgbClr val="B6C0CB"/>
                </a:solidFill>
                <a:latin typeface="Calibri" pitchFamily="34" charset="0"/>
                <a:ea typeface="Calibri" pitchFamily="34" charset="-122"/>
                <a:cs typeface="Calibri" pitchFamily="34" charset="-120"/>
              </a:rPr>
              <a:t>Every line is re-checked the instant it changes — RAPTOR flags what breaks the rules, clearly and on the spot, so a mistake is caught before it flies.</a:t>
            </a:r>
            <a:endParaRPr lang="en-US" sz="1350" dirty="0"/>
          </a:p>
        </p:txBody>
      </p:sp>
      <p:sp>
        <p:nvSpPr>
          <p:cNvPr id="8" name="Shape 5"/>
          <p:cNvSpPr/>
          <p:nvPr/>
        </p:nvSpPr>
        <p:spPr>
          <a:xfrm>
            <a:off x="7790688" y="1024128"/>
            <a:ext cx="3758184" cy="5449824"/>
          </a:xfrm>
          <a:prstGeom prst="roundRect">
            <a:avLst>
              <a:gd name="adj" fmla="val 2433"/>
            </a:avLst>
          </a:prstGeom>
          <a:solidFill>
            <a:srgbClr val="000000"/>
          </a:solidFill>
          <a:ln/>
          <a:effectLst>
            <a:outerShdw sx="100000" sy="100000" kx="0" ky="0" algn="bl" rotWithShape="0" blurRad="177800" dist="63500" dir="5400000">
              <a:srgbClr val="000000">
                <a:alpha val="55000"/>
              </a:srgbClr>
            </a:outerShdw>
          </a:effectLst>
        </p:spPr>
      </p:sp>
      <p:sp>
        <p:nvSpPr>
          <p:cNvPr id="9" name="Shape 6"/>
          <p:cNvSpPr/>
          <p:nvPr/>
        </p:nvSpPr>
        <p:spPr>
          <a:xfrm>
            <a:off x="7818120" y="1051560"/>
            <a:ext cx="3703320" cy="5394960"/>
          </a:xfrm>
          <a:prstGeom prst="roundRect">
            <a:avLst>
              <a:gd name="adj" fmla="val 2222"/>
            </a:avLst>
          </a:prstGeom>
          <a:solidFill>
            <a:srgbClr val="0E1116"/>
          </a:solidFill>
          <a:ln w="12700">
            <a:solidFill>
              <a:srgbClr val="F0555F"/>
            </a:solidFill>
            <a:prstDash val="solid"/>
          </a:ln>
        </p:spPr>
      </p:sp>
      <p:pic>
        <p:nvPicPr>
          <p:cNvPr id="10" name="Image 1" descr="preencoded.png">    </p:cNvPr>
          <p:cNvPicPr>
            <a:picLocks noChangeAspect="1"/>
          </p:cNvPicPr>
          <p:nvPr/>
        </p:nvPicPr>
        <p:blipFill>
          <a:blip r:embed="rId2"/>
          <a:stretch>
            <a:fillRect/>
          </a:stretch>
        </p:blipFill>
        <p:spPr>
          <a:xfrm>
            <a:off x="7872984" y="1255654"/>
            <a:ext cx="3593592" cy="4986771"/>
          </a:xfrm>
          <a:prstGeom prst="rect">
            <a:avLst/>
          </a:prstGeom>
        </p:spPr>
      </p:pic>
      <p:sp>
        <p:nvSpPr>
          <p:cNvPr id="11" name="Shape 7"/>
          <p:cNvSpPr/>
          <p:nvPr/>
        </p:nvSpPr>
        <p:spPr>
          <a:xfrm>
            <a:off x="640080" y="2468880"/>
            <a:ext cx="6903720" cy="749808"/>
          </a:xfrm>
          <a:prstGeom prst="roundRect">
            <a:avLst>
              <a:gd name="adj" fmla="val 8537"/>
            </a:avLst>
          </a:prstGeom>
          <a:solidFill>
            <a:srgbClr val="14181D"/>
          </a:solidFill>
          <a:ln w="12700">
            <a:solidFill>
              <a:srgbClr val="2A313A"/>
            </a:solidFill>
            <a:prstDash val="solid"/>
          </a:ln>
        </p:spPr>
      </p:sp>
      <p:sp>
        <p:nvSpPr>
          <p:cNvPr id="12" name="Shape 8"/>
          <p:cNvSpPr/>
          <p:nvPr/>
        </p:nvSpPr>
        <p:spPr>
          <a:xfrm>
            <a:off x="640080" y="2468880"/>
            <a:ext cx="100584" cy="749808"/>
          </a:xfrm>
          <a:prstGeom prst="roundRect">
            <a:avLst>
              <a:gd name="adj" fmla="val 18182"/>
            </a:avLst>
          </a:prstGeom>
          <a:solidFill>
            <a:srgbClr val="F0555F"/>
          </a:solidFill>
          <a:ln/>
        </p:spPr>
      </p:sp>
      <p:sp>
        <p:nvSpPr>
          <p:cNvPr id="13" name="Text 9"/>
          <p:cNvSpPr/>
          <p:nvPr/>
        </p:nvSpPr>
        <p:spPr>
          <a:xfrm>
            <a:off x="868680" y="2560320"/>
            <a:ext cx="6309360" cy="274320"/>
          </a:xfrm>
          <a:prstGeom prst="rect">
            <a:avLst/>
          </a:prstGeom>
          <a:noFill/>
          <a:ln/>
        </p:spPr>
        <p:txBody>
          <a:bodyPr wrap="square" lIns="0" tIns="0" rIns="0" bIns="0" rtlCol="0" anchor="ctr"/>
          <a:lstStyle/>
          <a:p>
            <a:pPr indent="0" marL="0">
              <a:buNone/>
            </a:pPr>
            <a:r>
              <a:rPr lang="en-US" sz="1350" b="1" dirty="0">
                <a:solidFill>
                  <a:srgbClr val="F1F4F7"/>
                </a:solidFill>
                <a:latin typeface="Arial" pitchFamily="34" charset="0"/>
                <a:ea typeface="Arial" pitchFamily="34" charset="-122"/>
                <a:cs typeface="Arial" pitchFamily="34" charset="-120"/>
              </a:rPr>
              <a:t>Crew-rest breach</a:t>
            </a:r>
            <a:endParaRPr lang="en-US" sz="1350" dirty="0"/>
          </a:p>
        </p:txBody>
      </p:sp>
      <p:sp>
        <p:nvSpPr>
          <p:cNvPr id="14" name="Text 10"/>
          <p:cNvSpPr/>
          <p:nvPr/>
        </p:nvSpPr>
        <p:spPr>
          <a:xfrm>
            <a:off x="868680" y="2852928"/>
            <a:ext cx="6492240" cy="310896"/>
          </a:xfrm>
          <a:prstGeom prst="rect">
            <a:avLst/>
          </a:prstGeom>
          <a:noFill/>
          <a:ln/>
        </p:spPr>
        <p:txBody>
          <a:bodyPr wrap="square" lIns="0" tIns="0" rIns="0" bIns="0" rtlCol="0" anchor="ctr"/>
          <a:lstStyle/>
          <a:p>
            <a:pPr indent="0" marL="0">
              <a:buNone/>
            </a:pPr>
            <a:r>
              <a:rPr lang="en-US" sz="1100" dirty="0">
                <a:solidFill>
                  <a:srgbClr val="B6C0CB"/>
                </a:solidFill>
                <a:latin typeface="Calibri" pitchFamily="34" charset="0"/>
                <a:ea typeface="Calibri" pitchFamily="34" charset="-122"/>
                <a:cs typeface="Calibri" pitchFamily="34" charset="-120"/>
              </a:rPr>
              <a:t>Late land last night vs. an early report — RAPTOR does the maths and names who's short.</a:t>
            </a:r>
            <a:endParaRPr lang="en-US" sz="1100" dirty="0"/>
          </a:p>
        </p:txBody>
      </p:sp>
      <p:sp>
        <p:nvSpPr>
          <p:cNvPr id="15" name="Shape 11"/>
          <p:cNvSpPr/>
          <p:nvPr/>
        </p:nvSpPr>
        <p:spPr>
          <a:xfrm>
            <a:off x="640080" y="3291840"/>
            <a:ext cx="6903720" cy="749808"/>
          </a:xfrm>
          <a:prstGeom prst="roundRect">
            <a:avLst>
              <a:gd name="adj" fmla="val 8537"/>
            </a:avLst>
          </a:prstGeom>
          <a:solidFill>
            <a:srgbClr val="14181D"/>
          </a:solidFill>
          <a:ln w="12700">
            <a:solidFill>
              <a:srgbClr val="2A313A"/>
            </a:solidFill>
            <a:prstDash val="solid"/>
          </a:ln>
        </p:spPr>
      </p:sp>
      <p:sp>
        <p:nvSpPr>
          <p:cNvPr id="16" name="Shape 12"/>
          <p:cNvSpPr/>
          <p:nvPr/>
        </p:nvSpPr>
        <p:spPr>
          <a:xfrm>
            <a:off x="640080" y="3291840"/>
            <a:ext cx="100584" cy="749808"/>
          </a:xfrm>
          <a:prstGeom prst="roundRect">
            <a:avLst>
              <a:gd name="adj" fmla="val 18182"/>
            </a:avLst>
          </a:prstGeom>
          <a:solidFill>
            <a:srgbClr val="F0555F"/>
          </a:solidFill>
          <a:ln/>
        </p:spPr>
      </p:sp>
      <p:sp>
        <p:nvSpPr>
          <p:cNvPr id="17" name="Text 13"/>
          <p:cNvSpPr/>
          <p:nvPr/>
        </p:nvSpPr>
        <p:spPr>
          <a:xfrm>
            <a:off x="868680" y="3383280"/>
            <a:ext cx="6309360" cy="274320"/>
          </a:xfrm>
          <a:prstGeom prst="rect">
            <a:avLst/>
          </a:prstGeom>
          <a:noFill/>
          <a:ln/>
        </p:spPr>
        <p:txBody>
          <a:bodyPr wrap="square" lIns="0" tIns="0" rIns="0" bIns="0" rtlCol="0" anchor="ctr"/>
          <a:lstStyle/>
          <a:p>
            <a:pPr indent="0" marL="0">
              <a:buNone/>
            </a:pPr>
            <a:r>
              <a:rPr lang="en-US" sz="1350" b="1" dirty="0">
                <a:solidFill>
                  <a:srgbClr val="F1F4F7"/>
                </a:solidFill>
                <a:latin typeface="Arial" pitchFamily="34" charset="0"/>
                <a:ea typeface="Arial" pitchFamily="34" charset="-122"/>
                <a:cs typeface="Arial" pitchFamily="34" charset="-120"/>
              </a:rPr>
              <a:t>Double-booking / clash</a:t>
            </a:r>
            <a:endParaRPr lang="en-US" sz="1350" dirty="0"/>
          </a:p>
        </p:txBody>
      </p:sp>
      <p:sp>
        <p:nvSpPr>
          <p:cNvPr id="18" name="Text 14"/>
          <p:cNvSpPr/>
          <p:nvPr/>
        </p:nvSpPr>
        <p:spPr>
          <a:xfrm>
            <a:off x="868680" y="3675888"/>
            <a:ext cx="6492240" cy="310896"/>
          </a:xfrm>
          <a:prstGeom prst="rect">
            <a:avLst/>
          </a:prstGeom>
          <a:noFill/>
          <a:ln/>
        </p:spPr>
        <p:txBody>
          <a:bodyPr wrap="square" lIns="0" tIns="0" rIns="0" bIns="0" rtlCol="0" anchor="ctr"/>
          <a:lstStyle/>
          <a:p>
            <a:pPr indent="0" marL="0">
              <a:buNone/>
            </a:pPr>
            <a:r>
              <a:rPr lang="en-US" sz="1100" dirty="0">
                <a:solidFill>
                  <a:srgbClr val="B6C0CB"/>
                </a:solidFill>
                <a:latin typeface="Calibri" pitchFamily="34" charset="0"/>
                <a:ea typeface="Calibri" pitchFamily="34" charset="-122"/>
                <a:cs typeface="Calibri" pitchFamily="34" charset="-120"/>
              </a:rPr>
              <a:t>One person, two places at once — across sorties, sims, duties and meetings.</a:t>
            </a:r>
            <a:endParaRPr lang="en-US" sz="1100" dirty="0"/>
          </a:p>
        </p:txBody>
      </p:sp>
      <p:sp>
        <p:nvSpPr>
          <p:cNvPr id="19" name="Shape 15"/>
          <p:cNvSpPr/>
          <p:nvPr/>
        </p:nvSpPr>
        <p:spPr>
          <a:xfrm>
            <a:off x="640080" y="4114800"/>
            <a:ext cx="6903720" cy="749808"/>
          </a:xfrm>
          <a:prstGeom prst="roundRect">
            <a:avLst>
              <a:gd name="adj" fmla="val 8537"/>
            </a:avLst>
          </a:prstGeom>
          <a:solidFill>
            <a:srgbClr val="14181D"/>
          </a:solidFill>
          <a:ln w="12700">
            <a:solidFill>
              <a:srgbClr val="2A313A"/>
            </a:solidFill>
            <a:prstDash val="solid"/>
          </a:ln>
        </p:spPr>
      </p:sp>
      <p:sp>
        <p:nvSpPr>
          <p:cNvPr id="20" name="Shape 16"/>
          <p:cNvSpPr/>
          <p:nvPr/>
        </p:nvSpPr>
        <p:spPr>
          <a:xfrm>
            <a:off x="640080" y="4114800"/>
            <a:ext cx="100584" cy="749808"/>
          </a:xfrm>
          <a:prstGeom prst="roundRect">
            <a:avLst>
              <a:gd name="adj" fmla="val 18182"/>
            </a:avLst>
          </a:prstGeom>
          <a:solidFill>
            <a:srgbClr val="F0555F"/>
          </a:solidFill>
          <a:ln/>
        </p:spPr>
      </p:sp>
      <p:sp>
        <p:nvSpPr>
          <p:cNvPr id="21" name="Text 17"/>
          <p:cNvSpPr/>
          <p:nvPr/>
        </p:nvSpPr>
        <p:spPr>
          <a:xfrm>
            <a:off x="868680" y="4206240"/>
            <a:ext cx="6309360" cy="274320"/>
          </a:xfrm>
          <a:prstGeom prst="rect">
            <a:avLst/>
          </a:prstGeom>
          <a:noFill/>
          <a:ln/>
        </p:spPr>
        <p:txBody>
          <a:bodyPr wrap="square" lIns="0" tIns="0" rIns="0" bIns="0" rtlCol="0" anchor="ctr"/>
          <a:lstStyle/>
          <a:p>
            <a:pPr indent="0" marL="0">
              <a:buNone/>
            </a:pPr>
            <a:r>
              <a:rPr lang="en-US" sz="1350" b="1" dirty="0">
                <a:solidFill>
                  <a:srgbClr val="F1F4F7"/>
                </a:solidFill>
                <a:latin typeface="Arial" pitchFamily="34" charset="0"/>
                <a:ea typeface="Arial" pitchFamily="34" charset="-122"/>
                <a:cs typeface="Arial" pitchFamily="34" charset="-120"/>
              </a:rPr>
              <a:t>Downchit but tasked</a:t>
            </a:r>
            <a:endParaRPr lang="en-US" sz="1350" dirty="0"/>
          </a:p>
        </p:txBody>
      </p:sp>
      <p:sp>
        <p:nvSpPr>
          <p:cNvPr id="22" name="Text 18"/>
          <p:cNvSpPr/>
          <p:nvPr/>
        </p:nvSpPr>
        <p:spPr>
          <a:xfrm>
            <a:off x="868680" y="4498848"/>
            <a:ext cx="6492240" cy="310896"/>
          </a:xfrm>
          <a:prstGeom prst="rect">
            <a:avLst/>
          </a:prstGeom>
          <a:noFill/>
          <a:ln/>
        </p:spPr>
        <p:txBody>
          <a:bodyPr wrap="square" lIns="0" tIns="0" rIns="0" bIns="0" rtlCol="0" anchor="ctr"/>
          <a:lstStyle/>
          <a:p>
            <a:pPr indent="0" marL="0">
              <a:buNone/>
            </a:pPr>
            <a:r>
              <a:rPr lang="en-US" sz="1100" dirty="0">
                <a:solidFill>
                  <a:srgbClr val="B6C0CB"/>
                </a:solidFill>
                <a:latin typeface="Calibri" pitchFamily="34" charset="0"/>
                <a:ea typeface="Calibri" pitchFamily="34" charset="-122"/>
                <a:cs typeface="Calibri" pitchFamily="34" charset="-120"/>
              </a:rPr>
              <a:t>Someone medically down still on a flying line — flagged with the reason and dates.</a:t>
            </a:r>
            <a:endParaRPr lang="en-US" sz="1100" dirty="0"/>
          </a:p>
        </p:txBody>
      </p:sp>
      <p:sp>
        <p:nvSpPr>
          <p:cNvPr id="23" name="Shape 19"/>
          <p:cNvSpPr/>
          <p:nvPr/>
        </p:nvSpPr>
        <p:spPr>
          <a:xfrm>
            <a:off x="640080" y="4937760"/>
            <a:ext cx="6903720" cy="749808"/>
          </a:xfrm>
          <a:prstGeom prst="roundRect">
            <a:avLst>
              <a:gd name="adj" fmla="val 8537"/>
            </a:avLst>
          </a:prstGeom>
          <a:solidFill>
            <a:srgbClr val="14181D"/>
          </a:solidFill>
          <a:ln w="12700">
            <a:solidFill>
              <a:srgbClr val="2A313A"/>
            </a:solidFill>
            <a:prstDash val="solid"/>
          </a:ln>
        </p:spPr>
      </p:sp>
      <p:sp>
        <p:nvSpPr>
          <p:cNvPr id="24" name="Shape 20"/>
          <p:cNvSpPr/>
          <p:nvPr/>
        </p:nvSpPr>
        <p:spPr>
          <a:xfrm>
            <a:off x="640080" y="4937760"/>
            <a:ext cx="100584" cy="749808"/>
          </a:xfrm>
          <a:prstGeom prst="roundRect">
            <a:avLst>
              <a:gd name="adj" fmla="val 18182"/>
            </a:avLst>
          </a:prstGeom>
          <a:solidFill>
            <a:srgbClr val="E5A83B"/>
          </a:solidFill>
          <a:ln/>
        </p:spPr>
      </p:sp>
      <p:sp>
        <p:nvSpPr>
          <p:cNvPr id="25" name="Text 21"/>
          <p:cNvSpPr/>
          <p:nvPr/>
        </p:nvSpPr>
        <p:spPr>
          <a:xfrm>
            <a:off x="868680" y="5029200"/>
            <a:ext cx="6309360" cy="274320"/>
          </a:xfrm>
          <a:prstGeom prst="rect">
            <a:avLst/>
          </a:prstGeom>
          <a:noFill/>
          <a:ln/>
        </p:spPr>
        <p:txBody>
          <a:bodyPr wrap="square" lIns="0" tIns="0" rIns="0" bIns="0" rtlCol="0" anchor="ctr"/>
          <a:lstStyle/>
          <a:p>
            <a:pPr indent="0" marL="0">
              <a:buNone/>
            </a:pPr>
            <a:r>
              <a:rPr lang="en-US" sz="1350" b="1" dirty="0">
                <a:solidFill>
                  <a:srgbClr val="F1F4F7"/>
                </a:solidFill>
                <a:latin typeface="Arial" pitchFamily="34" charset="0"/>
                <a:ea typeface="Arial" pitchFamily="34" charset="-122"/>
                <a:cs typeface="Arial" pitchFamily="34" charset="-120"/>
              </a:rPr>
              <a:t>No time for the brief</a:t>
            </a:r>
            <a:endParaRPr lang="en-US" sz="1350" dirty="0"/>
          </a:p>
        </p:txBody>
      </p:sp>
      <p:sp>
        <p:nvSpPr>
          <p:cNvPr id="26" name="Text 22"/>
          <p:cNvSpPr/>
          <p:nvPr/>
        </p:nvSpPr>
        <p:spPr>
          <a:xfrm>
            <a:off x="868680" y="5321808"/>
            <a:ext cx="6492240" cy="310896"/>
          </a:xfrm>
          <a:prstGeom prst="rect">
            <a:avLst/>
          </a:prstGeom>
          <a:noFill/>
          <a:ln/>
        </p:spPr>
        <p:txBody>
          <a:bodyPr wrap="square" lIns="0" tIns="0" rIns="0" bIns="0" rtlCol="0" anchor="ctr"/>
          <a:lstStyle/>
          <a:p>
            <a:pPr indent="0" marL="0">
              <a:buNone/>
            </a:pPr>
            <a:r>
              <a:rPr lang="en-US" sz="1100" dirty="0">
                <a:solidFill>
                  <a:srgbClr val="B6C0CB"/>
                </a:solidFill>
                <a:latin typeface="Calibri" pitchFamily="34" charset="0"/>
                <a:ea typeface="Calibri" pitchFamily="34" charset="-122"/>
                <a:cs typeface="Calibri" pitchFamily="34" charset="-120"/>
              </a:rPr>
              <a:t>A meeting or sim sits inside the flight's brief window — the brief can't happen.</a:t>
            </a:r>
            <a:endParaRPr lang="en-US" sz="1100" dirty="0"/>
          </a:p>
        </p:txBody>
      </p:sp>
      <p:sp>
        <p:nvSpPr>
          <p:cNvPr id="27" name="Shape 23"/>
          <p:cNvSpPr/>
          <p:nvPr/>
        </p:nvSpPr>
        <p:spPr>
          <a:xfrm>
            <a:off x="640080" y="5760720"/>
            <a:ext cx="6903720" cy="749808"/>
          </a:xfrm>
          <a:prstGeom prst="roundRect">
            <a:avLst>
              <a:gd name="adj" fmla="val 8537"/>
            </a:avLst>
          </a:prstGeom>
          <a:solidFill>
            <a:srgbClr val="14181D"/>
          </a:solidFill>
          <a:ln w="12700">
            <a:solidFill>
              <a:srgbClr val="2A313A"/>
            </a:solidFill>
            <a:prstDash val="solid"/>
          </a:ln>
        </p:spPr>
      </p:sp>
      <p:sp>
        <p:nvSpPr>
          <p:cNvPr id="28" name="Shape 24"/>
          <p:cNvSpPr/>
          <p:nvPr/>
        </p:nvSpPr>
        <p:spPr>
          <a:xfrm>
            <a:off x="640080" y="5760720"/>
            <a:ext cx="100584" cy="749808"/>
          </a:xfrm>
          <a:prstGeom prst="roundRect">
            <a:avLst>
              <a:gd name="adj" fmla="val 18182"/>
            </a:avLst>
          </a:prstGeom>
          <a:solidFill>
            <a:srgbClr val="E5A83B"/>
          </a:solidFill>
          <a:ln/>
        </p:spPr>
      </p:sp>
      <p:sp>
        <p:nvSpPr>
          <p:cNvPr id="29" name="Text 25"/>
          <p:cNvSpPr/>
          <p:nvPr/>
        </p:nvSpPr>
        <p:spPr>
          <a:xfrm>
            <a:off x="868680" y="5852160"/>
            <a:ext cx="6309360" cy="274320"/>
          </a:xfrm>
          <a:prstGeom prst="rect">
            <a:avLst/>
          </a:prstGeom>
          <a:noFill/>
          <a:ln/>
        </p:spPr>
        <p:txBody>
          <a:bodyPr wrap="square" lIns="0" tIns="0" rIns="0" bIns="0" rtlCol="0" anchor="ctr"/>
          <a:lstStyle/>
          <a:p>
            <a:pPr indent="0" marL="0">
              <a:buNone/>
            </a:pPr>
            <a:r>
              <a:rPr lang="en-US" sz="1350" b="1" dirty="0">
                <a:solidFill>
                  <a:srgbClr val="F1F4F7"/>
                </a:solidFill>
                <a:latin typeface="Arial" pitchFamily="34" charset="0"/>
                <a:ea typeface="Arial" pitchFamily="34" charset="-122"/>
                <a:cs typeface="Arial" pitchFamily="34" charset="-120"/>
              </a:rPr>
              <a:t>Qualification / currency</a:t>
            </a:r>
            <a:endParaRPr lang="en-US" sz="1350" dirty="0"/>
          </a:p>
        </p:txBody>
      </p:sp>
      <p:sp>
        <p:nvSpPr>
          <p:cNvPr id="30" name="Text 26"/>
          <p:cNvSpPr/>
          <p:nvPr/>
        </p:nvSpPr>
        <p:spPr>
          <a:xfrm>
            <a:off x="868680" y="6144768"/>
            <a:ext cx="6492240" cy="310896"/>
          </a:xfrm>
          <a:prstGeom prst="rect">
            <a:avLst/>
          </a:prstGeom>
          <a:noFill/>
          <a:ln/>
        </p:spPr>
        <p:txBody>
          <a:bodyPr wrap="square" lIns="0" tIns="0" rIns="0" bIns="0" rtlCol="0" anchor="ctr"/>
          <a:lstStyle/>
          <a:p>
            <a:pPr indent="0" marL="0">
              <a:buNone/>
            </a:pPr>
            <a:r>
              <a:rPr lang="en-US" sz="1100" dirty="0">
                <a:solidFill>
                  <a:srgbClr val="B6C0CB"/>
                </a:solidFill>
                <a:latin typeface="Calibri" pitchFamily="34" charset="0"/>
                <a:ea typeface="Calibri" pitchFamily="34" charset="-122"/>
                <a:cs typeface="Calibri" pitchFamily="34" charset="-120"/>
              </a:rPr>
              <a:t>Not qualified or out of currency for the line they've been put on.</a:t>
            </a:r>
            <a:endParaRPr lang="en-US" sz="1100" dirty="0"/>
          </a:p>
        </p:txBody>
      </p:sp>
      <p:sp>
        <p:nvSpPr>
          <p:cNvPr id="31" name="Text 27"/>
          <p:cNvSpPr/>
          <p:nvPr/>
        </p:nvSpPr>
        <p:spPr>
          <a:xfrm>
            <a:off x="640080" y="6601968"/>
            <a:ext cx="6858000" cy="320040"/>
          </a:xfrm>
          <a:prstGeom prst="rect">
            <a:avLst/>
          </a:prstGeom>
          <a:noFill/>
          <a:ln/>
        </p:spPr>
        <p:txBody>
          <a:bodyPr wrap="square" lIns="0" tIns="0" rIns="0" bIns="0" rtlCol="0" anchor="ctr"/>
          <a:lstStyle/>
          <a:p>
            <a:pPr indent="0" marL="0">
              <a:buNone/>
            </a:pPr>
            <a:r>
              <a:rPr lang="en-US" sz="1150" i="1" dirty="0">
                <a:solidFill>
                  <a:srgbClr val="3BC6E8"/>
                </a:solidFill>
                <a:latin typeface="Calibri" pitchFamily="34" charset="0"/>
                <a:ea typeface="Calibri" pitchFamily="34" charset="-122"/>
                <a:cs typeface="Calibri" pitchFamily="34" charset="-120"/>
              </a:rPr>
              <a:t>A soft bar: it warns clearly and grades severity, but the planner stays in command.</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65000"/>
          </a:blip>
          <a:stretch>
            <a:fillRect/>
          </a:stretch>
        </p:blipFill>
        <p:spPr>
          <a:xfrm>
            <a:off x="11137392" y="384048"/>
            <a:ext cx="548640" cy="548640"/>
          </a:xfrm>
          <a:prstGeom prst="rect">
            <a:avLst/>
          </a:prstGeom>
        </p:spPr>
      </p:pic>
      <p:pic>
        <p:nvPicPr>
          <p:cNvPr id="3" name="Image 1" descr="preencoded.png">    </p:cNvPr>
          <p:cNvPicPr>
            <a:picLocks noChangeAspect="1"/>
          </p:cNvPicPr>
          <p:nvPr/>
        </p:nvPicPr>
        <p:blipFill>
          <a:blip r:embed="rId2">
            <a:alphaModFix amt="80000"/>
          </a:blip>
          <a:stretch>
            <a:fillRect/>
          </a:stretch>
        </p:blipFill>
        <p:spPr>
          <a:xfrm>
            <a:off x="640080" y="6291072"/>
            <a:ext cx="219456" cy="219456"/>
          </a:xfrm>
          <a:prstGeom prst="rect">
            <a:avLst/>
          </a:prstGeom>
        </p:spPr>
      </p:pic>
      <p:sp>
        <p:nvSpPr>
          <p:cNvPr id="4" name="Text 0"/>
          <p:cNvSpPr/>
          <p:nvPr/>
        </p:nvSpPr>
        <p:spPr>
          <a:xfrm>
            <a:off x="914400" y="6309360"/>
            <a:ext cx="2743200" cy="219456"/>
          </a:xfrm>
          <a:prstGeom prst="rect">
            <a:avLst/>
          </a:prstGeom>
          <a:noFill/>
          <a:ln/>
        </p:spPr>
        <p:txBody>
          <a:bodyPr wrap="square" lIns="0" tIns="0" rIns="0" bIns="0" rtlCol="0" anchor="ctr"/>
          <a:lstStyle/>
          <a:p>
            <a:pPr indent="0" marL="0">
              <a:buNone/>
            </a:pPr>
            <a:r>
              <a:rPr lang="en-US" sz="900" b="1" spc="200" kern="0" dirty="0">
                <a:solidFill>
                  <a:srgbClr val="8A96A3"/>
                </a:solidFill>
                <a:latin typeface="Arial" pitchFamily="34" charset="0"/>
                <a:ea typeface="Arial" pitchFamily="34" charset="-122"/>
                <a:cs typeface="Arial" pitchFamily="34" charset="-120"/>
              </a:rPr>
              <a:t>RAPTOR</a:t>
            </a:r>
            <a:endParaRPr lang="en-US" sz="900" dirty="0"/>
          </a:p>
        </p:txBody>
      </p:sp>
      <p:sp>
        <p:nvSpPr>
          <p:cNvPr id="5" name="Text 1"/>
          <p:cNvSpPr/>
          <p:nvPr/>
        </p:nvSpPr>
        <p:spPr>
          <a:xfrm>
            <a:off x="11228832" y="6309360"/>
            <a:ext cx="457200" cy="219456"/>
          </a:xfrm>
          <a:prstGeom prst="rect">
            <a:avLst/>
          </a:prstGeom>
          <a:noFill/>
          <a:ln/>
        </p:spPr>
        <p:txBody>
          <a:bodyPr wrap="square" lIns="0" tIns="0" rIns="0" bIns="0" rtlCol="0" anchor="ctr"/>
          <a:lstStyle/>
          <a:p>
            <a:pPr algn="r" indent="0" marL="0">
              <a:buNone/>
            </a:pPr>
            <a:r>
              <a:rPr lang="en-US" sz="900" dirty="0">
                <a:solidFill>
                  <a:srgbClr val="8A96A3"/>
                </a:solidFill>
                <a:latin typeface="Arial" pitchFamily="34" charset="0"/>
                <a:ea typeface="Arial" pitchFamily="34" charset="-122"/>
                <a:cs typeface="Arial" pitchFamily="34" charset="-120"/>
              </a:rPr>
              <a:t>04</a:t>
            </a:r>
            <a:endParaRPr lang="en-US" sz="900" dirty="0"/>
          </a:p>
        </p:txBody>
      </p:sp>
      <p:sp>
        <p:nvSpPr>
          <p:cNvPr id="6" name="Text 2"/>
          <p:cNvSpPr/>
          <p:nvPr/>
        </p:nvSpPr>
        <p:spPr>
          <a:xfrm>
            <a:off x="640080" y="512064"/>
            <a:ext cx="9144000" cy="274320"/>
          </a:xfrm>
          <a:prstGeom prst="rect">
            <a:avLst/>
          </a:prstGeom>
          <a:noFill/>
          <a:ln/>
        </p:spPr>
        <p:txBody>
          <a:bodyPr wrap="square" lIns="0" tIns="0" rIns="0" bIns="0" rtlCol="0" anchor="ctr"/>
          <a:lstStyle/>
          <a:p>
            <a:pPr indent="0" marL="0">
              <a:buNone/>
            </a:pPr>
            <a:r>
              <a:rPr lang="en-US" sz="1200" b="1" spc="300" kern="0" dirty="0">
                <a:solidFill>
                  <a:srgbClr val="3BC6E8"/>
                </a:solidFill>
                <a:latin typeface="Arial" pitchFamily="34" charset="0"/>
                <a:ea typeface="Arial" pitchFamily="34" charset="-122"/>
                <a:cs typeface="Arial" pitchFamily="34" charset="-120"/>
              </a:rPr>
              <a:t>YOUR WINGMAN · 2</a:t>
            </a:r>
            <a:endParaRPr lang="en-US" sz="1200" dirty="0"/>
          </a:p>
        </p:txBody>
      </p:sp>
      <p:sp>
        <p:nvSpPr>
          <p:cNvPr id="7" name="Text 3"/>
          <p:cNvSpPr/>
          <p:nvPr/>
        </p:nvSpPr>
        <p:spPr>
          <a:xfrm>
            <a:off x="640080" y="822960"/>
            <a:ext cx="10607040" cy="822960"/>
          </a:xfrm>
          <a:prstGeom prst="rect">
            <a:avLst/>
          </a:prstGeom>
          <a:noFill/>
          <a:ln/>
        </p:spPr>
        <p:txBody>
          <a:bodyPr wrap="square" lIns="0" tIns="0" rIns="0" bIns="0" rtlCol="0" anchor="ctr"/>
          <a:lstStyle/>
          <a:p>
            <a:pPr indent="0" marL="0">
              <a:buNone/>
            </a:pPr>
            <a:r>
              <a:rPr lang="en-US" sz="3300" b="1" dirty="0">
                <a:solidFill>
                  <a:srgbClr val="F1F4F7"/>
                </a:solidFill>
                <a:latin typeface="Arial" pitchFamily="34" charset="0"/>
                <a:ea typeface="Arial" pitchFamily="34" charset="-122"/>
                <a:cs typeface="Arial" pitchFamily="34" charset="-120"/>
              </a:rPr>
              <a:t>It shows you exactly who can fly the line</a:t>
            </a:r>
            <a:endParaRPr lang="en-US" sz="3300" dirty="0"/>
          </a:p>
        </p:txBody>
      </p:sp>
      <p:sp>
        <p:nvSpPr>
          <p:cNvPr id="8" name="Text 4"/>
          <p:cNvSpPr/>
          <p:nvPr/>
        </p:nvSpPr>
        <p:spPr>
          <a:xfrm>
            <a:off x="640080" y="1572768"/>
            <a:ext cx="10881360" cy="365760"/>
          </a:xfrm>
          <a:prstGeom prst="rect">
            <a:avLst/>
          </a:prstGeom>
          <a:noFill/>
          <a:ln/>
        </p:spPr>
        <p:txBody>
          <a:bodyPr wrap="square" lIns="0" tIns="0" rIns="0" bIns="0" rtlCol="0" anchor="ctr"/>
          <a:lstStyle/>
          <a:p>
            <a:pPr indent="0" marL="0">
              <a:buNone/>
            </a:pPr>
            <a:r>
              <a:rPr lang="en-US" sz="1400" dirty="0">
                <a:solidFill>
                  <a:srgbClr val="B6C0CB"/>
                </a:solidFill>
                <a:latin typeface="Calibri" pitchFamily="34" charset="0"/>
                <a:ea typeface="Calibri" pitchFamily="34" charset="-122"/>
                <a:cs typeface="Calibri" pitchFamily="34" charset="-120"/>
              </a:rPr>
              <a:t>Reach for a crew and RAPTOR has already done the thinking — who's qualified, who's rested, who's free.</a:t>
            </a:r>
            <a:endParaRPr lang="en-US" sz="1400" dirty="0"/>
          </a:p>
        </p:txBody>
      </p:sp>
      <p:sp>
        <p:nvSpPr>
          <p:cNvPr id="9" name="Shape 5"/>
          <p:cNvSpPr/>
          <p:nvPr/>
        </p:nvSpPr>
        <p:spPr>
          <a:xfrm>
            <a:off x="612648" y="2075688"/>
            <a:ext cx="6912864" cy="4398264"/>
          </a:xfrm>
          <a:prstGeom prst="roundRect">
            <a:avLst>
              <a:gd name="adj" fmla="val 2079"/>
            </a:avLst>
          </a:prstGeom>
          <a:solidFill>
            <a:srgbClr val="000000"/>
          </a:solidFill>
          <a:ln/>
          <a:effectLst>
            <a:outerShdw sx="100000" sy="100000" kx="0" ky="0" algn="bl" rotWithShape="0" blurRad="177800" dist="63500" dir="5400000">
              <a:srgbClr val="000000">
                <a:alpha val="55000"/>
              </a:srgbClr>
            </a:outerShdw>
          </a:effectLst>
        </p:spPr>
      </p:sp>
      <p:sp>
        <p:nvSpPr>
          <p:cNvPr id="10" name="Shape 6"/>
          <p:cNvSpPr/>
          <p:nvPr/>
        </p:nvSpPr>
        <p:spPr>
          <a:xfrm>
            <a:off x="640080" y="2103120"/>
            <a:ext cx="6858000" cy="4343400"/>
          </a:xfrm>
          <a:prstGeom prst="roundRect">
            <a:avLst>
              <a:gd name="adj" fmla="val 1895"/>
            </a:avLst>
          </a:prstGeom>
          <a:solidFill>
            <a:srgbClr val="0E1116"/>
          </a:solidFill>
          <a:ln w="12700">
            <a:solidFill>
              <a:srgbClr val="3BD07A"/>
            </a:solidFill>
            <a:prstDash val="solid"/>
          </a:ln>
        </p:spPr>
      </p:sp>
      <p:pic>
        <p:nvPicPr>
          <p:cNvPr id="11" name="Image 2" descr="preencoded.png">    </p:cNvPr>
          <p:cNvPicPr>
            <a:picLocks noChangeAspect="1"/>
          </p:cNvPicPr>
          <p:nvPr/>
        </p:nvPicPr>
        <p:blipFill>
          <a:blip r:embed="rId3"/>
          <a:stretch>
            <a:fillRect/>
          </a:stretch>
        </p:blipFill>
        <p:spPr>
          <a:xfrm>
            <a:off x="725781" y="2157984"/>
            <a:ext cx="6686598" cy="4233672"/>
          </a:xfrm>
          <a:prstGeom prst="rect">
            <a:avLst/>
          </a:prstGeom>
        </p:spPr>
      </p:pic>
      <p:sp>
        <p:nvSpPr>
          <p:cNvPr id="12" name="Shape 7"/>
          <p:cNvSpPr/>
          <p:nvPr/>
        </p:nvSpPr>
        <p:spPr>
          <a:xfrm>
            <a:off x="7772400" y="2295144"/>
            <a:ext cx="146304" cy="146304"/>
          </a:xfrm>
          <a:prstGeom prst="ellipse">
            <a:avLst/>
          </a:prstGeom>
          <a:solidFill>
            <a:srgbClr val="3BC6E8"/>
          </a:solidFill>
          <a:ln/>
        </p:spPr>
      </p:sp>
      <p:sp>
        <p:nvSpPr>
          <p:cNvPr id="13" name="Text 8"/>
          <p:cNvSpPr/>
          <p:nvPr/>
        </p:nvSpPr>
        <p:spPr>
          <a:xfrm>
            <a:off x="8046720" y="2194560"/>
            <a:ext cx="3474720" cy="457200"/>
          </a:xfrm>
          <a:prstGeom prst="rect">
            <a:avLst/>
          </a:prstGeom>
          <a:noFill/>
          <a:ln/>
        </p:spPr>
        <p:txBody>
          <a:bodyPr wrap="square" lIns="0" tIns="0" rIns="0" bIns="0" rtlCol="0" anchor="t"/>
          <a:lstStyle/>
          <a:p>
            <a:pPr indent="0" marL="0">
              <a:lnSpc>
                <a:spcPct val="102000"/>
              </a:lnSpc>
              <a:buNone/>
            </a:pPr>
            <a:r>
              <a:rPr lang="en-US" sz="1250" b="1" dirty="0">
                <a:solidFill>
                  <a:srgbClr val="F1F4F7"/>
                </a:solidFill>
                <a:latin typeface="Calibri" pitchFamily="34" charset="0"/>
                <a:ea typeface="Calibri" pitchFamily="34" charset="-122"/>
                <a:cs typeface="Calibri" pitchFamily="34" charset="-120"/>
              </a:rPr>
              <a:t>Available-crew placeholders  </a:t>
            </a:r>
            <a:pPr indent="0" marL="0">
              <a:lnSpc>
                <a:spcPct val="102000"/>
              </a:lnSpc>
              <a:buNone/>
            </a:pPr>
            <a:r>
              <a:rPr lang="en-US" sz="1250" dirty="0">
                <a:solidFill>
                  <a:srgbClr val="B6C0CB"/>
                </a:solidFill>
                <a:latin typeface="Calibri" pitchFamily="34" charset="0"/>
                <a:ea typeface="Calibri" pitchFamily="34" charset="-122"/>
                <a:cs typeface="Calibri" pitchFamily="34" charset="-120"/>
              </a:rPr>
              <a:t>The palette lists who is free right now — pilots, WSOs and personnel — and strikes out anyone already committed.</a:t>
            </a:r>
            <a:endParaRPr lang="en-US" sz="1250" dirty="0"/>
          </a:p>
        </p:txBody>
      </p:sp>
      <p:sp>
        <p:nvSpPr>
          <p:cNvPr id="14" name="Shape 9"/>
          <p:cNvSpPr/>
          <p:nvPr/>
        </p:nvSpPr>
        <p:spPr>
          <a:xfrm>
            <a:off x="7772400" y="3300984"/>
            <a:ext cx="146304" cy="146304"/>
          </a:xfrm>
          <a:prstGeom prst="ellipse">
            <a:avLst/>
          </a:prstGeom>
          <a:solidFill>
            <a:srgbClr val="3BD07A"/>
          </a:solidFill>
          <a:ln/>
        </p:spPr>
      </p:sp>
      <p:sp>
        <p:nvSpPr>
          <p:cNvPr id="15" name="Text 10"/>
          <p:cNvSpPr/>
          <p:nvPr/>
        </p:nvSpPr>
        <p:spPr>
          <a:xfrm>
            <a:off x="8046720" y="3200400"/>
            <a:ext cx="3474720" cy="457200"/>
          </a:xfrm>
          <a:prstGeom prst="rect">
            <a:avLst/>
          </a:prstGeom>
          <a:noFill/>
          <a:ln/>
        </p:spPr>
        <p:txBody>
          <a:bodyPr wrap="square" lIns="0" tIns="0" rIns="0" bIns="0" rtlCol="0" anchor="t"/>
          <a:lstStyle/>
          <a:p>
            <a:pPr indent="0" marL="0">
              <a:lnSpc>
                <a:spcPct val="102000"/>
              </a:lnSpc>
              <a:buNone/>
            </a:pPr>
            <a:r>
              <a:rPr lang="en-US" sz="1250" b="1" dirty="0">
                <a:solidFill>
                  <a:srgbClr val="F1F4F7"/>
                </a:solidFill>
                <a:latin typeface="Calibri" pitchFamily="34" charset="0"/>
                <a:ea typeface="Calibri" pitchFamily="34" charset="-122"/>
                <a:cs typeface="Calibri" pitchFamily="34" charset="-120"/>
              </a:rPr>
              <a:t>Click a crew → green shows where  </a:t>
            </a:r>
            <a:pPr indent="0" marL="0">
              <a:lnSpc>
                <a:spcPct val="102000"/>
              </a:lnSpc>
              <a:buNone/>
            </a:pPr>
            <a:r>
              <a:rPr lang="en-US" sz="1250" dirty="0">
                <a:solidFill>
                  <a:srgbClr val="B6C0CB"/>
                </a:solidFill>
                <a:latin typeface="Calibri" pitchFamily="34" charset="0"/>
                <a:ea typeface="Calibri" pitchFamily="34" charset="-122"/>
                <a:cs typeface="Calibri" pitchFamily="34" charset="-120"/>
              </a:rPr>
              <a:t>Select someone and every slot they can legally fill lights up green. No guesswork.</a:t>
            </a:r>
            <a:endParaRPr lang="en-US" sz="1250" dirty="0"/>
          </a:p>
        </p:txBody>
      </p:sp>
      <p:sp>
        <p:nvSpPr>
          <p:cNvPr id="16" name="Shape 11"/>
          <p:cNvSpPr/>
          <p:nvPr/>
        </p:nvSpPr>
        <p:spPr>
          <a:xfrm>
            <a:off x="7772400" y="4306824"/>
            <a:ext cx="146304" cy="146304"/>
          </a:xfrm>
          <a:prstGeom prst="ellipse">
            <a:avLst/>
          </a:prstGeom>
          <a:solidFill>
            <a:srgbClr val="E5A83B"/>
          </a:solidFill>
          <a:ln/>
        </p:spPr>
      </p:sp>
      <p:sp>
        <p:nvSpPr>
          <p:cNvPr id="17" name="Text 12"/>
          <p:cNvSpPr/>
          <p:nvPr/>
        </p:nvSpPr>
        <p:spPr>
          <a:xfrm>
            <a:off x="8046720" y="4206240"/>
            <a:ext cx="3474720" cy="457200"/>
          </a:xfrm>
          <a:prstGeom prst="rect">
            <a:avLst/>
          </a:prstGeom>
          <a:noFill/>
          <a:ln/>
        </p:spPr>
        <p:txBody>
          <a:bodyPr wrap="square" lIns="0" tIns="0" rIns="0" bIns="0" rtlCol="0" anchor="t"/>
          <a:lstStyle/>
          <a:p>
            <a:pPr indent="0" marL="0">
              <a:lnSpc>
                <a:spcPct val="102000"/>
              </a:lnSpc>
              <a:buNone/>
            </a:pPr>
            <a:r>
              <a:rPr lang="en-US" sz="1250" b="1" dirty="0">
                <a:solidFill>
                  <a:srgbClr val="F1F4F7"/>
                </a:solidFill>
                <a:latin typeface="Calibri" pitchFamily="34" charset="0"/>
                <a:ea typeface="Calibri" pitchFamily="34" charset="-122"/>
                <a:cs typeface="Calibri" pitchFamily="34" charset="-120"/>
              </a:rPr>
              <a:t>Read them across the whole week  </a:t>
            </a:r>
            <a:pPr indent="0" marL="0">
              <a:lnSpc>
                <a:spcPct val="102000"/>
              </a:lnSpc>
              <a:buNone/>
            </a:pPr>
            <a:r>
              <a:rPr lang="en-US" sz="1250" dirty="0">
                <a:solidFill>
                  <a:srgbClr val="B6C0CB"/>
                </a:solidFill>
                <a:latin typeface="Calibri" pitchFamily="34" charset="0"/>
                <a:ea typeface="Calibri" pitchFamily="34" charset="-122"/>
                <a:cs typeface="Calibri" pitchFamily="34" charset="-120"/>
              </a:rPr>
              <a:t>Tap a puck and that person is highlighted on every day — trace where they are all week at a glance.</a:t>
            </a:r>
            <a:endParaRPr lang="en-US" sz="1250" dirty="0"/>
          </a:p>
        </p:txBody>
      </p:sp>
      <p:sp>
        <p:nvSpPr>
          <p:cNvPr id="18" name="Shape 13"/>
          <p:cNvSpPr/>
          <p:nvPr/>
        </p:nvSpPr>
        <p:spPr>
          <a:xfrm>
            <a:off x="7772400" y="5349240"/>
            <a:ext cx="3749040" cy="1051560"/>
          </a:xfrm>
          <a:prstGeom prst="roundRect">
            <a:avLst>
              <a:gd name="adj" fmla="val 8696"/>
            </a:avLst>
          </a:prstGeom>
          <a:solidFill>
            <a:srgbClr val="1A1F26"/>
          </a:solidFill>
          <a:ln w="12700">
            <a:solidFill>
              <a:srgbClr val="3BD07A"/>
            </a:solidFill>
            <a:prstDash val="solid"/>
          </a:ln>
        </p:spPr>
      </p:sp>
      <p:sp>
        <p:nvSpPr>
          <p:cNvPr id="19" name="Text 14"/>
          <p:cNvSpPr/>
          <p:nvPr/>
        </p:nvSpPr>
        <p:spPr>
          <a:xfrm>
            <a:off x="7973568" y="5440680"/>
            <a:ext cx="3346704" cy="868680"/>
          </a:xfrm>
          <a:prstGeom prst="rect">
            <a:avLst/>
          </a:prstGeom>
          <a:noFill/>
          <a:ln/>
        </p:spPr>
        <p:txBody>
          <a:bodyPr wrap="square" lIns="0" tIns="0" rIns="0" bIns="0" rtlCol="0" anchor="ctr"/>
          <a:lstStyle/>
          <a:p>
            <a:pPr indent="0" marL="0">
              <a:buNone/>
            </a:pPr>
            <a:r>
              <a:rPr lang="en-US" sz="1200" b="1" dirty="0">
                <a:solidFill>
                  <a:srgbClr val="F1F4F7"/>
                </a:solidFill>
                <a:latin typeface="Calibri" pitchFamily="34" charset="0"/>
                <a:ea typeface="Calibri" pitchFamily="34" charset="-122"/>
                <a:cs typeface="Calibri" pitchFamily="34" charset="-120"/>
              </a:rPr>
              <a:t>Qualified · rested · conflict-free.  </a:t>
            </a:r>
            <a:pPr indent="0" marL="0">
              <a:buNone/>
            </a:pPr>
            <a:r>
              <a:rPr lang="en-US" sz="1200" dirty="0">
                <a:solidFill>
                  <a:srgbClr val="B6C0CB"/>
                </a:solidFill>
                <a:latin typeface="Calibri" pitchFamily="34" charset="0"/>
                <a:ea typeface="Calibri" pitchFamily="34" charset="-122"/>
                <a:cs typeface="Calibri" pitchFamily="34" charset="-120"/>
              </a:rPr>
              <a:t>If a placement still breaks a rule, it's flagged right on the puck.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80000"/>
          </a:blip>
          <a:stretch>
            <a:fillRect/>
          </a:stretch>
        </p:blipFill>
        <p:spPr>
          <a:xfrm>
            <a:off x="640080" y="6291072"/>
            <a:ext cx="219456" cy="219456"/>
          </a:xfrm>
          <a:prstGeom prst="rect">
            <a:avLst/>
          </a:prstGeom>
        </p:spPr>
      </p:pic>
      <p:sp>
        <p:nvSpPr>
          <p:cNvPr id="3" name="Text 0"/>
          <p:cNvSpPr/>
          <p:nvPr/>
        </p:nvSpPr>
        <p:spPr>
          <a:xfrm>
            <a:off x="914400" y="6309360"/>
            <a:ext cx="2743200" cy="219456"/>
          </a:xfrm>
          <a:prstGeom prst="rect">
            <a:avLst/>
          </a:prstGeom>
          <a:noFill/>
          <a:ln/>
        </p:spPr>
        <p:txBody>
          <a:bodyPr wrap="square" lIns="0" tIns="0" rIns="0" bIns="0" rtlCol="0" anchor="ctr"/>
          <a:lstStyle/>
          <a:p>
            <a:pPr indent="0" marL="0">
              <a:buNone/>
            </a:pPr>
            <a:r>
              <a:rPr lang="en-US" sz="900" b="1" spc="200" kern="0" dirty="0">
                <a:solidFill>
                  <a:srgbClr val="8A96A3"/>
                </a:solidFill>
                <a:latin typeface="Arial" pitchFamily="34" charset="0"/>
                <a:ea typeface="Arial" pitchFamily="34" charset="-122"/>
                <a:cs typeface="Arial" pitchFamily="34" charset="-120"/>
              </a:rPr>
              <a:t>RAPTOR</a:t>
            </a:r>
            <a:endParaRPr lang="en-US" sz="900" dirty="0"/>
          </a:p>
        </p:txBody>
      </p:sp>
      <p:sp>
        <p:nvSpPr>
          <p:cNvPr id="4" name="Text 1"/>
          <p:cNvSpPr/>
          <p:nvPr/>
        </p:nvSpPr>
        <p:spPr>
          <a:xfrm>
            <a:off x="11228832" y="6309360"/>
            <a:ext cx="457200" cy="219456"/>
          </a:xfrm>
          <a:prstGeom prst="rect">
            <a:avLst/>
          </a:prstGeom>
          <a:noFill/>
          <a:ln/>
        </p:spPr>
        <p:txBody>
          <a:bodyPr wrap="square" lIns="0" tIns="0" rIns="0" bIns="0" rtlCol="0" anchor="ctr"/>
          <a:lstStyle/>
          <a:p>
            <a:pPr algn="r" indent="0" marL="0">
              <a:buNone/>
            </a:pPr>
            <a:r>
              <a:rPr lang="en-US" sz="900" dirty="0">
                <a:solidFill>
                  <a:srgbClr val="8A96A3"/>
                </a:solidFill>
                <a:latin typeface="Arial" pitchFamily="34" charset="0"/>
                <a:ea typeface="Arial" pitchFamily="34" charset="-122"/>
                <a:cs typeface="Arial" pitchFamily="34" charset="-120"/>
              </a:rPr>
              <a:t>05</a:t>
            </a:r>
            <a:endParaRPr lang="en-US" sz="900" dirty="0"/>
          </a:p>
        </p:txBody>
      </p:sp>
      <p:sp>
        <p:nvSpPr>
          <p:cNvPr id="5" name="Text 2"/>
          <p:cNvSpPr/>
          <p:nvPr/>
        </p:nvSpPr>
        <p:spPr>
          <a:xfrm>
            <a:off x="640080" y="512064"/>
            <a:ext cx="9144000" cy="274320"/>
          </a:xfrm>
          <a:prstGeom prst="rect">
            <a:avLst/>
          </a:prstGeom>
          <a:noFill/>
          <a:ln/>
        </p:spPr>
        <p:txBody>
          <a:bodyPr wrap="square" lIns="0" tIns="0" rIns="0" bIns="0" rtlCol="0" anchor="ctr"/>
          <a:lstStyle/>
          <a:p>
            <a:pPr indent="0" marL="0">
              <a:buNone/>
            </a:pPr>
            <a:r>
              <a:rPr lang="en-US" sz="1200" b="1" spc="300" kern="0" dirty="0">
                <a:solidFill>
                  <a:srgbClr val="3BC6E8"/>
                </a:solidFill>
                <a:latin typeface="Arial" pitchFamily="34" charset="0"/>
                <a:ea typeface="Arial" pitchFamily="34" charset="-122"/>
                <a:cs typeface="Arial" pitchFamily="34" charset="-120"/>
              </a:rPr>
              <a:t>ONE PLACE FOR LEAVE, MEDICAL &amp; MANPOWER</a:t>
            </a:r>
            <a:endParaRPr lang="en-US" sz="1200" dirty="0"/>
          </a:p>
        </p:txBody>
      </p:sp>
      <p:sp>
        <p:nvSpPr>
          <p:cNvPr id="6" name="Text 3"/>
          <p:cNvSpPr/>
          <p:nvPr/>
        </p:nvSpPr>
        <p:spPr>
          <a:xfrm>
            <a:off x="640080" y="786384"/>
            <a:ext cx="11338560" cy="822960"/>
          </a:xfrm>
          <a:prstGeom prst="rect">
            <a:avLst/>
          </a:prstGeom>
          <a:noFill/>
          <a:ln/>
        </p:spPr>
        <p:txBody>
          <a:bodyPr wrap="square" lIns="0" tIns="0" rIns="0" bIns="0" rtlCol="0" anchor="ctr"/>
          <a:lstStyle/>
          <a:p>
            <a:pPr indent="0" marL="0">
              <a:buNone/>
            </a:pPr>
            <a:r>
              <a:rPr lang="en-US" sz="2900" b="1" dirty="0">
                <a:solidFill>
                  <a:srgbClr val="F1F4F7"/>
                </a:solidFill>
                <a:latin typeface="Arial" pitchFamily="34" charset="0"/>
                <a:ea typeface="Arial" pitchFamily="34" charset="-122"/>
                <a:cs typeface="Arial" pitchFamily="34" charset="-120"/>
              </a:rPr>
              <a:t>Leave, medical &amp; up-chits — filed once, synced everywhere</a:t>
            </a:r>
            <a:endParaRPr lang="en-US" sz="2900" dirty="0"/>
          </a:p>
        </p:txBody>
      </p:sp>
      <p:sp>
        <p:nvSpPr>
          <p:cNvPr id="7" name="Text 4"/>
          <p:cNvSpPr/>
          <p:nvPr/>
        </p:nvSpPr>
        <p:spPr>
          <a:xfrm>
            <a:off x="640080" y="1847088"/>
            <a:ext cx="10972800" cy="365760"/>
          </a:xfrm>
          <a:prstGeom prst="rect">
            <a:avLst/>
          </a:prstGeom>
          <a:noFill/>
          <a:ln/>
        </p:spPr>
        <p:txBody>
          <a:bodyPr wrap="square" lIns="0" tIns="0" rIns="0" bIns="0" rtlCol="0" anchor="ctr"/>
          <a:lstStyle/>
          <a:p>
            <a:pPr indent="0" marL="0">
              <a:buNone/>
            </a:pPr>
            <a:r>
              <a:rPr lang="en-US" sz="1350" dirty="0">
                <a:solidFill>
                  <a:srgbClr val="B6C0CB"/>
                </a:solidFill>
                <a:latin typeface="Calibri" pitchFamily="34" charset="0"/>
                <a:ea typeface="Calibri" pitchFamily="34" charset="-122"/>
                <a:cs typeface="Calibri" pitchFamily="34" charset="-120"/>
              </a:rPr>
              <a:t>Approve a bid once and it flows onto the programme; file leave on the schedule and the balances draw down. Nobody re-types anything.</a:t>
            </a:r>
            <a:endParaRPr lang="en-US" sz="1350" dirty="0"/>
          </a:p>
        </p:txBody>
      </p:sp>
      <p:sp>
        <p:nvSpPr>
          <p:cNvPr id="8" name="Shape 5"/>
          <p:cNvSpPr/>
          <p:nvPr/>
        </p:nvSpPr>
        <p:spPr>
          <a:xfrm>
            <a:off x="612648" y="2304288"/>
            <a:ext cx="7095744" cy="4169664"/>
          </a:xfrm>
          <a:prstGeom prst="roundRect">
            <a:avLst>
              <a:gd name="adj" fmla="val 2193"/>
            </a:avLst>
          </a:prstGeom>
          <a:solidFill>
            <a:srgbClr val="000000"/>
          </a:solidFill>
          <a:ln/>
          <a:effectLst>
            <a:outerShdw sx="100000" sy="100000" kx="0" ky="0" algn="bl" rotWithShape="0" blurRad="177800" dist="63500" dir="5400000">
              <a:srgbClr val="000000">
                <a:alpha val="55000"/>
              </a:srgbClr>
            </a:outerShdw>
          </a:effectLst>
        </p:spPr>
      </p:sp>
      <p:sp>
        <p:nvSpPr>
          <p:cNvPr id="9" name="Shape 6"/>
          <p:cNvSpPr/>
          <p:nvPr/>
        </p:nvSpPr>
        <p:spPr>
          <a:xfrm>
            <a:off x="640080" y="2331720"/>
            <a:ext cx="7040880" cy="4114800"/>
          </a:xfrm>
          <a:prstGeom prst="roundRect">
            <a:avLst>
              <a:gd name="adj" fmla="val 2000"/>
            </a:avLst>
          </a:prstGeom>
          <a:solidFill>
            <a:srgbClr val="0E1116"/>
          </a:solidFill>
          <a:ln w="12700">
            <a:solidFill>
              <a:srgbClr val="3BC6E8"/>
            </a:solidFill>
            <a:prstDash val="solid"/>
          </a:ln>
        </p:spPr>
      </p:sp>
      <p:pic>
        <p:nvPicPr>
          <p:cNvPr id="10" name="Image 1" descr="preencoded.png">    </p:cNvPr>
          <p:cNvPicPr>
            <a:picLocks noChangeAspect="1"/>
          </p:cNvPicPr>
          <p:nvPr/>
        </p:nvPicPr>
        <p:blipFill>
          <a:blip r:embed="rId2"/>
          <a:stretch>
            <a:fillRect/>
          </a:stretch>
        </p:blipFill>
        <p:spPr>
          <a:xfrm>
            <a:off x="997745" y="2386584"/>
            <a:ext cx="6325550" cy="4005072"/>
          </a:xfrm>
          <a:prstGeom prst="rect">
            <a:avLst/>
          </a:prstGeom>
        </p:spPr>
      </p:pic>
      <p:sp>
        <p:nvSpPr>
          <p:cNvPr id="11" name="Shape 7"/>
          <p:cNvSpPr/>
          <p:nvPr/>
        </p:nvSpPr>
        <p:spPr>
          <a:xfrm>
            <a:off x="7909560" y="2267712"/>
            <a:ext cx="146304" cy="146304"/>
          </a:xfrm>
          <a:prstGeom prst="ellipse">
            <a:avLst/>
          </a:prstGeom>
          <a:solidFill>
            <a:srgbClr val="3BC6E8"/>
          </a:solidFill>
          <a:ln/>
        </p:spPr>
      </p:sp>
      <p:sp>
        <p:nvSpPr>
          <p:cNvPr id="12" name="Text 8"/>
          <p:cNvSpPr/>
          <p:nvPr/>
        </p:nvSpPr>
        <p:spPr>
          <a:xfrm>
            <a:off x="8183880" y="2167128"/>
            <a:ext cx="3337560" cy="457200"/>
          </a:xfrm>
          <a:prstGeom prst="rect">
            <a:avLst/>
          </a:prstGeom>
          <a:noFill/>
          <a:ln/>
        </p:spPr>
        <p:txBody>
          <a:bodyPr wrap="square" lIns="0" tIns="0" rIns="0" bIns="0" rtlCol="0" anchor="t"/>
          <a:lstStyle/>
          <a:p>
            <a:pPr indent="0" marL="0">
              <a:lnSpc>
                <a:spcPct val="102000"/>
              </a:lnSpc>
              <a:buNone/>
            </a:pPr>
            <a:r>
              <a:rPr lang="en-US" sz="1250" b="1" dirty="0">
                <a:solidFill>
                  <a:srgbClr val="F1F4F7"/>
                </a:solidFill>
                <a:latin typeface="Calibri" pitchFamily="34" charset="0"/>
                <a:ea typeface="Calibri" pitchFamily="34" charset="-122"/>
                <a:cs typeface="Calibri" pitchFamily="34" charset="-120"/>
              </a:rPr>
              <a:t>Snap a photo, upload, done  </a:t>
            </a:r>
            <a:pPr indent="0" marL="0">
              <a:lnSpc>
                <a:spcPct val="102000"/>
              </a:lnSpc>
              <a:buNone/>
            </a:pPr>
            <a:r>
              <a:rPr lang="en-US" sz="1250" dirty="0">
                <a:solidFill>
                  <a:srgbClr val="B6C0CB"/>
                </a:solidFill>
                <a:latin typeface="Calibri" pitchFamily="34" charset="0"/>
                <a:ea typeface="Calibri" pitchFamily="34" charset="-122"/>
                <a:cs typeface="Calibri" pitchFamily="34" charset="-120"/>
              </a:rPr>
              <a:t>Screenshot a leave application or a medical cert and upload it straight into the app — no forms to re-fill.</a:t>
            </a:r>
            <a:endParaRPr lang="en-US" sz="1250" dirty="0"/>
          </a:p>
        </p:txBody>
      </p:sp>
      <p:sp>
        <p:nvSpPr>
          <p:cNvPr id="13" name="Shape 9"/>
          <p:cNvSpPr/>
          <p:nvPr/>
        </p:nvSpPr>
        <p:spPr>
          <a:xfrm>
            <a:off x="7909560" y="3364992"/>
            <a:ext cx="146304" cy="146304"/>
          </a:xfrm>
          <a:prstGeom prst="ellipse">
            <a:avLst/>
          </a:prstGeom>
          <a:solidFill>
            <a:srgbClr val="E5A83B"/>
          </a:solidFill>
          <a:ln/>
        </p:spPr>
      </p:sp>
      <p:sp>
        <p:nvSpPr>
          <p:cNvPr id="14" name="Text 10"/>
          <p:cNvSpPr/>
          <p:nvPr/>
        </p:nvSpPr>
        <p:spPr>
          <a:xfrm>
            <a:off x="8183880" y="3264408"/>
            <a:ext cx="3337560" cy="457200"/>
          </a:xfrm>
          <a:prstGeom prst="rect">
            <a:avLst/>
          </a:prstGeom>
          <a:noFill/>
          <a:ln/>
        </p:spPr>
        <p:txBody>
          <a:bodyPr wrap="square" lIns="0" tIns="0" rIns="0" bIns="0" rtlCol="0" anchor="t"/>
          <a:lstStyle/>
          <a:p>
            <a:pPr indent="0" marL="0">
              <a:lnSpc>
                <a:spcPct val="102000"/>
              </a:lnSpc>
              <a:buNone/>
            </a:pPr>
            <a:r>
              <a:rPr lang="en-US" sz="1250" b="1" dirty="0">
                <a:solidFill>
                  <a:srgbClr val="F1F4F7"/>
                </a:solidFill>
                <a:latin typeface="Calibri" pitchFamily="34" charset="0"/>
                <a:ea typeface="Calibri" pitchFamily="34" charset="-122"/>
                <a:cs typeface="Calibri" pitchFamily="34" charset="-120"/>
              </a:rPr>
              <a:t>Up-chit reminders  </a:t>
            </a:r>
            <a:pPr indent="0" marL="0">
              <a:lnSpc>
                <a:spcPct val="102000"/>
              </a:lnSpc>
              <a:buNone/>
            </a:pPr>
            <a:r>
              <a:rPr lang="en-US" sz="1250" dirty="0">
                <a:solidFill>
                  <a:srgbClr val="B6C0CB"/>
                </a:solidFill>
                <a:latin typeface="Calibri" pitchFamily="34" charset="0"/>
                <a:ea typeface="Calibri" pitchFamily="34" charset="-122"/>
                <a:cs typeface="Calibri" pitchFamily="34" charset="-120"/>
              </a:rPr>
              <a:t>If someone is due to be up-chitted and hasn't been, RAPTOR reminds them — nothing tracked on a personal note.</a:t>
            </a:r>
            <a:endParaRPr lang="en-US" sz="1250" dirty="0"/>
          </a:p>
        </p:txBody>
      </p:sp>
      <p:sp>
        <p:nvSpPr>
          <p:cNvPr id="15" name="Shape 11"/>
          <p:cNvSpPr/>
          <p:nvPr/>
        </p:nvSpPr>
        <p:spPr>
          <a:xfrm>
            <a:off x="7909560" y="4462272"/>
            <a:ext cx="146304" cy="146304"/>
          </a:xfrm>
          <a:prstGeom prst="ellipse">
            <a:avLst/>
          </a:prstGeom>
          <a:solidFill>
            <a:srgbClr val="F0555F"/>
          </a:solidFill>
          <a:ln/>
        </p:spPr>
      </p:sp>
      <p:sp>
        <p:nvSpPr>
          <p:cNvPr id="16" name="Text 12"/>
          <p:cNvSpPr/>
          <p:nvPr/>
        </p:nvSpPr>
        <p:spPr>
          <a:xfrm>
            <a:off x="8183880" y="4361688"/>
            <a:ext cx="3337560" cy="457200"/>
          </a:xfrm>
          <a:prstGeom prst="rect">
            <a:avLst/>
          </a:prstGeom>
          <a:noFill/>
          <a:ln/>
        </p:spPr>
        <p:txBody>
          <a:bodyPr wrap="square" lIns="0" tIns="0" rIns="0" bIns="0" rtlCol="0" anchor="t"/>
          <a:lstStyle/>
          <a:p>
            <a:pPr indent="0" marL="0">
              <a:lnSpc>
                <a:spcPct val="102000"/>
              </a:lnSpc>
              <a:buNone/>
            </a:pPr>
            <a:r>
              <a:rPr lang="en-US" sz="1250" b="1" dirty="0">
                <a:solidFill>
                  <a:srgbClr val="F1F4F7"/>
                </a:solidFill>
                <a:latin typeface="Calibri" pitchFamily="34" charset="0"/>
                <a:ea typeface="Calibri" pitchFamily="34" charset="-122"/>
                <a:cs typeface="Calibri" pitchFamily="34" charset="-120"/>
              </a:rPr>
              <a:t>The manpower red line  </a:t>
            </a:r>
            <a:pPr indent="0" marL="0">
              <a:lnSpc>
                <a:spcPct val="102000"/>
              </a:lnSpc>
              <a:buNone/>
            </a:pPr>
            <a:r>
              <a:rPr lang="en-US" sz="1250" dirty="0">
                <a:solidFill>
                  <a:srgbClr val="B6C0CB"/>
                </a:solidFill>
                <a:latin typeface="Calibri" pitchFamily="34" charset="0"/>
                <a:ea typeface="Calibri" pitchFamily="34" charset="-122"/>
                <a:cs typeface="Calibri" pitchFamily="34" charset="-120"/>
              </a:rPr>
              <a:t>Management sets the day-to-day floor; the grid turns amber then red the moment manning drops below it.</a:t>
            </a:r>
            <a:endParaRPr lang="en-US" sz="1250" dirty="0"/>
          </a:p>
        </p:txBody>
      </p:sp>
      <p:sp>
        <p:nvSpPr>
          <p:cNvPr id="17" name="Shape 13"/>
          <p:cNvSpPr/>
          <p:nvPr/>
        </p:nvSpPr>
        <p:spPr>
          <a:xfrm>
            <a:off x="7909560" y="5486400"/>
            <a:ext cx="3611880" cy="914400"/>
          </a:xfrm>
          <a:prstGeom prst="roundRect">
            <a:avLst>
              <a:gd name="adj" fmla="val 10000"/>
            </a:avLst>
          </a:prstGeom>
          <a:solidFill>
            <a:srgbClr val="1A1F26"/>
          </a:solidFill>
          <a:ln w="12700">
            <a:solidFill>
              <a:srgbClr val="39424D"/>
            </a:solidFill>
            <a:prstDash val="solid"/>
          </a:ln>
        </p:spPr>
      </p:sp>
      <p:sp>
        <p:nvSpPr>
          <p:cNvPr id="18" name="Text 14"/>
          <p:cNvSpPr/>
          <p:nvPr/>
        </p:nvSpPr>
        <p:spPr>
          <a:xfrm>
            <a:off x="8110728" y="5559552"/>
            <a:ext cx="3209544" cy="768096"/>
          </a:xfrm>
          <a:prstGeom prst="rect">
            <a:avLst/>
          </a:prstGeom>
          <a:noFill/>
          <a:ln/>
        </p:spPr>
        <p:txBody>
          <a:bodyPr wrap="square" lIns="0" tIns="0" rIns="0" bIns="0" rtlCol="0" anchor="ctr"/>
          <a:lstStyle/>
          <a:p>
            <a:pPr indent="0" marL="0">
              <a:buNone/>
            </a:pPr>
            <a:r>
              <a:rPr lang="en-US" sz="1150" b="1" dirty="0">
                <a:solidFill>
                  <a:srgbClr val="F1F4F7"/>
                </a:solidFill>
                <a:latin typeface="Calibri" pitchFamily="34" charset="0"/>
                <a:ea typeface="Calibri" pitchFamily="34" charset="-122"/>
                <a:cs typeface="Calibri" pitchFamily="34" charset="-120"/>
              </a:rPr>
              <a:t>A whole year of leave and duties in one grid — </a:t>
            </a:r>
            <a:pPr indent="0" marL="0">
              <a:buNone/>
            </a:pPr>
            <a:r>
              <a:rPr lang="en-US" sz="1150" dirty="0">
                <a:solidFill>
                  <a:srgbClr val="B6C0CB"/>
                </a:solidFill>
                <a:latin typeface="Calibri" pitchFamily="34" charset="0"/>
                <a:ea typeface="Calibri" pitchFamily="34" charset="-122"/>
                <a:cs typeface="Calibri" pitchFamily="34" charset="-120"/>
              </a:rPr>
              <a:t>and it stays in step with the flying programme.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1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65000"/>
          </a:blip>
          <a:stretch>
            <a:fillRect/>
          </a:stretch>
        </p:blipFill>
        <p:spPr>
          <a:xfrm>
            <a:off x="11137392" y="384048"/>
            <a:ext cx="548640" cy="548640"/>
          </a:xfrm>
          <a:prstGeom prst="rect">
            <a:avLst/>
          </a:prstGeom>
        </p:spPr>
      </p:pic>
      <p:pic>
        <p:nvPicPr>
          <p:cNvPr id="3" name="Image 1" descr="preencoded.png">    </p:cNvPr>
          <p:cNvPicPr>
            <a:picLocks noChangeAspect="1"/>
          </p:cNvPicPr>
          <p:nvPr/>
        </p:nvPicPr>
        <p:blipFill>
          <a:blip r:embed="rId2">
            <a:alphaModFix amt="80000"/>
          </a:blip>
          <a:stretch>
            <a:fillRect/>
          </a:stretch>
        </p:blipFill>
        <p:spPr>
          <a:xfrm>
            <a:off x="640080" y="6291072"/>
            <a:ext cx="219456" cy="219456"/>
          </a:xfrm>
          <a:prstGeom prst="rect">
            <a:avLst/>
          </a:prstGeom>
        </p:spPr>
      </p:pic>
      <p:sp>
        <p:nvSpPr>
          <p:cNvPr id="4" name="Text 0"/>
          <p:cNvSpPr/>
          <p:nvPr/>
        </p:nvSpPr>
        <p:spPr>
          <a:xfrm>
            <a:off x="914400" y="6309360"/>
            <a:ext cx="2743200" cy="219456"/>
          </a:xfrm>
          <a:prstGeom prst="rect">
            <a:avLst/>
          </a:prstGeom>
          <a:noFill/>
          <a:ln/>
        </p:spPr>
        <p:txBody>
          <a:bodyPr wrap="square" lIns="0" tIns="0" rIns="0" bIns="0" rtlCol="0" anchor="ctr"/>
          <a:lstStyle/>
          <a:p>
            <a:pPr indent="0" marL="0">
              <a:buNone/>
            </a:pPr>
            <a:r>
              <a:rPr lang="en-US" sz="900" b="1" spc="200" kern="0" dirty="0">
                <a:solidFill>
                  <a:srgbClr val="8A96A3"/>
                </a:solidFill>
                <a:latin typeface="Arial" pitchFamily="34" charset="0"/>
                <a:ea typeface="Arial" pitchFamily="34" charset="-122"/>
                <a:cs typeface="Arial" pitchFamily="34" charset="-120"/>
              </a:rPr>
              <a:t>RAPTOR</a:t>
            </a:r>
            <a:endParaRPr lang="en-US" sz="900" dirty="0"/>
          </a:p>
        </p:txBody>
      </p:sp>
      <p:sp>
        <p:nvSpPr>
          <p:cNvPr id="5" name="Text 1"/>
          <p:cNvSpPr/>
          <p:nvPr/>
        </p:nvSpPr>
        <p:spPr>
          <a:xfrm>
            <a:off x="11228832" y="6309360"/>
            <a:ext cx="457200" cy="219456"/>
          </a:xfrm>
          <a:prstGeom prst="rect">
            <a:avLst/>
          </a:prstGeom>
          <a:noFill/>
          <a:ln/>
        </p:spPr>
        <p:txBody>
          <a:bodyPr wrap="square" lIns="0" tIns="0" rIns="0" bIns="0" rtlCol="0" anchor="ctr"/>
          <a:lstStyle/>
          <a:p>
            <a:pPr algn="r" indent="0" marL="0">
              <a:buNone/>
            </a:pPr>
            <a:r>
              <a:rPr lang="en-US" sz="900" dirty="0">
                <a:solidFill>
                  <a:srgbClr val="8A96A3"/>
                </a:solidFill>
                <a:latin typeface="Arial" pitchFamily="34" charset="0"/>
                <a:ea typeface="Arial" pitchFamily="34" charset="-122"/>
                <a:cs typeface="Arial" pitchFamily="34" charset="-120"/>
              </a:rPr>
              <a:t>06</a:t>
            </a:r>
            <a:endParaRPr lang="en-US" sz="900" dirty="0"/>
          </a:p>
        </p:txBody>
      </p:sp>
      <p:sp>
        <p:nvSpPr>
          <p:cNvPr id="6" name="Text 2"/>
          <p:cNvSpPr/>
          <p:nvPr/>
        </p:nvSpPr>
        <p:spPr>
          <a:xfrm>
            <a:off x="640080" y="512064"/>
            <a:ext cx="9144000" cy="274320"/>
          </a:xfrm>
          <a:prstGeom prst="rect">
            <a:avLst/>
          </a:prstGeom>
          <a:noFill/>
          <a:ln/>
        </p:spPr>
        <p:txBody>
          <a:bodyPr wrap="square" lIns="0" tIns="0" rIns="0" bIns="0" rtlCol="0" anchor="ctr"/>
          <a:lstStyle/>
          <a:p>
            <a:pPr indent="0" marL="0">
              <a:buNone/>
            </a:pPr>
            <a:r>
              <a:rPr lang="en-US" sz="1200" b="1" spc="300" kern="0" dirty="0">
                <a:solidFill>
                  <a:srgbClr val="3BC6E8"/>
                </a:solidFill>
                <a:latin typeface="Arial" pitchFamily="34" charset="0"/>
                <a:ea typeface="Arial" pitchFamily="34" charset="-122"/>
                <a:cs typeface="Arial" pitchFamily="34" charset="-120"/>
              </a:rPr>
              <a:t>BUILT FOR THE WAY THE SQUADRON WORKS</a:t>
            </a:r>
            <a:endParaRPr lang="en-US" sz="1200" dirty="0"/>
          </a:p>
        </p:txBody>
      </p:sp>
      <p:sp>
        <p:nvSpPr>
          <p:cNvPr id="7" name="Text 3"/>
          <p:cNvSpPr/>
          <p:nvPr/>
        </p:nvSpPr>
        <p:spPr>
          <a:xfrm>
            <a:off x="640080" y="822960"/>
            <a:ext cx="10607040" cy="822960"/>
          </a:xfrm>
          <a:prstGeom prst="rect">
            <a:avLst/>
          </a:prstGeom>
          <a:noFill/>
          <a:ln/>
        </p:spPr>
        <p:txBody>
          <a:bodyPr wrap="square" lIns="0" tIns="0" rIns="0" bIns="0" rtlCol="0" anchor="ctr"/>
          <a:lstStyle/>
          <a:p>
            <a:pPr indent="0" marL="0">
              <a:buNone/>
            </a:pPr>
            <a:r>
              <a:rPr lang="en-US" sz="3300" b="1" dirty="0">
                <a:solidFill>
                  <a:srgbClr val="F1F4F7"/>
                </a:solidFill>
                <a:latin typeface="Arial" pitchFamily="34" charset="0"/>
                <a:ea typeface="Arial" pitchFamily="34" charset="-122"/>
                <a:cs typeface="Arial" pitchFamily="34" charset="-120"/>
              </a:rPr>
              <a:t>Full-power at the desk, thumb-friendly on a phone</a:t>
            </a:r>
            <a:endParaRPr lang="en-US" sz="3300" dirty="0"/>
          </a:p>
        </p:txBody>
      </p:sp>
      <p:sp>
        <p:nvSpPr>
          <p:cNvPr id="8" name="Text 4"/>
          <p:cNvSpPr/>
          <p:nvPr/>
        </p:nvSpPr>
        <p:spPr>
          <a:xfrm>
            <a:off x="640080" y="1572768"/>
            <a:ext cx="10881360" cy="365760"/>
          </a:xfrm>
          <a:prstGeom prst="rect">
            <a:avLst/>
          </a:prstGeom>
          <a:noFill/>
          <a:ln/>
        </p:spPr>
        <p:txBody>
          <a:bodyPr wrap="square" lIns="0" tIns="0" rIns="0" bIns="0" rtlCol="0" anchor="ctr"/>
          <a:lstStyle/>
          <a:p>
            <a:pPr indent="0" marL="0">
              <a:buNone/>
            </a:pPr>
            <a:r>
              <a:rPr lang="en-US" sz="1400" dirty="0">
                <a:solidFill>
                  <a:srgbClr val="B6C0CB"/>
                </a:solidFill>
                <a:latin typeface="Calibri" pitchFamily="34" charset="0"/>
                <a:ea typeface="Calibri" pitchFamily="34" charset="-122"/>
                <a:cs typeface="Calibri" pitchFamily="34" charset="-120"/>
              </a:rPr>
              <a:t>The same tool, designed for both screens — spacious and readable on a phone, and using the whole width on a desktop.</a:t>
            </a:r>
            <a:endParaRPr lang="en-US" sz="1400" dirty="0"/>
          </a:p>
        </p:txBody>
      </p:sp>
      <p:sp>
        <p:nvSpPr>
          <p:cNvPr id="9" name="Shape 5"/>
          <p:cNvSpPr/>
          <p:nvPr/>
        </p:nvSpPr>
        <p:spPr>
          <a:xfrm>
            <a:off x="932688" y="2121408"/>
            <a:ext cx="2340864" cy="4261104"/>
          </a:xfrm>
          <a:prstGeom prst="roundRect">
            <a:avLst>
              <a:gd name="adj" fmla="val 3906"/>
            </a:avLst>
          </a:prstGeom>
          <a:solidFill>
            <a:srgbClr val="000000"/>
          </a:solidFill>
          <a:ln/>
          <a:effectLst>
            <a:outerShdw sx="100000" sy="100000" kx="0" ky="0" algn="bl" rotWithShape="0" blurRad="177800" dist="63500" dir="5400000">
              <a:srgbClr val="000000">
                <a:alpha val="55000"/>
              </a:srgbClr>
            </a:outerShdw>
          </a:effectLst>
        </p:spPr>
      </p:sp>
      <p:sp>
        <p:nvSpPr>
          <p:cNvPr id="10" name="Shape 6"/>
          <p:cNvSpPr/>
          <p:nvPr/>
        </p:nvSpPr>
        <p:spPr>
          <a:xfrm>
            <a:off x="960120" y="2148840"/>
            <a:ext cx="2286000" cy="4206240"/>
          </a:xfrm>
          <a:prstGeom prst="roundRect">
            <a:avLst>
              <a:gd name="adj" fmla="val 3600"/>
            </a:avLst>
          </a:prstGeom>
          <a:solidFill>
            <a:srgbClr val="0E1116"/>
          </a:solidFill>
          <a:ln w="12700">
            <a:solidFill>
              <a:srgbClr val="3BC6E8"/>
            </a:solidFill>
            <a:prstDash val="solid"/>
          </a:ln>
        </p:spPr>
      </p:sp>
      <p:pic>
        <p:nvPicPr>
          <p:cNvPr id="11" name="Image 2" descr="preencoded.png">    </p:cNvPr>
          <p:cNvPicPr>
            <a:picLocks noChangeAspect="1"/>
          </p:cNvPicPr>
          <p:nvPr/>
        </p:nvPicPr>
        <p:blipFill>
          <a:blip r:embed="rId3"/>
          <a:stretch>
            <a:fillRect/>
          </a:stretch>
        </p:blipFill>
        <p:spPr>
          <a:xfrm>
            <a:off x="1148635" y="2185416"/>
            <a:ext cx="1908970" cy="4133088"/>
          </a:xfrm>
          <a:prstGeom prst="rect">
            <a:avLst/>
          </a:prstGeom>
        </p:spPr>
      </p:pic>
      <p:sp>
        <p:nvSpPr>
          <p:cNvPr id="12" name="Text 7"/>
          <p:cNvSpPr/>
          <p:nvPr/>
        </p:nvSpPr>
        <p:spPr>
          <a:xfrm>
            <a:off x="960120" y="6382512"/>
            <a:ext cx="2286000" cy="237744"/>
          </a:xfrm>
          <a:prstGeom prst="rect">
            <a:avLst/>
          </a:prstGeom>
          <a:noFill/>
          <a:ln/>
        </p:spPr>
        <p:txBody>
          <a:bodyPr wrap="square" lIns="0" tIns="0" rIns="0" bIns="0" rtlCol="0" anchor="ctr"/>
          <a:lstStyle/>
          <a:p>
            <a:pPr algn="ctr" indent="0" marL="0">
              <a:buNone/>
            </a:pPr>
            <a:r>
              <a:rPr lang="en-US" sz="1000" b="1" spc="300" kern="0" dirty="0">
                <a:solidFill>
                  <a:srgbClr val="8A96A3"/>
                </a:solidFill>
                <a:latin typeface="Arial" pitchFamily="34" charset="0"/>
                <a:ea typeface="Arial" pitchFamily="34" charset="-122"/>
                <a:cs typeface="Arial" pitchFamily="34" charset="-120"/>
              </a:rPr>
              <a:t>PHONE</a:t>
            </a:r>
            <a:endParaRPr lang="en-US" sz="1000" dirty="0"/>
          </a:p>
        </p:txBody>
      </p:sp>
      <p:sp>
        <p:nvSpPr>
          <p:cNvPr id="13" name="Shape 8"/>
          <p:cNvSpPr/>
          <p:nvPr/>
        </p:nvSpPr>
        <p:spPr>
          <a:xfrm>
            <a:off x="3813048" y="2304288"/>
            <a:ext cx="7735824" cy="3968496"/>
          </a:xfrm>
          <a:prstGeom prst="roundRect">
            <a:avLst>
              <a:gd name="adj" fmla="val 2304"/>
            </a:avLst>
          </a:prstGeom>
          <a:solidFill>
            <a:srgbClr val="000000"/>
          </a:solidFill>
          <a:ln/>
          <a:effectLst>
            <a:outerShdw sx="100000" sy="100000" kx="0" ky="0" algn="bl" rotWithShape="0" blurRad="177800" dist="63500" dir="5400000">
              <a:srgbClr val="000000">
                <a:alpha val="55000"/>
              </a:srgbClr>
            </a:outerShdw>
          </a:effectLst>
        </p:spPr>
      </p:sp>
      <p:sp>
        <p:nvSpPr>
          <p:cNvPr id="14" name="Shape 9"/>
          <p:cNvSpPr/>
          <p:nvPr/>
        </p:nvSpPr>
        <p:spPr>
          <a:xfrm>
            <a:off x="3840480" y="2331720"/>
            <a:ext cx="7680960" cy="3913632"/>
          </a:xfrm>
          <a:prstGeom prst="roundRect">
            <a:avLst>
              <a:gd name="adj" fmla="val 2103"/>
            </a:avLst>
          </a:prstGeom>
          <a:solidFill>
            <a:srgbClr val="0E1116"/>
          </a:solidFill>
          <a:ln w="12700">
            <a:solidFill>
              <a:srgbClr val="3BC6E8"/>
            </a:solidFill>
            <a:prstDash val="solid"/>
          </a:ln>
        </p:spPr>
      </p:sp>
      <p:pic>
        <p:nvPicPr>
          <p:cNvPr id="15" name="Image 3" descr="preencoded.png">    </p:cNvPr>
          <p:cNvPicPr>
            <a:picLocks noChangeAspect="1"/>
          </p:cNvPicPr>
          <p:nvPr/>
        </p:nvPicPr>
        <p:blipFill>
          <a:blip r:embed="rId4"/>
          <a:stretch>
            <a:fillRect/>
          </a:stretch>
        </p:blipFill>
        <p:spPr>
          <a:xfrm>
            <a:off x="4677046" y="2386584"/>
            <a:ext cx="6007828" cy="3803904"/>
          </a:xfrm>
          <a:prstGeom prst="rect">
            <a:avLst/>
          </a:prstGeom>
        </p:spPr>
      </p:pic>
      <p:sp>
        <p:nvSpPr>
          <p:cNvPr id="16" name="Text 10"/>
          <p:cNvSpPr/>
          <p:nvPr/>
        </p:nvSpPr>
        <p:spPr>
          <a:xfrm>
            <a:off x="3840480" y="6309360"/>
            <a:ext cx="7680960" cy="237744"/>
          </a:xfrm>
          <a:prstGeom prst="rect">
            <a:avLst/>
          </a:prstGeom>
          <a:noFill/>
          <a:ln/>
        </p:spPr>
        <p:txBody>
          <a:bodyPr wrap="square" lIns="0" tIns="0" rIns="0" bIns="0" rtlCol="0" anchor="ctr"/>
          <a:lstStyle/>
          <a:p>
            <a:pPr algn="ctr" indent="0" marL="0">
              <a:buNone/>
            </a:pPr>
            <a:r>
              <a:rPr lang="en-US" sz="1000" b="1" spc="300" kern="0" dirty="0">
                <a:solidFill>
                  <a:srgbClr val="8A96A3"/>
                </a:solidFill>
                <a:latin typeface="Arial" pitchFamily="34" charset="0"/>
                <a:ea typeface="Arial" pitchFamily="34" charset="-122"/>
                <a:cs typeface="Arial" pitchFamily="34" charset="-120"/>
              </a:rPr>
              <a:t>DESKTOP</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65000"/>
          </a:blip>
          <a:stretch>
            <a:fillRect/>
          </a:stretch>
        </p:blipFill>
        <p:spPr>
          <a:xfrm>
            <a:off x="11137392" y="384048"/>
            <a:ext cx="548640" cy="548640"/>
          </a:xfrm>
          <a:prstGeom prst="rect">
            <a:avLst/>
          </a:prstGeom>
        </p:spPr>
      </p:pic>
      <p:pic>
        <p:nvPicPr>
          <p:cNvPr id="3" name="Image 1" descr="preencoded.png">    </p:cNvPr>
          <p:cNvPicPr>
            <a:picLocks noChangeAspect="1"/>
          </p:cNvPicPr>
          <p:nvPr/>
        </p:nvPicPr>
        <p:blipFill>
          <a:blip r:embed="rId2">
            <a:alphaModFix amt="80000"/>
          </a:blip>
          <a:stretch>
            <a:fillRect/>
          </a:stretch>
        </p:blipFill>
        <p:spPr>
          <a:xfrm>
            <a:off x="640080" y="6291072"/>
            <a:ext cx="219456" cy="219456"/>
          </a:xfrm>
          <a:prstGeom prst="rect">
            <a:avLst/>
          </a:prstGeom>
        </p:spPr>
      </p:pic>
      <p:sp>
        <p:nvSpPr>
          <p:cNvPr id="4" name="Text 0"/>
          <p:cNvSpPr/>
          <p:nvPr/>
        </p:nvSpPr>
        <p:spPr>
          <a:xfrm>
            <a:off x="914400" y="6309360"/>
            <a:ext cx="2743200" cy="219456"/>
          </a:xfrm>
          <a:prstGeom prst="rect">
            <a:avLst/>
          </a:prstGeom>
          <a:noFill/>
          <a:ln/>
        </p:spPr>
        <p:txBody>
          <a:bodyPr wrap="square" lIns="0" tIns="0" rIns="0" bIns="0" rtlCol="0" anchor="ctr"/>
          <a:lstStyle/>
          <a:p>
            <a:pPr indent="0" marL="0">
              <a:buNone/>
            </a:pPr>
            <a:r>
              <a:rPr lang="en-US" sz="900" b="1" spc="200" kern="0" dirty="0">
                <a:solidFill>
                  <a:srgbClr val="8A96A3"/>
                </a:solidFill>
                <a:latin typeface="Arial" pitchFamily="34" charset="0"/>
                <a:ea typeface="Arial" pitchFamily="34" charset="-122"/>
                <a:cs typeface="Arial" pitchFamily="34" charset="-120"/>
              </a:rPr>
              <a:t>RAPTOR</a:t>
            </a:r>
            <a:endParaRPr lang="en-US" sz="900" dirty="0"/>
          </a:p>
        </p:txBody>
      </p:sp>
      <p:sp>
        <p:nvSpPr>
          <p:cNvPr id="5" name="Text 1"/>
          <p:cNvSpPr/>
          <p:nvPr/>
        </p:nvSpPr>
        <p:spPr>
          <a:xfrm>
            <a:off x="11228832" y="6309360"/>
            <a:ext cx="457200" cy="219456"/>
          </a:xfrm>
          <a:prstGeom prst="rect">
            <a:avLst/>
          </a:prstGeom>
          <a:noFill/>
          <a:ln/>
        </p:spPr>
        <p:txBody>
          <a:bodyPr wrap="square" lIns="0" tIns="0" rIns="0" bIns="0" rtlCol="0" anchor="ctr"/>
          <a:lstStyle/>
          <a:p>
            <a:pPr algn="r" indent="0" marL="0">
              <a:buNone/>
            </a:pPr>
            <a:r>
              <a:rPr lang="en-US" sz="900" dirty="0">
                <a:solidFill>
                  <a:srgbClr val="8A96A3"/>
                </a:solidFill>
                <a:latin typeface="Arial" pitchFamily="34" charset="0"/>
                <a:ea typeface="Arial" pitchFamily="34" charset="-122"/>
                <a:cs typeface="Arial" pitchFamily="34" charset="-120"/>
              </a:rPr>
              <a:t>07</a:t>
            </a:r>
            <a:endParaRPr lang="en-US" sz="900" dirty="0"/>
          </a:p>
        </p:txBody>
      </p:sp>
      <p:sp>
        <p:nvSpPr>
          <p:cNvPr id="6" name="Text 2"/>
          <p:cNvSpPr/>
          <p:nvPr/>
        </p:nvSpPr>
        <p:spPr>
          <a:xfrm>
            <a:off x="640080" y="512064"/>
            <a:ext cx="9144000" cy="274320"/>
          </a:xfrm>
          <a:prstGeom prst="rect">
            <a:avLst/>
          </a:prstGeom>
          <a:noFill/>
          <a:ln/>
        </p:spPr>
        <p:txBody>
          <a:bodyPr wrap="square" lIns="0" tIns="0" rIns="0" bIns="0" rtlCol="0" anchor="ctr"/>
          <a:lstStyle/>
          <a:p>
            <a:pPr indent="0" marL="0">
              <a:buNone/>
            </a:pPr>
            <a:r>
              <a:rPr lang="en-US" sz="1200" b="1" spc="300" kern="0" dirty="0">
                <a:solidFill>
                  <a:srgbClr val="3BC6E8"/>
                </a:solidFill>
                <a:latin typeface="Arial" pitchFamily="34" charset="0"/>
                <a:ea typeface="Arial" pitchFamily="34" charset="-122"/>
                <a:cs typeface="Arial" pitchFamily="34" charset="-120"/>
              </a:rPr>
              <a:t>WHERE IT'S GOING</a:t>
            </a:r>
            <a:endParaRPr lang="en-US" sz="1200" dirty="0"/>
          </a:p>
        </p:txBody>
      </p:sp>
      <p:sp>
        <p:nvSpPr>
          <p:cNvPr id="7" name="Text 3"/>
          <p:cNvSpPr/>
          <p:nvPr/>
        </p:nvSpPr>
        <p:spPr>
          <a:xfrm>
            <a:off x="640080" y="822960"/>
            <a:ext cx="10607040" cy="822960"/>
          </a:xfrm>
          <a:prstGeom prst="rect">
            <a:avLst/>
          </a:prstGeom>
          <a:noFill/>
          <a:ln/>
        </p:spPr>
        <p:txBody>
          <a:bodyPr wrap="square" lIns="0" tIns="0" rIns="0" bIns="0" rtlCol="0" anchor="ctr"/>
          <a:lstStyle/>
          <a:p>
            <a:pPr indent="0" marL="0">
              <a:buNone/>
            </a:pPr>
            <a:r>
              <a:rPr lang="en-US" sz="3300" b="1" dirty="0">
                <a:solidFill>
                  <a:srgbClr val="F1F4F7"/>
                </a:solidFill>
                <a:latin typeface="Arial" pitchFamily="34" charset="0"/>
                <a:ea typeface="Arial" pitchFamily="34" charset="-122"/>
                <a:cs typeface="Arial" pitchFamily="34" charset="-120"/>
              </a:rPr>
              <a:t>From prototype to the squadron's live system</a:t>
            </a:r>
            <a:endParaRPr lang="en-US" sz="3300" dirty="0"/>
          </a:p>
        </p:txBody>
      </p:sp>
      <p:sp>
        <p:nvSpPr>
          <p:cNvPr id="8" name="Text 4"/>
          <p:cNvSpPr/>
          <p:nvPr/>
        </p:nvSpPr>
        <p:spPr>
          <a:xfrm>
            <a:off x="640080" y="1572768"/>
            <a:ext cx="10881360" cy="365760"/>
          </a:xfrm>
          <a:prstGeom prst="rect">
            <a:avLst/>
          </a:prstGeom>
          <a:noFill/>
          <a:ln/>
        </p:spPr>
        <p:txBody>
          <a:bodyPr wrap="square" lIns="0" tIns="0" rIns="0" bIns="0" rtlCol="0" anchor="ctr"/>
          <a:lstStyle/>
          <a:p>
            <a:pPr indent="0" marL="0">
              <a:buNone/>
            </a:pPr>
            <a:r>
              <a:rPr lang="en-US" sz="1400" dirty="0">
                <a:solidFill>
                  <a:srgbClr val="B6C0CB"/>
                </a:solidFill>
                <a:latin typeface="Calibri" pitchFamily="34" charset="0"/>
                <a:ea typeface="Calibri" pitchFamily="34" charset="-122"/>
                <a:cs typeface="Calibri" pitchFamily="34" charset="-120"/>
              </a:rPr>
              <a:t>The core is built and tested. The near-term work makes it robust and moves it onto the squadron's own Microsoft platform.</a:t>
            </a:r>
            <a:endParaRPr lang="en-US" sz="1400" dirty="0"/>
          </a:p>
        </p:txBody>
      </p:sp>
      <p:sp>
        <p:nvSpPr>
          <p:cNvPr id="9" name="Shape 5"/>
          <p:cNvSpPr/>
          <p:nvPr/>
        </p:nvSpPr>
        <p:spPr>
          <a:xfrm>
            <a:off x="640080" y="2331720"/>
            <a:ext cx="3520440" cy="3063240"/>
          </a:xfrm>
          <a:prstGeom prst="roundRect">
            <a:avLst>
              <a:gd name="adj" fmla="val 3284"/>
            </a:avLst>
          </a:prstGeom>
          <a:solidFill>
            <a:srgbClr val="14181D"/>
          </a:solidFill>
          <a:ln w="19050">
            <a:solidFill>
              <a:srgbClr val="3BC6E8"/>
            </a:solidFill>
            <a:prstDash val="solid"/>
          </a:ln>
        </p:spPr>
      </p:sp>
      <p:sp>
        <p:nvSpPr>
          <p:cNvPr id="10" name="Shape 6"/>
          <p:cNvSpPr/>
          <p:nvPr/>
        </p:nvSpPr>
        <p:spPr>
          <a:xfrm>
            <a:off x="896112" y="2606040"/>
            <a:ext cx="457200" cy="457200"/>
          </a:xfrm>
          <a:prstGeom prst="ellipse">
            <a:avLst/>
          </a:prstGeom>
          <a:solidFill>
            <a:srgbClr val="1A1F26"/>
          </a:solidFill>
          <a:ln w="19050">
            <a:solidFill>
              <a:srgbClr val="3BC6E8"/>
            </a:solidFill>
            <a:prstDash val="solid"/>
          </a:ln>
        </p:spPr>
      </p:sp>
      <p:sp>
        <p:nvSpPr>
          <p:cNvPr id="11" name="Text 7"/>
          <p:cNvSpPr/>
          <p:nvPr/>
        </p:nvSpPr>
        <p:spPr>
          <a:xfrm>
            <a:off x="896112" y="2606040"/>
            <a:ext cx="457200" cy="457200"/>
          </a:xfrm>
          <a:prstGeom prst="rect">
            <a:avLst/>
          </a:prstGeom>
          <a:noFill/>
          <a:ln/>
        </p:spPr>
        <p:txBody>
          <a:bodyPr wrap="square" lIns="0" tIns="0" rIns="0" bIns="0" rtlCol="0" anchor="ctr"/>
          <a:lstStyle/>
          <a:p>
            <a:pPr algn="ctr" indent="0" marL="0">
              <a:buNone/>
            </a:pPr>
            <a:r>
              <a:rPr lang="en-US" sz="1600" b="1" dirty="0">
                <a:solidFill>
                  <a:srgbClr val="3BC6E8"/>
                </a:solidFill>
                <a:latin typeface="Arial" pitchFamily="34" charset="0"/>
                <a:ea typeface="Arial" pitchFamily="34" charset="-122"/>
                <a:cs typeface="Arial" pitchFamily="34" charset="-120"/>
              </a:rPr>
              <a:t>1</a:t>
            </a:r>
            <a:endParaRPr lang="en-US" sz="1600" dirty="0"/>
          </a:p>
        </p:txBody>
      </p:sp>
      <p:sp>
        <p:nvSpPr>
          <p:cNvPr id="12" name="Text 8"/>
          <p:cNvSpPr/>
          <p:nvPr/>
        </p:nvSpPr>
        <p:spPr>
          <a:xfrm>
            <a:off x="896112" y="3246120"/>
            <a:ext cx="3008376" cy="777240"/>
          </a:xfrm>
          <a:prstGeom prst="rect">
            <a:avLst/>
          </a:prstGeom>
          <a:noFill/>
          <a:ln/>
        </p:spPr>
        <p:txBody>
          <a:bodyPr wrap="square" lIns="0" tIns="0" rIns="0" bIns="0" rtlCol="0" anchor="t"/>
          <a:lstStyle/>
          <a:p>
            <a:pPr indent="0" marL="0">
              <a:buNone/>
            </a:pPr>
            <a:r>
              <a:rPr lang="en-US" sz="1550" b="1" dirty="0">
                <a:solidFill>
                  <a:srgbClr val="F1F4F7"/>
                </a:solidFill>
                <a:latin typeface="Arial" pitchFamily="34" charset="0"/>
                <a:ea typeface="Arial" pitchFamily="34" charset="-122"/>
                <a:cs typeface="Arial" pitchFamily="34" charset="-120"/>
              </a:rPr>
              <a:t>Microsoft 365 · Power Apps on Teams</a:t>
            </a:r>
            <a:endParaRPr lang="en-US" sz="1550" dirty="0"/>
          </a:p>
        </p:txBody>
      </p:sp>
      <p:sp>
        <p:nvSpPr>
          <p:cNvPr id="13" name="Text 9"/>
          <p:cNvSpPr/>
          <p:nvPr/>
        </p:nvSpPr>
        <p:spPr>
          <a:xfrm>
            <a:off x="896112" y="4114800"/>
            <a:ext cx="3008376" cy="1143000"/>
          </a:xfrm>
          <a:prstGeom prst="rect">
            <a:avLst/>
          </a:prstGeom>
          <a:noFill/>
          <a:ln/>
        </p:spPr>
        <p:txBody>
          <a:bodyPr wrap="square" lIns="0" tIns="0" rIns="0" bIns="0" rtlCol="0" anchor="t"/>
          <a:lstStyle/>
          <a:p>
            <a:pPr indent="0" marL="0">
              <a:buNone/>
            </a:pPr>
            <a:r>
              <a:rPr lang="en-US" sz="1150" dirty="0">
                <a:solidFill>
                  <a:srgbClr val="B6C0CB"/>
                </a:solidFill>
                <a:latin typeface="Calibri" pitchFamily="34" charset="0"/>
                <a:ea typeface="Calibri" pitchFamily="34" charset="-122"/>
                <a:cs typeface="Calibri" pitchFamily="34" charset="-120"/>
              </a:rPr>
              <a:t>Move from the demo to Power Apps inside Teams, on a live shared database — so it's multi-user, real-time and inside the tools the squadron already runs.</a:t>
            </a:r>
            <a:endParaRPr lang="en-US" sz="1150" dirty="0"/>
          </a:p>
        </p:txBody>
      </p:sp>
      <p:sp>
        <p:nvSpPr>
          <p:cNvPr id="14" name="Shape 10"/>
          <p:cNvSpPr/>
          <p:nvPr/>
        </p:nvSpPr>
        <p:spPr>
          <a:xfrm>
            <a:off x="4416552" y="2331720"/>
            <a:ext cx="3520440" cy="3063240"/>
          </a:xfrm>
          <a:prstGeom prst="roundRect">
            <a:avLst>
              <a:gd name="adj" fmla="val 3284"/>
            </a:avLst>
          </a:prstGeom>
          <a:solidFill>
            <a:srgbClr val="14181D"/>
          </a:solidFill>
          <a:ln w="12700">
            <a:solidFill>
              <a:srgbClr val="2A313A"/>
            </a:solidFill>
            <a:prstDash val="solid"/>
          </a:ln>
        </p:spPr>
      </p:sp>
      <p:sp>
        <p:nvSpPr>
          <p:cNvPr id="15" name="Shape 11"/>
          <p:cNvSpPr/>
          <p:nvPr/>
        </p:nvSpPr>
        <p:spPr>
          <a:xfrm>
            <a:off x="4672584" y="2606040"/>
            <a:ext cx="457200" cy="457200"/>
          </a:xfrm>
          <a:prstGeom prst="ellipse">
            <a:avLst/>
          </a:prstGeom>
          <a:solidFill>
            <a:srgbClr val="1A1F26"/>
          </a:solidFill>
          <a:ln w="19050">
            <a:solidFill>
              <a:srgbClr val="3BD07A"/>
            </a:solidFill>
            <a:prstDash val="solid"/>
          </a:ln>
        </p:spPr>
      </p:sp>
      <p:sp>
        <p:nvSpPr>
          <p:cNvPr id="16" name="Text 12"/>
          <p:cNvSpPr/>
          <p:nvPr/>
        </p:nvSpPr>
        <p:spPr>
          <a:xfrm>
            <a:off x="4672584" y="2606040"/>
            <a:ext cx="457200" cy="457200"/>
          </a:xfrm>
          <a:prstGeom prst="rect">
            <a:avLst/>
          </a:prstGeom>
          <a:noFill/>
          <a:ln/>
        </p:spPr>
        <p:txBody>
          <a:bodyPr wrap="square" lIns="0" tIns="0" rIns="0" bIns="0" rtlCol="0" anchor="ctr"/>
          <a:lstStyle/>
          <a:p>
            <a:pPr algn="ctr" indent="0" marL="0">
              <a:buNone/>
            </a:pPr>
            <a:r>
              <a:rPr lang="en-US" sz="1600" b="1" dirty="0">
                <a:solidFill>
                  <a:srgbClr val="3BD07A"/>
                </a:solidFill>
                <a:latin typeface="Arial" pitchFamily="34" charset="0"/>
                <a:ea typeface="Arial" pitchFamily="34" charset="-122"/>
                <a:cs typeface="Arial" pitchFamily="34" charset="-120"/>
              </a:rPr>
              <a:t>2</a:t>
            </a:r>
            <a:endParaRPr lang="en-US" sz="1600" dirty="0"/>
          </a:p>
        </p:txBody>
      </p:sp>
      <p:sp>
        <p:nvSpPr>
          <p:cNvPr id="17" name="Text 13"/>
          <p:cNvSpPr/>
          <p:nvPr/>
        </p:nvSpPr>
        <p:spPr>
          <a:xfrm>
            <a:off x="4672584" y="3246120"/>
            <a:ext cx="3008376" cy="777240"/>
          </a:xfrm>
          <a:prstGeom prst="rect">
            <a:avLst/>
          </a:prstGeom>
          <a:noFill/>
          <a:ln/>
        </p:spPr>
        <p:txBody>
          <a:bodyPr wrap="square" lIns="0" tIns="0" rIns="0" bIns="0" rtlCol="0" anchor="t"/>
          <a:lstStyle/>
          <a:p>
            <a:pPr indent="0" marL="0">
              <a:buNone/>
            </a:pPr>
            <a:r>
              <a:rPr lang="en-US" sz="1550" b="1" dirty="0">
                <a:solidFill>
                  <a:srgbClr val="F1F4F7"/>
                </a:solidFill>
                <a:latin typeface="Arial" pitchFamily="34" charset="0"/>
                <a:ea typeface="Arial" pitchFamily="34" charset="-122"/>
                <a:cs typeface="Arial" pitchFamily="34" charset="-120"/>
              </a:rPr>
              <a:t>Robust &amp; operational</a:t>
            </a:r>
            <a:endParaRPr lang="en-US" sz="1550" dirty="0"/>
          </a:p>
        </p:txBody>
      </p:sp>
      <p:sp>
        <p:nvSpPr>
          <p:cNvPr id="18" name="Text 14"/>
          <p:cNvSpPr/>
          <p:nvPr/>
        </p:nvSpPr>
        <p:spPr>
          <a:xfrm>
            <a:off x="4672584" y="4114800"/>
            <a:ext cx="3008376" cy="1143000"/>
          </a:xfrm>
          <a:prstGeom prst="rect">
            <a:avLst/>
          </a:prstGeom>
          <a:noFill/>
          <a:ln/>
        </p:spPr>
        <p:txBody>
          <a:bodyPr wrap="square" lIns="0" tIns="0" rIns="0" bIns="0" rtlCol="0" anchor="t"/>
          <a:lstStyle/>
          <a:p>
            <a:pPr indent="0" marL="0">
              <a:buNone/>
            </a:pPr>
            <a:r>
              <a:rPr lang="en-US" sz="1150" dirty="0">
                <a:solidFill>
                  <a:srgbClr val="B6C0CB"/>
                </a:solidFill>
                <a:latin typeface="Calibri" pitchFamily="34" charset="0"/>
                <a:ea typeface="Calibri" pitchFamily="34" charset="-122"/>
                <a:cs typeface="Calibri" pitchFamily="34" charset="-120"/>
              </a:rPr>
              <a:t>Extensive testing with the RAID office to prove it stands up to daily operational use — the priority for the next three months.</a:t>
            </a:r>
            <a:endParaRPr lang="en-US" sz="1150" dirty="0"/>
          </a:p>
        </p:txBody>
      </p:sp>
      <p:sp>
        <p:nvSpPr>
          <p:cNvPr id="19" name="Shape 15"/>
          <p:cNvSpPr/>
          <p:nvPr/>
        </p:nvSpPr>
        <p:spPr>
          <a:xfrm>
            <a:off x="8193024" y="2331720"/>
            <a:ext cx="3520440" cy="3063240"/>
          </a:xfrm>
          <a:prstGeom prst="roundRect">
            <a:avLst>
              <a:gd name="adj" fmla="val 3284"/>
            </a:avLst>
          </a:prstGeom>
          <a:solidFill>
            <a:srgbClr val="14181D"/>
          </a:solidFill>
          <a:ln w="12700">
            <a:solidFill>
              <a:srgbClr val="2A313A"/>
            </a:solidFill>
            <a:prstDash val="solid"/>
          </a:ln>
        </p:spPr>
      </p:sp>
      <p:sp>
        <p:nvSpPr>
          <p:cNvPr id="20" name="Shape 16"/>
          <p:cNvSpPr/>
          <p:nvPr/>
        </p:nvSpPr>
        <p:spPr>
          <a:xfrm>
            <a:off x="8449056" y="2606040"/>
            <a:ext cx="457200" cy="457200"/>
          </a:xfrm>
          <a:prstGeom prst="ellipse">
            <a:avLst/>
          </a:prstGeom>
          <a:solidFill>
            <a:srgbClr val="1A1F26"/>
          </a:solidFill>
          <a:ln w="19050">
            <a:solidFill>
              <a:srgbClr val="8A8F3C"/>
            </a:solidFill>
            <a:prstDash val="solid"/>
          </a:ln>
        </p:spPr>
      </p:sp>
      <p:sp>
        <p:nvSpPr>
          <p:cNvPr id="21" name="Text 17"/>
          <p:cNvSpPr/>
          <p:nvPr/>
        </p:nvSpPr>
        <p:spPr>
          <a:xfrm>
            <a:off x="8449056" y="2606040"/>
            <a:ext cx="457200" cy="457200"/>
          </a:xfrm>
          <a:prstGeom prst="rect">
            <a:avLst/>
          </a:prstGeom>
          <a:noFill/>
          <a:ln/>
        </p:spPr>
        <p:txBody>
          <a:bodyPr wrap="square" lIns="0" tIns="0" rIns="0" bIns="0" rtlCol="0" anchor="ctr"/>
          <a:lstStyle/>
          <a:p>
            <a:pPr algn="ctr" indent="0" marL="0">
              <a:buNone/>
            </a:pPr>
            <a:r>
              <a:rPr lang="en-US" sz="1600" b="1" dirty="0">
                <a:solidFill>
                  <a:srgbClr val="8A8F3C"/>
                </a:solidFill>
                <a:latin typeface="Arial" pitchFamily="34" charset="0"/>
                <a:ea typeface="Arial" pitchFamily="34" charset="-122"/>
                <a:cs typeface="Arial" pitchFamily="34" charset="-120"/>
              </a:rPr>
              <a:t>3</a:t>
            </a:r>
            <a:endParaRPr lang="en-US" sz="1600" dirty="0"/>
          </a:p>
        </p:txBody>
      </p:sp>
      <p:sp>
        <p:nvSpPr>
          <p:cNvPr id="22" name="Text 18"/>
          <p:cNvSpPr/>
          <p:nvPr/>
        </p:nvSpPr>
        <p:spPr>
          <a:xfrm>
            <a:off x="8449056" y="3246120"/>
            <a:ext cx="3008376" cy="777240"/>
          </a:xfrm>
          <a:prstGeom prst="rect">
            <a:avLst/>
          </a:prstGeom>
          <a:noFill/>
          <a:ln/>
        </p:spPr>
        <p:txBody>
          <a:bodyPr wrap="square" lIns="0" tIns="0" rIns="0" bIns="0" rtlCol="0" anchor="t"/>
          <a:lstStyle/>
          <a:p>
            <a:pPr indent="0" marL="0">
              <a:buNone/>
            </a:pPr>
            <a:r>
              <a:rPr lang="en-US" sz="1550" b="1" dirty="0">
                <a:solidFill>
                  <a:srgbClr val="F1F4F7"/>
                </a:solidFill>
                <a:latin typeface="Arial" pitchFamily="34" charset="0"/>
                <a:ea typeface="Arial" pitchFamily="34" charset="-122"/>
                <a:cs typeface="Arial" pitchFamily="34" charset="-120"/>
              </a:rPr>
              <a:t>OCU syllabus tracker folds in</a:t>
            </a:r>
            <a:endParaRPr lang="en-US" sz="1550" dirty="0"/>
          </a:p>
        </p:txBody>
      </p:sp>
      <p:sp>
        <p:nvSpPr>
          <p:cNvPr id="23" name="Text 19"/>
          <p:cNvSpPr/>
          <p:nvPr/>
        </p:nvSpPr>
        <p:spPr>
          <a:xfrm>
            <a:off x="8449056" y="4114800"/>
            <a:ext cx="3008376" cy="1143000"/>
          </a:xfrm>
          <a:prstGeom prst="rect">
            <a:avLst/>
          </a:prstGeom>
          <a:noFill/>
          <a:ln/>
        </p:spPr>
        <p:txBody>
          <a:bodyPr wrap="square" lIns="0" tIns="0" rIns="0" bIns="0" rtlCol="0" anchor="t"/>
          <a:lstStyle/>
          <a:p>
            <a:pPr indent="0" marL="0">
              <a:buNone/>
            </a:pPr>
            <a:r>
              <a:rPr lang="en-US" sz="1150" dirty="0">
                <a:solidFill>
                  <a:srgbClr val="B6C0CB"/>
                </a:solidFill>
                <a:latin typeface="Calibri" pitchFamily="34" charset="0"/>
                <a:ea typeface="Calibri" pitchFamily="34" charset="-122"/>
                <a:cs typeface="Calibri" pitchFamily="34" charset="-120"/>
              </a:rPr>
              <a:t>The separate OCU Progress Tracker — every student's path through the syllabus — comes into RAPTOR, so training progress lives beside the programme.</a:t>
            </a:r>
            <a:endParaRPr lang="en-US" sz="1150" dirty="0"/>
          </a:p>
        </p:txBody>
      </p:sp>
      <p:sp>
        <p:nvSpPr>
          <p:cNvPr id="24" name="Text 20"/>
          <p:cNvSpPr/>
          <p:nvPr/>
        </p:nvSpPr>
        <p:spPr>
          <a:xfrm>
            <a:off x="640080" y="5715000"/>
            <a:ext cx="10881360" cy="457200"/>
          </a:xfrm>
          <a:prstGeom prst="rect">
            <a:avLst/>
          </a:prstGeom>
          <a:noFill/>
          <a:ln/>
        </p:spPr>
        <p:txBody>
          <a:bodyPr wrap="square" lIns="0" tIns="0" rIns="0" bIns="0" rtlCol="0" anchor="ctr"/>
          <a:lstStyle/>
          <a:p>
            <a:pPr algn="ctr" indent="0" marL="0">
              <a:buNone/>
            </a:pPr>
            <a:r>
              <a:rPr lang="en-US" sz="1250" i="1" dirty="0">
                <a:solidFill>
                  <a:srgbClr val="8A96A3"/>
                </a:solidFill>
                <a:latin typeface="Calibri" pitchFamily="34" charset="0"/>
                <a:ea typeface="Calibri" pitchFamily="34" charset="-122"/>
                <a:cs typeface="Calibri" pitchFamily="34" charset="-120"/>
              </a:rPr>
              <a:t>Built with AI over 500+ rounds of testing and correction, behind six automated quality gates — the same discipline that carries into the RAID-office hardening.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10"/>
        </a:solidFill>
      </p:bgPr>
    </p:bg>
    <p:spTree>
      <p:nvGrpSpPr>
        <p:cNvPr id="1" name=""/>
        <p:cNvGrpSpPr/>
        <p:nvPr/>
      </p:nvGrpSpPr>
      <p:grpSpPr>
        <a:xfrm>
          <a:off x="0" y="0"/>
          <a:ext cx="0" cy="0"/>
          <a:chOff x="0" y="0"/>
          <a:chExt cx="0" cy="0"/>
        </a:xfrm>
      </p:grpSpPr>
      <p:sp>
        <p:nvSpPr>
          <p:cNvPr id="2" name="Shape 0"/>
          <p:cNvSpPr/>
          <p:nvPr/>
        </p:nvSpPr>
        <p:spPr>
          <a:xfrm>
            <a:off x="0" y="0"/>
            <a:ext cx="12188952" cy="2103120"/>
          </a:xfrm>
          <a:prstGeom prst="rect">
            <a:avLst/>
          </a:prstGeom>
          <a:solidFill>
            <a:srgbClr val="0E1116"/>
          </a:solidFill>
          <a:ln/>
        </p:spPr>
      </p:sp>
      <p:sp>
        <p:nvSpPr>
          <p:cNvPr id="3" name="Shape 1"/>
          <p:cNvSpPr/>
          <p:nvPr/>
        </p:nvSpPr>
        <p:spPr>
          <a:xfrm>
            <a:off x="8165592" y="2377440"/>
            <a:ext cx="6035040" cy="6035040"/>
          </a:xfrm>
          <a:prstGeom prst="ellipse">
            <a:avLst/>
          </a:prstGeom>
          <a:ln w="12700">
            <a:solidFill>
              <a:srgbClr val="2A313A"/>
            </a:solidFill>
            <a:prstDash val="solid"/>
          </a:ln>
        </p:spPr>
      </p:sp>
      <p:sp>
        <p:nvSpPr>
          <p:cNvPr id="4" name="Shape 2"/>
          <p:cNvSpPr/>
          <p:nvPr/>
        </p:nvSpPr>
        <p:spPr>
          <a:xfrm>
            <a:off x="9079992" y="3291840"/>
            <a:ext cx="4114800" cy="4114800"/>
          </a:xfrm>
          <a:prstGeom prst="ellipse">
            <a:avLst/>
          </a:prstGeom>
          <a:ln w="12700">
            <a:solidFill>
              <a:srgbClr val="2A313A"/>
            </a:solidFill>
            <a:prstDash val="solid"/>
          </a:ln>
        </p:spPr>
      </p:sp>
      <p:sp>
        <p:nvSpPr>
          <p:cNvPr id="5" name="Shape 3"/>
          <p:cNvSpPr/>
          <p:nvPr/>
        </p:nvSpPr>
        <p:spPr>
          <a:xfrm>
            <a:off x="9857232" y="4114800"/>
            <a:ext cx="2560320" cy="2560320"/>
          </a:xfrm>
          <a:prstGeom prst="ellipse">
            <a:avLst/>
          </a:prstGeom>
          <a:ln w="12700">
            <a:solidFill>
              <a:srgbClr val="2E7F94">
                <a:alpha val="65000"/>
              </a:srgbClr>
            </a:solidFill>
            <a:prstDash val="solid"/>
          </a:ln>
        </p:spPr>
      </p:sp>
      <p:pic>
        <p:nvPicPr>
          <p:cNvPr id="6" name="Image 0" descr="preencoded.png">    </p:cNvPr>
          <p:cNvPicPr>
            <a:picLocks noChangeAspect="1"/>
          </p:cNvPicPr>
          <p:nvPr/>
        </p:nvPicPr>
        <p:blipFill>
          <a:blip r:embed="rId1"/>
          <a:stretch>
            <a:fillRect/>
          </a:stretch>
        </p:blipFill>
        <p:spPr>
          <a:xfrm>
            <a:off x="658368" y="731520"/>
            <a:ext cx="566928" cy="566928"/>
          </a:xfrm>
          <a:prstGeom prst="rect">
            <a:avLst/>
          </a:prstGeom>
        </p:spPr>
      </p:pic>
      <p:sp>
        <p:nvSpPr>
          <p:cNvPr id="7" name="Text 4"/>
          <p:cNvSpPr/>
          <p:nvPr/>
        </p:nvSpPr>
        <p:spPr>
          <a:xfrm>
            <a:off x="1417320" y="749808"/>
            <a:ext cx="5486400" cy="502920"/>
          </a:xfrm>
          <a:prstGeom prst="rect">
            <a:avLst/>
          </a:prstGeom>
          <a:noFill/>
          <a:ln/>
        </p:spPr>
        <p:txBody>
          <a:bodyPr wrap="square" lIns="0" tIns="0" rIns="0" bIns="0" rtlCol="0" anchor="ctr"/>
          <a:lstStyle/>
          <a:p>
            <a:pPr indent="0" marL="0">
              <a:buNone/>
            </a:pPr>
            <a:r>
              <a:rPr lang="en-US" sz="2200" b="1" spc="300" kern="0" dirty="0">
                <a:solidFill>
                  <a:srgbClr val="F1F4F7"/>
                </a:solidFill>
                <a:latin typeface="Arial" pitchFamily="34" charset="0"/>
                <a:ea typeface="Arial" pitchFamily="34" charset="-122"/>
                <a:cs typeface="Arial" pitchFamily="34" charset="-120"/>
              </a:rPr>
              <a:t>RAPTOR</a:t>
            </a:r>
            <a:endParaRPr lang="en-US" sz="2200" dirty="0"/>
          </a:p>
        </p:txBody>
      </p:sp>
      <p:sp>
        <p:nvSpPr>
          <p:cNvPr id="8" name="Text 5"/>
          <p:cNvSpPr/>
          <p:nvPr/>
        </p:nvSpPr>
        <p:spPr>
          <a:xfrm>
            <a:off x="658368" y="2514600"/>
            <a:ext cx="8229600" cy="1645920"/>
          </a:xfrm>
          <a:prstGeom prst="rect">
            <a:avLst/>
          </a:prstGeom>
          <a:noFill/>
          <a:ln/>
        </p:spPr>
        <p:txBody>
          <a:bodyPr wrap="square" lIns="0" tIns="0" rIns="0" bIns="0" rtlCol="0" anchor="ctr"/>
          <a:lstStyle/>
          <a:p>
            <a:pPr indent="0" marL="0">
              <a:lnSpc>
                <a:spcPct val="102000"/>
              </a:lnSpc>
              <a:buNone/>
            </a:pPr>
            <a:r>
              <a:rPr lang="en-US" sz="5000" b="1" dirty="0">
                <a:solidFill>
                  <a:srgbClr val="F1F4F7"/>
                </a:solidFill>
                <a:latin typeface="Arial" pitchFamily="34" charset="0"/>
                <a:ea typeface="Arial" pitchFamily="34" charset="-122"/>
                <a:cs typeface="Arial" pitchFamily="34" charset="-120"/>
              </a:rPr>
              <a:t>One squadron.
</a:t>
            </a:r>
            <a:pPr indent="0" marL="0">
              <a:lnSpc>
                <a:spcPct val="102000"/>
              </a:lnSpc>
              <a:buNone/>
            </a:pPr>
            <a:r>
              <a:rPr lang="en-US" sz="5000" b="1" dirty="0">
                <a:solidFill>
                  <a:srgbClr val="3BC6E8"/>
                </a:solidFill>
                <a:latin typeface="Arial" pitchFamily="34" charset="0"/>
                <a:ea typeface="Arial" pitchFamily="34" charset="-122"/>
                <a:cs typeface="Arial" pitchFamily="34" charset="-120"/>
              </a:rPr>
              <a:t>One source of truth.</a:t>
            </a:r>
            <a:endParaRPr lang="en-US" sz="5000" dirty="0"/>
          </a:p>
        </p:txBody>
      </p:sp>
      <p:sp>
        <p:nvSpPr>
          <p:cNvPr id="9" name="Text 6"/>
          <p:cNvSpPr/>
          <p:nvPr/>
        </p:nvSpPr>
        <p:spPr>
          <a:xfrm>
            <a:off x="685800" y="4297680"/>
            <a:ext cx="7498080" cy="822960"/>
          </a:xfrm>
          <a:prstGeom prst="rect">
            <a:avLst/>
          </a:prstGeom>
          <a:noFill/>
          <a:ln/>
        </p:spPr>
        <p:txBody>
          <a:bodyPr wrap="square" lIns="0" tIns="0" rIns="0" bIns="0" rtlCol="0" anchor="ctr"/>
          <a:lstStyle/>
          <a:p>
            <a:pPr indent="0" marL="0">
              <a:buNone/>
            </a:pPr>
            <a:r>
              <a:rPr lang="en-US" sz="1600" dirty="0">
                <a:solidFill>
                  <a:srgbClr val="B6C0CB"/>
                </a:solidFill>
                <a:latin typeface="Calibri" pitchFamily="34" charset="0"/>
                <a:ea typeface="Calibri" pitchFamily="34" charset="-122"/>
                <a:cs typeface="Calibri" pitchFamily="34" charset="-120"/>
              </a:rPr>
              <a:t>The programme, the crew, the rules and the manpower — planned, checked and synced in one place. A wingman that catches the mistake before it flies.</a:t>
            </a:r>
            <a:endParaRPr lang="en-US" sz="1600" dirty="0"/>
          </a:p>
        </p:txBody>
      </p:sp>
      <p:sp>
        <p:nvSpPr>
          <p:cNvPr id="10" name="Shape 7"/>
          <p:cNvSpPr/>
          <p:nvPr/>
        </p:nvSpPr>
        <p:spPr>
          <a:xfrm>
            <a:off x="685800" y="5349240"/>
            <a:ext cx="3200400" cy="868680"/>
          </a:xfrm>
          <a:prstGeom prst="roundRect">
            <a:avLst>
              <a:gd name="adj" fmla="val 10526"/>
            </a:avLst>
          </a:prstGeom>
          <a:solidFill>
            <a:srgbClr val="14181D"/>
          </a:solidFill>
          <a:ln w="19050">
            <a:solidFill>
              <a:srgbClr val="3BC6E8"/>
            </a:solidFill>
            <a:prstDash val="solid"/>
          </a:ln>
        </p:spPr>
      </p:sp>
      <p:sp>
        <p:nvSpPr>
          <p:cNvPr id="11" name="Text 8"/>
          <p:cNvSpPr/>
          <p:nvPr/>
        </p:nvSpPr>
        <p:spPr>
          <a:xfrm>
            <a:off x="914400" y="5468112"/>
            <a:ext cx="2743200" cy="320040"/>
          </a:xfrm>
          <a:prstGeom prst="rect">
            <a:avLst/>
          </a:prstGeom>
          <a:noFill/>
          <a:ln/>
        </p:spPr>
        <p:txBody>
          <a:bodyPr wrap="square" lIns="0" tIns="0" rIns="0" bIns="0" rtlCol="0" anchor="ctr"/>
          <a:lstStyle/>
          <a:p>
            <a:pPr indent="0" marL="0">
              <a:buNone/>
            </a:pPr>
            <a:r>
              <a:rPr lang="en-US" sz="1600" b="1" dirty="0">
                <a:solidFill>
                  <a:srgbClr val="F1F4F7"/>
                </a:solidFill>
                <a:latin typeface="Arial" pitchFamily="34" charset="0"/>
                <a:ea typeface="Arial" pitchFamily="34" charset="-122"/>
                <a:cs typeface="Arial" pitchFamily="34" charset="-120"/>
              </a:rPr>
              <a:t>142 SQN</a:t>
            </a:r>
            <a:endParaRPr lang="en-US" sz="1600" dirty="0"/>
          </a:p>
        </p:txBody>
      </p:sp>
      <p:sp>
        <p:nvSpPr>
          <p:cNvPr id="12" name="Text 9"/>
          <p:cNvSpPr/>
          <p:nvPr/>
        </p:nvSpPr>
        <p:spPr>
          <a:xfrm>
            <a:off x="914400" y="5797296"/>
            <a:ext cx="2834640" cy="320040"/>
          </a:xfrm>
          <a:prstGeom prst="rect">
            <a:avLst/>
          </a:prstGeom>
          <a:noFill/>
          <a:ln/>
        </p:spPr>
        <p:txBody>
          <a:bodyPr wrap="square" lIns="0" tIns="0" rIns="0" bIns="0" rtlCol="0" anchor="ctr"/>
          <a:lstStyle/>
          <a:p>
            <a:pPr indent="0" marL="0">
              <a:buNone/>
            </a:pPr>
            <a:r>
              <a:rPr lang="en-US" sz="1100" dirty="0">
                <a:solidFill>
                  <a:srgbClr val="8A96A3"/>
                </a:solidFill>
                <a:latin typeface="Calibri" pitchFamily="34" charset="0"/>
                <a:ea typeface="Calibri" pitchFamily="34" charset="-122"/>
                <a:cs typeface="Calibri" pitchFamily="34" charset="-120"/>
              </a:rPr>
              <a:t>now → 3 months, with RAID office</a:t>
            </a:r>
            <a:endParaRPr lang="en-US" sz="1100" dirty="0"/>
          </a:p>
        </p:txBody>
      </p:sp>
      <p:sp>
        <p:nvSpPr>
          <p:cNvPr id="13" name="Text 10"/>
          <p:cNvSpPr/>
          <p:nvPr/>
        </p:nvSpPr>
        <p:spPr>
          <a:xfrm>
            <a:off x="3886200" y="5349240"/>
            <a:ext cx="548640" cy="868680"/>
          </a:xfrm>
          <a:prstGeom prst="rect">
            <a:avLst/>
          </a:prstGeom>
          <a:noFill/>
          <a:ln/>
        </p:spPr>
        <p:txBody>
          <a:bodyPr wrap="square" lIns="0" tIns="0" rIns="0" bIns="0" rtlCol="0" anchor="ctr"/>
          <a:lstStyle/>
          <a:p>
            <a:pPr algn="ctr" indent="0" marL="0">
              <a:buNone/>
            </a:pPr>
            <a:r>
              <a:rPr lang="en-US" sz="2000" b="1" dirty="0">
                <a:solidFill>
                  <a:srgbClr val="8A96A3"/>
                </a:solidFill>
                <a:latin typeface="Arial" pitchFamily="34" charset="0"/>
                <a:ea typeface="Arial" pitchFamily="34" charset="-122"/>
                <a:cs typeface="Arial" pitchFamily="34" charset="-120"/>
              </a:rPr>
              <a:t>→</a:t>
            </a:r>
            <a:endParaRPr lang="en-US" sz="2000" dirty="0"/>
          </a:p>
        </p:txBody>
      </p:sp>
      <p:sp>
        <p:nvSpPr>
          <p:cNvPr id="14" name="Shape 11"/>
          <p:cNvSpPr/>
          <p:nvPr/>
        </p:nvSpPr>
        <p:spPr>
          <a:xfrm>
            <a:off x="4434840" y="5349240"/>
            <a:ext cx="3200400" cy="868680"/>
          </a:xfrm>
          <a:prstGeom prst="roundRect">
            <a:avLst>
              <a:gd name="adj" fmla="val 10526"/>
            </a:avLst>
          </a:prstGeom>
          <a:solidFill>
            <a:srgbClr val="14181D"/>
          </a:solidFill>
          <a:ln w="12700">
            <a:solidFill>
              <a:srgbClr val="2A313A"/>
            </a:solidFill>
            <a:prstDash val="solid"/>
          </a:ln>
        </p:spPr>
      </p:sp>
      <p:sp>
        <p:nvSpPr>
          <p:cNvPr id="15" name="Text 12"/>
          <p:cNvSpPr/>
          <p:nvPr/>
        </p:nvSpPr>
        <p:spPr>
          <a:xfrm>
            <a:off x="4663440" y="5468112"/>
            <a:ext cx="2743200" cy="320040"/>
          </a:xfrm>
          <a:prstGeom prst="rect">
            <a:avLst/>
          </a:prstGeom>
          <a:noFill/>
          <a:ln/>
        </p:spPr>
        <p:txBody>
          <a:bodyPr wrap="square" lIns="0" tIns="0" rIns="0" bIns="0" rtlCol="0" anchor="ctr"/>
          <a:lstStyle/>
          <a:p>
            <a:pPr indent="0" marL="0">
              <a:buNone/>
            </a:pPr>
            <a:r>
              <a:rPr lang="en-US" sz="1600" b="1" dirty="0">
                <a:solidFill>
                  <a:srgbClr val="B6C0CB"/>
                </a:solidFill>
                <a:latin typeface="Arial" pitchFamily="34" charset="0"/>
                <a:ea typeface="Arial" pitchFamily="34" charset="-122"/>
                <a:cs typeface="Arial" pitchFamily="34" charset="-120"/>
              </a:rPr>
              <a:t>149 SQN</a:t>
            </a:r>
            <a:endParaRPr lang="en-US" sz="1600" dirty="0"/>
          </a:p>
        </p:txBody>
      </p:sp>
      <p:sp>
        <p:nvSpPr>
          <p:cNvPr id="16" name="Text 13"/>
          <p:cNvSpPr/>
          <p:nvPr/>
        </p:nvSpPr>
        <p:spPr>
          <a:xfrm>
            <a:off x="4663440" y="5797296"/>
            <a:ext cx="2834640" cy="320040"/>
          </a:xfrm>
          <a:prstGeom prst="rect">
            <a:avLst/>
          </a:prstGeom>
          <a:noFill/>
          <a:ln/>
        </p:spPr>
        <p:txBody>
          <a:bodyPr wrap="square" lIns="0" tIns="0" rIns="0" bIns="0" rtlCol="0" anchor="ctr"/>
          <a:lstStyle/>
          <a:p>
            <a:pPr indent="0" marL="0">
              <a:buNone/>
            </a:pPr>
            <a:r>
              <a:rPr lang="en-US" sz="1100" dirty="0">
                <a:solidFill>
                  <a:srgbClr val="8A96A3"/>
                </a:solidFill>
                <a:latin typeface="Calibri" pitchFamily="34" charset="0"/>
                <a:ea typeface="Calibri" pitchFamily="34" charset="-122"/>
                <a:cs typeface="Calibri" pitchFamily="34" charset="-120"/>
              </a:rPr>
              <a:t>once proven</a:t>
            </a:r>
            <a:endParaRPr lang="en-US" sz="1100" dirty="0"/>
          </a:p>
        </p:txBody>
      </p:sp>
      <p:sp>
        <p:nvSpPr>
          <p:cNvPr id="17" name="Text 14"/>
          <p:cNvSpPr/>
          <p:nvPr/>
        </p:nvSpPr>
        <p:spPr>
          <a:xfrm>
            <a:off x="7635240" y="5349240"/>
            <a:ext cx="548640" cy="868680"/>
          </a:xfrm>
          <a:prstGeom prst="rect">
            <a:avLst/>
          </a:prstGeom>
          <a:noFill/>
          <a:ln/>
        </p:spPr>
        <p:txBody>
          <a:bodyPr wrap="square" lIns="0" tIns="0" rIns="0" bIns="0" rtlCol="0" anchor="ctr"/>
          <a:lstStyle/>
          <a:p>
            <a:pPr algn="ctr" indent="0" marL="0">
              <a:buNone/>
            </a:pPr>
            <a:r>
              <a:rPr lang="en-US" sz="2000" b="1" dirty="0">
                <a:solidFill>
                  <a:srgbClr val="8A96A3"/>
                </a:solidFill>
                <a:latin typeface="Arial" pitchFamily="34" charset="0"/>
                <a:ea typeface="Arial" pitchFamily="34" charset="-122"/>
                <a:cs typeface="Arial" pitchFamily="34" charset="-120"/>
              </a:rPr>
              <a:t>→</a:t>
            </a:r>
            <a:endParaRPr lang="en-US" sz="2000" dirty="0"/>
          </a:p>
        </p:txBody>
      </p:sp>
      <p:sp>
        <p:nvSpPr>
          <p:cNvPr id="18" name="Shape 15"/>
          <p:cNvSpPr/>
          <p:nvPr/>
        </p:nvSpPr>
        <p:spPr>
          <a:xfrm>
            <a:off x="8183880" y="5349240"/>
            <a:ext cx="3200400" cy="868680"/>
          </a:xfrm>
          <a:prstGeom prst="roundRect">
            <a:avLst>
              <a:gd name="adj" fmla="val 10526"/>
            </a:avLst>
          </a:prstGeom>
          <a:solidFill>
            <a:srgbClr val="14181D"/>
          </a:solidFill>
          <a:ln w="12700">
            <a:solidFill>
              <a:srgbClr val="2A313A"/>
            </a:solidFill>
            <a:prstDash val="solid"/>
          </a:ln>
        </p:spPr>
      </p:sp>
      <p:sp>
        <p:nvSpPr>
          <p:cNvPr id="19" name="Text 16"/>
          <p:cNvSpPr/>
          <p:nvPr/>
        </p:nvSpPr>
        <p:spPr>
          <a:xfrm>
            <a:off x="8412480" y="5468112"/>
            <a:ext cx="2743200" cy="320040"/>
          </a:xfrm>
          <a:prstGeom prst="rect">
            <a:avLst/>
          </a:prstGeom>
          <a:noFill/>
          <a:ln/>
        </p:spPr>
        <p:txBody>
          <a:bodyPr wrap="square" lIns="0" tIns="0" rIns="0" bIns="0" rtlCol="0" anchor="ctr"/>
          <a:lstStyle/>
          <a:p>
            <a:pPr indent="0" marL="0">
              <a:buNone/>
            </a:pPr>
            <a:r>
              <a:rPr lang="en-US" sz="1600" b="1" dirty="0">
                <a:solidFill>
                  <a:srgbClr val="B6C0CB"/>
                </a:solidFill>
                <a:latin typeface="Arial" pitchFamily="34" charset="0"/>
                <a:ea typeface="Arial" pitchFamily="34" charset="-122"/>
                <a:cs typeface="Arial" pitchFamily="34" charset="-120"/>
              </a:rPr>
              <a:t>FG</a:t>
            </a:r>
            <a:endParaRPr lang="en-US" sz="1600" dirty="0"/>
          </a:p>
        </p:txBody>
      </p:sp>
      <p:sp>
        <p:nvSpPr>
          <p:cNvPr id="20" name="Text 17"/>
          <p:cNvSpPr/>
          <p:nvPr/>
        </p:nvSpPr>
        <p:spPr>
          <a:xfrm>
            <a:off x="8412480" y="5797296"/>
            <a:ext cx="2834640" cy="320040"/>
          </a:xfrm>
          <a:prstGeom prst="rect">
            <a:avLst/>
          </a:prstGeom>
          <a:noFill/>
          <a:ln/>
        </p:spPr>
        <p:txBody>
          <a:bodyPr wrap="square" lIns="0" tIns="0" rIns="0" bIns="0" rtlCol="0" anchor="ctr"/>
          <a:lstStyle/>
          <a:p>
            <a:pPr indent="0" marL="0">
              <a:buNone/>
            </a:pPr>
            <a:r>
              <a:rPr lang="en-US" sz="1100" dirty="0">
                <a:solidFill>
                  <a:srgbClr val="8A96A3"/>
                </a:solidFill>
                <a:latin typeface="Calibri" pitchFamily="34" charset="0"/>
                <a:ea typeface="Calibri" pitchFamily="34" charset="-122"/>
                <a:cs typeface="Calibri" pitchFamily="34" charset="-120"/>
              </a:rPr>
              <a:t>potential wider roll-out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2026-08-24T04:05:33Z</dcterms:created>
  <dcterms:modified xsi:type="dcterms:W3CDTF">2026-08-24T04:05:33Z</dcterms:modified>
</cp:coreProperties>
</file>