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RAPTOR — Readiness, Availability, Planning, Tracking and Ops Reporting — is 142 Squadron's operations planner. The idea in one line: it's the wingman in the planning room. It holds the flying programme, the crew, the rules and the manpower picture in one place, and it backs the planner up the moment something doesn't add up. It works on a desktop and on a phone, and it's live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problem. Everything a squadron plans against sits in a different place — the programme in one spreadsheet, leave over chat, medical certs in email, up-chits on paper, quals in another sheet, student progress in yet another tool. The same fact gets entered again and again, and mistakes slip through because nothing is joined up. RAPTOR pulls all of it into one application — enter a fact once, and everyone sees the same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wingman half of RAPTOR. The moment a line changes, the engine re-checks the whole day and flags what breaks the rules — every example here is real, from the app: a crew-rest breach with the maths done for you; double-bookings across sorties, sims, duties and meetings; someone medically down still on a flying line; a flight whose brief window is eaten by a meeting; and an illegal crew combination — an OCU student paired without the authorised crew. Red for a hard breach, amber for a tight advisory — but the planner stays in command; nothing is silently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Placing crew is where the rules engine meets the roster. The available-crew placeholders on the right of the schedule show exactly who is free, striking out anyone already flying, on duty or on leave. Click a crew member and every slot they could legally fill lights up green. Select a puck and that person is highlighted across the whole week — easy to read where they are, day by day. And if you override and place someone anyway, the breach is flagged right on the puck.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commanders usually ask next. First — the flag lands where the decision is: here an OCU student has been crewed without the authorised pairing, and both pucks ring red on the board itself, with the reason written in plain English underneath. Second — the rules aren't a black box. The Logic tab lists all 58 rules the engine applies, in plain English, shows which ones fired this week, and the numbers — crew-rest hours, brief lead, report time — are squadron-editable right on the page. Policy changes don't need a programmer.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personal is filed in one place — the Inputs page. Leave types, medical statuses like ATT C and OML, off-days, appointments, even 'fly with' requests — each with its dates and remarks, and late filings visibly marked. People can screenshot their approved leave application or their medical cert and upload it right here, instead of re-filling forms. The app reminds anyone due an up-chit who hasn't got one. And the month calendar view lays every input out at a glance. Filed once, it syncs to the schedule, the availability palette, the warnings and Leave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War is the manpower half. A whole year, all fifty people, every leave type — green chips approved, purple pending. Above it, the manning counts: management sets the day-to-day floor for each category, and the numbers turn amber, then red, the instant a day drops below the line — with the under-manned days counted in the header. And it's synced both ways with the schedule: approve a bid and it lands on the programme; leave filed on the Inputs page draws the balances down here. Note: some cells on this screenshot carry illustrative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OCU upgrade tracker — already built, and folding into RAPTOR. Today, planning a student means squinting at a paper flow chart, then the syllabus details, then crew pairing rules, then working out the statistics by hand. Here it's one click: the whole syllabus as an interactive flow chart graded per student, with the stats beside it — progress by type, currency and flex, which events are plannable right now, and a forecast of when they should finish. It knows when a student needs an IP and which pairings the syllabus allows — the same rules the schedule flags. The scheduler looks at one screen and plans the student. Once it's inside RAPTOR, that's the one stop shop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was a first-class concern, because a tool only helps if people use it. On a phone it reads top to bottom, stays spacious, and every control is reachable with a thumb. On a desktop it uses the full width — days side by side, the crew palette docked on the right, drag-to-place. Same data, same rules, shaped for whichever screen is in front of the planner.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from here. One: off the demo and onto the squadron's own Microsoft platform — Power Apps inside Teams on a live shared database, genuinely multi-user. Two: robustness — extensive testing with the RAID office over the next three months. Three: the OCU tracker folds in, completing the one stop shop. Then the roll-out: 142 Squadron first, 149 once proven, potentially FG-wide. One squadron, one source of truth — built with AI over more than five hundred rounds of testing, behind six automated quality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0"/>
        </a:solidFill>
      </p:bgPr>
    </p:bg>
    <p:spTree>
      <p:nvGrpSpPr>
        <p:cNvPr id="1" name=""/>
        <p:cNvGrpSpPr/>
        <p:nvPr/>
      </p:nvGrpSpPr>
      <p:grpSpPr>
        <a:xfrm>
          <a:off x="0" y="0"/>
          <a:ext cx="0" cy="0"/>
          <a:chOff x="0" y="0"/>
          <a:chExt cx="0" cy="0"/>
        </a:xfrm>
      </p:grpSpPr>
      <p:sp>
        <p:nvSpPr>
          <p:cNvPr id="2" name="Shape 0"/>
          <p:cNvSpPr/>
          <p:nvPr/>
        </p:nvSpPr>
        <p:spPr>
          <a:xfrm>
            <a:off x="-2194560" y="3383280"/>
            <a:ext cx="6035040" cy="6035040"/>
          </a:xfrm>
          <a:prstGeom prst="ellipse">
            <a:avLst/>
          </a:prstGeom>
          <a:ln w="12700">
            <a:solidFill>
              <a:srgbClr val="2A313A"/>
            </a:solidFill>
            <a:prstDash val="solid"/>
          </a:ln>
        </p:spPr>
      </p:sp>
      <p:sp>
        <p:nvSpPr>
          <p:cNvPr id="3" name="Shape 1"/>
          <p:cNvSpPr/>
          <p:nvPr/>
        </p:nvSpPr>
        <p:spPr>
          <a:xfrm>
            <a:off x="-1188720" y="4389120"/>
            <a:ext cx="4023360" cy="4023360"/>
          </a:xfrm>
          <a:prstGeom prst="ellipse">
            <a:avLst/>
          </a:prstGeom>
          <a:ln w="12700">
            <a:solidFill>
              <a:srgbClr val="2A313A"/>
            </a:solidFill>
            <a:prstDash val="solid"/>
          </a:ln>
        </p:spPr>
      </p:sp>
      <p:sp>
        <p:nvSpPr>
          <p:cNvPr id="4" name="Shape 2"/>
          <p:cNvSpPr/>
          <p:nvPr/>
        </p:nvSpPr>
        <p:spPr>
          <a:xfrm>
            <a:off x="-457200" y="5120640"/>
            <a:ext cx="2560320" cy="2560320"/>
          </a:xfrm>
          <a:prstGeom prst="ellipse">
            <a:avLst/>
          </a:prstGeom>
          <a:ln w="12700">
            <a:solidFill>
              <a:srgbClr val="2E7F94">
                <a:alpha val="60000"/>
              </a:srgbClr>
            </a:solidFill>
            <a:prstDash val="solid"/>
          </a:ln>
        </p:spPr>
      </p:sp>
      <p:pic>
        <p:nvPicPr>
          <p:cNvPr id="5" name="Image 0" descr="preencoded.png">    </p:cNvPr>
          <p:cNvPicPr>
            <a:picLocks noChangeAspect="1"/>
          </p:cNvPicPr>
          <p:nvPr/>
        </p:nvPicPr>
        <p:blipFill>
          <a:blip r:embed="rId1"/>
          <a:stretch>
            <a:fillRect/>
          </a:stretch>
        </p:blipFill>
        <p:spPr>
          <a:xfrm>
            <a:off x="658368" y="603504"/>
            <a:ext cx="749808" cy="749808"/>
          </a:xfrm>
          <a:prstGeom prst="rect">
            <a:avLst/>
          </a:prstGeom>
        </p:spPr>
      </p:pic>
      <p:sp>
        <p:nvSpPr>
          <p:cNvPr id="6" name="Text 3"/>
          <p:cNvSpPr/>
          <p:nvPr/>
        </p:nvSpPr>
        <p:spPr>
          <a:xfrm>
            <a:off x="1572768" y="603504"/>
            <a:ext cx="4572000" cy="320040"/>
          </a:xfrm>
          <a:prstGeom prst="rect">
            <a:avLst/>
          </a:prstGeom>
          <a:noFill/>
          <a:ln/>
        </p:spPr>
        <p:txBody>
          <a:bodyPr wrap="square" lIns="0" tIns="0" rIns="0" bIns="0" rtlCol="0" anchor="ctr"/>
          <a:lstStyle/>
          <a:p>
            <a:pPr indent="0" marL="0">
              <a:buNone/>
            </a:pPr>
            <a:r>
              <a:rPr lang="en-US" sz="1300" b="1" spc="300" kern="0" dirty="0">
                <a:solidFill>
                  <a:srgbClr val="8A96A3"/>
                </a:solidFill>
                <a:latin typeface="Arial" pitchFamily="34" charset="0"/>
                <a:ea typeface="Arial" pitchFamily="34" charset="-122"/>
                <a:cs typeface="Arial" pitchFamily="34" charset="-120"/>
              </a:rPr>
              <a:t>142 · RSAF</a:t>
            </a:r>
            <a:endParaRPr lang="en-US" sz="1300" dirty="0"/>
          </a:p>
        </p:txBody>
      </p:sp>
      <p:sp>
        <p:nvSpPr>
          <p:cNvPr id="7" name="Text 4"/>
          <p:cNvSpPr/>
          <p:nvPr/>
        </p:nvSpPr>
        <p:spPr>
          <a:xfrm>
            <a:off x="1536192" y="896112"/>
            <a:ext cx="5486400" cy="822960"/>
          </a:xfrm>
          <a:prstGeom prst="rect">
            <a:avLst/>
          </a:prstGeom>
          <a:noFill/>
          <a:ln/>
        </p:spPr>
        <p:txBody>
          <a:bodyPr wrap="square" lIns="0" tIns="0" rIns="0" bIns="0" rtlCol="0" anchor="ctr"/>
          <a:lstStyle/>
          <a:p>
            <a:pPr indent="0" marL="0">
              <a:buNone/>
            </a:pPr>
            <a:r>
              <a:rPr lang="en-US" sz="5200" b="1" spc="200" kern="0" dirty="0">
                <a:solidFill>
                  <a:srgbClr val="F1F4F7"/>
                </a:solidFill>
                <a:latin typeface="Arial" pitchFamily="34" charset="0"/>
                <a:ea typeface="Arial" pitchFamily="34" charset="-122"/>
                <a:cs typeface="Arial" pitchFamily="34" charset="-120"/>
              </a:rPr>
              <a:t>RAPTOR</a:t>
            </a:r>
            <a:endParaRPr lang="en-US" sz="5200" dirty="0"/>
          </a:p>
        </p:txBody>
      </p:sp>
      <p:sp>
        <p:nvSpPr>
          <p:cNvPr id="8" name="Text 5"/>
          <p:cNvSpPr/>
          <p:nvPr/>
        </p:nvSpPr>
        <p:spPr>
          <a:xfrm>
            <a:off x="685800" y="2148840"/>
            <a:ext cx="5852160" cy="320040"/>
          </a:xfrm>
          <a:prstGeom prst="rect">
            <a:avLst/>
          </a:prstGeom>
          <a:noFill/>
          <a:ln/>
        </p:spPr>
        <p:txBody>
          <a:bodyPr wrap="square" lIns="0" tIns="0" rIns="0" bIns="0" rtlCol="0" anchor="ctr"/>
          <a:lstStyle/>
          <a:p>
            <a:pPr indent="0" marL="0">
              <a:buNone/>
            </a:pPr>
            <a:r>
              <a:rPr lang="en-US" sz="1450" b="1" spc="100" kern="0" dirty="0">
                <a:solidFill>
                  <a:srgbClr val="3BC6E8"/>
                </a:solidFill>
                <a:latin typeface="Arial" pitchFamily="34" charset="0"/>
                <a:ea typeface="Arial" pitchFamily="34" charset="-122"/>
                <a:cs typeface="Arial" pitchFamily="34" charset="-120"/>
              </a:rPr>
              <a:t>R</a:t>
            </a:r>
            <a:pPr indent="0" marL="0">
              <a:buNone/>
            </a:pPr>
            <a:r>
              <a:rPr lang="en-US" sz="1450" b="1" spc="100" kern="0" dirty="0">
                <a:solidFill>
                  <a:srgbClr val="B6C0CB"/>
                </a:solidFill>
                <a:latin typeface="Arial" pitchFamily="34" charset="0"/>
                <a:ea typeface="Arial" pitchFamily="34" charset="-122"/>
                <a:cs typeface="Arial" pitchFamily="34" charset="-120"/>
              </a:rPr>
              <a:t>EADINESS   </a:t>
            </a:r>
            <a:pPr indent="0" marL="0">
              <a:buNone/>
            </a:pPr>
            <a:r>
              <a:rPr lang="en-US" sz="1450" b="1" spc="100" kern="0" dirty="0">
                <a:solidFill>
                  <a:srgbClr val="3BC6E8"/>
                </a:solidFill>
                <a:latin typeface="Arial" pitchFamily="34" charset="0"/>
                <a:ea typeface="Arial" pitchFamily="34" charset="-122"/>
                <a:cs typeface="Arial" pitchFamily="34" charset="-120"/>
              </a:rPr>
              <a:t>A</a:t>
            </a:r>
            <a:pPr indent="0" marL="0">
              <a:buNone/>
            </a:pPr>
            <a:r>
              <a:rPr lang="en-US" sz="1450" b="1" spc="100" kern="0" dirty="0">
                <a:solidFill>
                  <a:srgbClr val="B6C0CB"/>
                </a:solidFill>
                <a:latin typeface="Arial" pitchFamily="34" charset="0"/>
                <a:ea typeface="Arial" pitchFamily="34" charset="-122"/>
                <a:cs typeface="Arial" pitchFamily="34" charset="-120"/>
              </a:rPr>
              <a:t>VAILABILITY   </a:t>
            </a:r>
            <a:pPr indent="0" marL="0">
              <a:buNone/>
            </a:pPr>
            <a:r>
              <a:rPr lang="en-US" sz="1450" b="1" spc="100" kern="0" dirty="0">
                <a:solidFill>
                  <a:srgbClr val="3BC6E8"/>
                </a:solidFill>
                <a:latin typeface="Arial" pitchFamily="34" charset="0"/>
                <a:ea typeface="Arial" pitchFamily="34" charset="-122"/>
                <a:cs typeface="Arial" pitchFamily="34" charset="-120"/>
              </a:rPr>
              <a:t>P</a:t>
            </a:r>
            <a:pPr indent="0" marL="0">
              <a:buNone/>
            </a:pPr>
            <a:r>
              <a:rPr lang="en-US" sz="1450" b="1" spc="100" kern="0" dirty="0">
                <a:solidFill>
                  <a:srgbClr val="B6C0CB"/>
                </a:solidFill>
                <a:latin typeface="Arial" pitchFamily="34" charset="0"/>
                <a:ea typeface="Arial" pitchFamily="34" charset="-122"/>
                <a:cs typeface="Arial" pitchFamily="34" charset="-120"/>
              </a:rPr>
              <a:t>LANNING</a:t>
            </a:r>
            <a:endParaRPr lang="en-US" sz="1450" dirty="0"/>
          </a:p>
        </p:txBody>
      </p:sp>
      <p:sp>
        <p:nvSpPr>
          <p:cNvPr id="9" name="Text 6"/>
          <p:cNvSpPr/>
          <p:nvPr/>
        </p:nvSpPr>
        <p:spPr>
          <a:xfrm>
            <a:off x="685800" y="2487168"/>
            <a:ext cx="5852160" cy="320040"/>
          </a:xfrm>
          <a:prstGeom prst="rect">
            <a:avLst/>
          </a:prstGeom>
          <a:noFill/>
          <a:ln/>
        </p:spPr>
        <p:txBody>
          <a:bodyPr wrap="square" lIns="0" tIns="0" rIns="0" bIns="0" rtlCol="0" anchor="ctr"/>
          <a:lstStyle/>
          <a:p>
            <a:pPr indent="0" marL="0">
              <a:buNone/>
            </a:pPr>
            <a:r>
              <a:rPr lang="en-US" sz="1450" b="1" spc="100" kern="0" dirty="0">
                <a:solidFill>
                  <a:srgbClr val="3BC6E8"/>
                </a:solidFill>
                <a:latin typeface="Arial" pitchFamily="34" charset="0"/>
                <a:ea typeface="Arial" pitchFamily="34" charset="-122"/>
                <a:cs typeface="Arial" pitchFamily="34" charset="-120"/>
              </a:rPr>
              <a:t>T</a:t>
            </a:r>
            <a:pPr indent="0" marL="0">
              <a:buNone/>
            </a:pPr>
            <a:r>
              <a:rPr lang="en-US" sz="1450" b="1" spc="100" kern="0" dirty="0">
                <a:solidFill>
                  <a:srgbClr val="B6C0CB"/>
                </a:solidFill>
                <a:latin typeface="Arial" pitchFamily="34" charset="0"/>
                <a:ea typeface="Arial" pitchFamily="34" charset="-122"/>
                <a:cs typeface="Arial" pitchFamily="34" charset="-120"/>
              </a:rPr>
              <a:t>RACKING   &amp;   </a:t>
            </a:r>
            <a:pPr indent="0" marL="0">
              <a:buNone/>
            </a:pPr>
            <a:r>
              <a:rPr lang="en-US" sz="1450" b="1" spc="100" kern="0" dirty="0">
                <a:solidFill>
                  <a:srgbClr val="3BC6E8"/>
                </a:solidFill>
                <a:latin typeface="Arial" pitchFamily="34" charset="0"/>
                <a:ea typeface="Arial" pitchFamily="34" charset="-122"/>
                <a:cs typeface="Arial" pitchFamily="34" charset="-120"/>
              </a:rPr>
              <a:t>O</a:t>
            </a:r>
            <a:pPr indent="0" marL="0">
              <a:buNone/>
            </a:pPr>
            <a:r>
              <a:rPr lang="en-US" sz="1450" b="1" spc="100" kern="0" dirty="0">
                <a:solidFill>
                  <a:srgbClr val="B6C0CB"/>
                </a:solidFill>
                <a:latin typeface="Arial" pitchFamily="34" charset="0"/>
                <a:ea typeface="Arial" pitchFamily="34" charset="-122"/>
                <a:cs typeface="Arial" pitchFamily="34" charset="-120"/>
              </a:rPr>
              <a:t>PS   </a:t>
            </a:r>
            <a:pPr indent="0" marL="0">
              <a:buNone/>
            </a:pPr>
            <a:r>
              <a:rPr lang="en-US" sz="1450" b="1" spc="100" kern="0" dirty="0">
                <a:solidFill>
                  <a:srgbClr val="3BC6E8"/>
                </a:solidFill>
                <a:latin typeface="Arial" pitchFamily="34" charset="0"/>
                <a:ea typeface="Arial" pitchFamily="34" charset="-122"/>
                <a:cs typeface="Arial" pitchFamily="34" charset="-120"/>
              </a:rPr>
              <a:t>R</a:t>
            </a:r>
            <a:pPr indent="0" marL="0">
              <a:buNone/>
            </a:pPr>
            <a:r>
              <a:rPr lang="en-US" sz="1450" b="1" spc="100" kern="0" dirty="0">
                <a:solidFill>
                  <a:srgbClr val="B6C0CB"/>
                </a:solidFill>
                <a:latin typeface="Arial" pitchFamily="34" charset="0"/>
                <a:ea typeface="Arial" pitchFamily="34" charset="-122"/>
                <a:cs typeface="Arial" pitchFamily="34" charset="-120"/>
              </a:rPr>
              <a:t>EPORTING</a:t>
            </a:r>
            <a:endParaRPr lang="en-US" sz="1450" dirty="0"/>
          </a:p>
        </p:txBody>
      </p:sp>
      <p:sp>
        <p:nvSpPr>
          <p:cNvPr id="10" name="Text 7"/>
          <p:cNvSpPr/>
          <p:nvPr/>
        </p:nvSpPr>
        <p:spPr>
          <a:xfrm>
            <a:off x="685800" y="3200400"/>
            <a:ext cx="5760720" cy="1280160"/>
          </a:xfrm>
          <a:prstGeom prst="rect">
            <a:avLst/>
          </a:prstGeom>
          <a:noFill/>
          <a:ln/>
        </p:spPr>
        <p:txBody>
          <a:bodyPr wrap="square" lIns="0" tIns="0" rIns="0" bIns="0" rtlCol="0" anchor="ctr"/>
          <a:lstStyle/>
          <a:p>
            <a:pPr indent="0" marL="0">
              <a:lnSpc>
                <a:spcPct val="112000"/>
              </a:lnSpc>
              <a:buNone/>
            </a:pPr>
            <a:r>
              <a:rPr lang="en-US" sz="1900" b="1" dirty="0">
                <a:solidFill>
                  <a:srgbClr val="F1F4F7"/>
                </a:solidFill>
                <a:latin typeface="Calibri" pitchFamily="34" charset="0"/>
                <a:ea typeface="Calibri" pitchFamily="34" charset="-122"/>
                <a:cs typeface="Calibri" pitchFamily="34" charset="-120"/>
              </a:rPr>
              <a:t>Your wingman in the planning room.
</a:t>
            </a:r>
            <a:pPr indent="0" marL="0">
              <a:lnSpc>
                <a:spcPct val="112000"/>
              </a:lnSpc>
              <a:buNone/>
            </a:pPr>
            <a:r>
              <a:rPr lang="en-US" sz="1900" dirty="0">
                <a:solidFill>
                  <a:srgbClr val="B6C0CB"/>
                </a:solidFill>
                <a:latin typeface="Calibri" pitchFamily="34" charset="0"/>
                <a:ea typeface="Calibri" pitchFamily="34" charset="-122"/>
                <a:cs typeface="Calibri" pitchFamily="34" charset="-120"/>
              </a:rPr>
              <a:t>One application for the flying programme, the crew, the rules and the manpower.</a:t>
            </a:r>
            <a:endParaRPr lang="en-US" sz="1900" dirty="0"/>
          </a:p>
        </p:txBody>
      </p:sp>
      <p:sp>
        <p:nvSpPr>
          <p:cNvPr id="11" name="Shape 8"/>
          <p:cNvSpPr/>
          <p:nvPr/>
        </p:nvSpPr>
        <p:spPr>
          <a:xfrm>
            <a:off x="685800" y="4709160"/>
            <a:ext cx="2788920" cy="402336"/>
          </a:xfrm>
          <a:prstGeom prst="roundRect">
            <a:avLst>
              <a:gd name="adj" fmla="val 13636"/>
            </a:avLst>
          </a:prstGeom>
          <a:solidFill>
            <a:srgbClr val="1A1F26"/>
          </a:solidFill>
          <a:ln w="9525">
            <a:solidFill>
              <a:srgbClr val="39424D"/>
            </a:solidFill>
            <a:prstDash val="solid"/>
          </a:ln>
        </p:spPr>
      </p:sp>
      <p:sp>
        <p:nvSpPr>
          <p:cNvPr id="12" name="Shape 9"/>
          <p:cNvSpPr/>
          <p:nvPr/>
        </p:nvSpPr>
        <p:spPr>
          <a:xfrm>
            <a:off x="740664" y="4764024"/>
            <a:ext cx="292608" cy="292608"/>
          </a:xfrm>
          <a:prstGeom prst="roundRect">
            <a:avLst>
              <a:gd name="adj" fmla="val 12500"/>
            </a:avLst>
          </a:prstGeom>
          <a:solidFill>
            <a:srgbClr val="E5A83B"/>
          </a:solidFill>
          <a:ln/>
        </p:spPr>
      </p:sp>
      <p:sp>
        <p:nvSpPr>
          <p:cNvPr id="13" name="Text 10"/>
          <p:cNvSpPr/>
          <p:nvPr/>
        </p:nvSpPr>
        <p:spPr>
          <a:xfrm>
            <a:off x="1106424" y="4709160"/>
            <a:ext cx="2295144" cy="402336"/>
          </a:xfrm>
          <a:prstGeom prst="rect">
            <a:avLst/>
          </a:prstGeom>
          <a:noFill/>
          <a:ln/>
        </p:spPr>
        <p:txBody>
          <a:bodyPr wrap="square" lIns="0" tIns="0" rIns="0" bIns="0" rtlCol="0" anchor="ctr"/>
          <a:lstStyle/>
          <a:p>
            <a:pPr indent="0" marL="0">
              <a:buNone/>
            </a:pPr>
            <a:r>
              <a:rPr lang="en-US" sz="1150" b="1" dirty="0">
                <a:solidFill>
                  <a:srgbClr val="F1F4F7"/>
                </a:solidFill>
                <a:latin typeface="Calibri" pitchFamily="34" charset="0"/>
                <a:ea typeface="Calibri" pitchFamily="34" charset="-122"/>
                <a:cs typeface="Calibri" pitchFamily="34" charset="-120"/>
              </a:rPr>
              <a:t>Application in progress</a:t>
            </a:r>
            <a:endParaRPr lang="en-US" sz="1150" dirty="0"/>
          </a:p>
        </p:txBody>
      </p:sp>
      <p:sp>
        <p:nvSpPr>
          <p:cNvPr id="14" name="Shape 11"/>
          <p:cNvSpPr/>
          <p:nvPr/>
        </p:nvSpPr>
        <p:spPr>
          <a:xfrm>
            <a:off x="3611880" y="4709160"/>
            <a:ext cx="2788920" cy="402336"/>
          </a:xfrm>
          <a:prstGeom prst="roundRect">
            <a:avLst>
              <a:gd name="adj" fmla="val 13636"/>
            </a:avLst>
          </a:prstGeom>
          <a:solidFill>
            <a:srgbClr val="1A1F26"/>
          </a:solidFill>
          <a:ln w="9525">
            <a:solidFill>
              <a:srgbClr val="39424D"/>
            </a:solidFill>
            <a:prstDash val="solid"/>
          </a:ln>
        </p:spPr>
      </p:sp>
      <p:sp>
        <p:nvSpPr>
          <p:cNvPr id="15" name="Shape 12"/>
          <p:cNvSpPr/>
          <p:nvPr/>
        </p:nvSpPr>
        <p:spPr>
          <a:xfrm>
            <a:off x="3666744" y="4764024"/>
            <a:ext cx="292608" cy="292608"/>
          </a:xfrm>
          <a:prstGeom prst="roundRect">
            <a:avLst>
              <a:gd name="adj" fmla="val 12500"/>
            </a:avLst>
          </a:prstGeom>
          <a:solidFill>
            <a:srgbClr val="3BC6E8"/>
          </a:solidFill>
          <a:ln/>
        </p:spPr>
      </p:sp>
      <p:sp>
        <p:nvSpPr>
          <p:cNvPr id="16" name="Text 13"/>
          <p:cNvSpPr/>
          <p:nvPr/>
        </p:nvSpPr>
        <p:spPr>
          <a:xfrm>
            <a:off x="4032504" y="4709160"/>
            <a:ext cx="2295144" cy="402336"/>
          </a:xfrm>
          <a:prstGeom prst="rect">
            <a:avLst/>
          </a:prstGeom>
          <a:noFill/>
          <a:ln/>
        </p:spPr>
        <p:txBody>
          <a:bodyPr wrap="square" lIns="0" tIns="0" rIns="0" bIns="0" rtlCol="0" anchor="ctr"/>
          <a:lstStyle/>
          <a:p>
            <a:pPr indent="0" marL="0">
              <a:buNone/>
            </a:pPr>
            <a:r>
              <a:rPr lang="en-US" sz="1150" b="1" dirty="0">
                <a:solidFill>
                  <a:srgbClr val="F1F4F7"/>
                </a:solidFill>
                <a:latin typeface="Calibri" pitchFamily="34" charset="0"/>
                <a:ea typeface="Calibri" pitchFamily="34" charset="-122"/>
                <a:cs typeface="Calibri" pitchFamily="34" charset="-120"/>
              </a:rPr>
              <a:t>Commander brief · Aug 2026</a:t>
            </a:r>
            <a:endParaRPr lang="en-US" sz="1150" dirty="0"/>
          </a:p>
        </p:txBody>
      </p:sp>
      <p:sp>
        <p:nvSpPr>
          <p:cNvPr id="17" name="Text 14"/>
          <p:cNvSpPr/>
          <p:nvPr/>
        </p:nvSpPr>
        <p:spPr>
          <a:xfrm>
            <a:off x="685800" y="5440680"/>
            <a:ext cx="5760720" cy="365760"/>
          </a:xfrm>
          <a:prstGeom prst="rect">
            <a:avLst/>
          </a:prstGeom>
          <a:noFill/>
          <a:ln/>
        </p:spPr>
        <p:txBody>
          <a:bodyPr wrap="square" lIns="0" tIns="0" rIns="0" bIns="0" rtlCol="0" anchor="ctr"/>
          <a:lstStyle/>
          <a:p>
            <a:pPr indent="0" marL="0">
              <a:buNone/>
            </a:pPr>
            <a:r>
              <a:rPr lang="en-US" sz="1350" dirty="0">
                <a:solidFill>
                  <a:srgbClr val="8A96A3"/>
                </a:solidFill>
                <a:latin typeface="Calibri" pitchFamily="34" charset="0"/>
                <a:ea typeface="Calibri" pitchFamily="34" charset="-122"/>
                <a:cs typeface="Calibri" pitchFamily="34" charset="-120"/>
              </a:rPr>
              <a:t>Roll-out:  142 SQN  →  149 SQN  →  FG</a:t>
            </a:r>
            <a:endParaRPr lang="en-US" sz="1350" dirty="0"/>
          </a:p>
        </p:txBody>
      </p:sp>
      <p:sp>
        <p:nvSpPr>
          <p:cNvPr id="18" name="Shape 15"/>
          <p:cNvSpPr/>
          <p:nvPr/>
        </p:nvSpPr>
        <p:spPr>
          <a:xfrm>
            <a:off x="6693408" y="1024128"/>
            <a:ext cx="4992624" cy="3182112"/>
          </a:xfrm>
          <a:prstGeom prst="roundRect">
            <a:avLst>
              <a:gd name="adj" fmla="val 2874"/>
            </a:avLst>
          </a:prstGeom>
          <a:solidFill>
            <a:srgbClr val="000000"/>
          </a:solidFill>
          <a:ln/>
          <a:effectLst>
            <a:outerShdw sx="100000" sy="100000" kx="0" ky="0" algn="bl" rotWithShape="0" blurRad="177800" dist="63500" dir="5400000">
              <a:srgbClr val="000000">
                <a:alpha val="55000"/>
              </a:srgbClr>
            </a:outerShdw>
          </a:effectLst>
        </p:spPr>
      </p:sp>
      <p:sp>
        <p:nvSpPr>
          <p:cNvPr id="19" name="Shape 16"/>
          <p:cNvSpPr/>
          <p:nvPr/>
        </p:nvSpPr>
        <p:spPr>
          <a:xfrm>
            <a:off x="6720840" y="1051560"/>
            <a:ext cx="4937760" cy="3127248"/>
          </a:xfrm>
          <a:prstGeom prst="roundRect">
            <a:avLst>
              <a:gd name="adj" fmla="val 2632"/>
            </a:avLst>
          </a:prstGeom>
          <a:solidFill>
            <a:srgbClr val="0E1116"/>
          </a:solidFill>
          <a:ln w="12700">
            <a:solidFill>
              <a:srgbClr val="3BC6E8"/>
            </a:solidFill>
            <a:prstDash val="solid"/>
          </a:ln>
        </p:spPr>
      </p:sp>
      <p:pic>
        <p:nvPicPr>
          <p:cNvPr id="20" name="Image 1" descr="preencoded.png">    </p:cNvPr>
          <p:cNvPicPr>
            <a:picLocks noChangeAspect="1"/>
          </p:cNvPicPr>
          <p:nvPr/>
        </p:nvPicPr>
        <p:blipFill>
          <a:blip r:embed="rId2"/>
          <a:stretch>
            <a:fillRect/>
          </a:stretch>
        </p:blipFill>
        <p:spPr>
          <a:xfrm>
            <a:off x="6806807" y="1106424"/>
            <a:ext cx="4765825" cy="3017520"/>
          </a:xfrm>
          <a:prstGeom prst="rect">
            <a:avLst/>
          </a:prstGeom>
        </p:spPr>
      </p:pic>
      <p:sp>
        <p:nvSpPr>
          <p:cNvPr id="21" name="Text 17"/>
          <p:cNvSpPr/>
          <p:nvPr/>
        </p:nvSpPr>
        <p:spPr>
          <a:xfrm>
            <a:off x="6720840" y="4224528"/>
            <a:ext cx="3017520" cy="502920"/>
          </a:xfrm>
          <a:prstGeom prst="rect">
            <a:avLst/>
          </a:prstGeom>
          <a:noFill/>
          <a:ln/>
        </p:spPr>
        <p:txBody>
          <a:bodyPr wrap="square" lIns="0" tIns="0" rIns="0" bIns="0" rtlCol="0" anchor="t"/>
          <a:lstStyle/>
          <a:p>
            <a:pPr algn="l" indent="0" marL="0">
              <a:buNone/>
            </a:pPr>
            <a:r>
              <a:rPr lang="en-US" sz="1050" i="1" dirty="0">
                <a:solidFill>
                  <a:srgbClr val="8A96A3"/>
                </a:solidFill>
                <a:latin typeface="Calibri" pitchFamily="34" charset="0"/>
                <a:ea typeface="Calibri" pitchFamily="34" charset="-122"/>
                <a:cs typeface="Calibri" pitchFamily="34" charset="-120"/>
              </a:rPr>
              <a:t>The live flying programme — a full week at a glance</a:t>
            </a:r>
            <a:endParaRPr lang="en-US" sz="1050" dirty="0"/>
          </a:p>
        </p:txBody>
      </p:sp>
      <p:sp>
        <p:nvSpPr>
          <p:cNvPr id="22" name="Shape 18"/>
          <p:cNvSpPr/>
          <p:nvPr/>
        </p:nvSpPr>
        <p:spPr>
          <a:xfrm>
            <a:off x="9939528" y="3950208"/>
            <a:ext cx="1792224" cy="2706624"/>
          </a:xfrm>
          <a:prstGeom prst="roundRect">
            <a:avLst>
              <a:gd name="adj" fmla="val 5102"/>
            </a:avLst>
          </a:prstGeom>
          <a:solidFill>
            <a:srgbClr val="000000"/>
          </a:solidFill>
          <a:ln/>
          <a:effectLst>
            <a:outerShdw sx="100000" sy="100000" kx="0" ky="0" algn="bl" rotWithShape="0" blurRad="177800" dist="63500" dir="5400000">
              <a:srgbClr val="000000">
                <a:alpha val="55000"/>
              </a:srgbClr>
            </a:outerShdw>
          </a:effectLst>
        </p:spPr>
      </p:sp>
      <p:sp>
        <p:nvSpPr>
          <p:cNvPr id="23" name="Shape 19"/>
          <p:cNvSpPr/>
          <p:nvPr/>
        </p:nvSpPr>
        <p:spPr>
          <a:xfrm>
            <a:off x="9966960" y="3977640"/>
            <a:ext cx="1737360" cy="2651760"/>
          </a:xfrm>
          <a:prstGeom prst="roundRect">
            <a:avLst>
              <a:gd name="adj" fmla="val 4737"/>
            </a:avLst>
          </a:prstGeom>
          <a:solidFill>
            <a:srgbClr val="0E1116"/>
          </a:solidFill>
          <a:ln w="12700">
            <a:solidFill>
              <a:srgbClr val="3BC6E8"/>
            </a:solidFill>
            <a:prstDash val="solid"/>
          </a:ln>
        </p:spPr>
      </p:sp>
      <p:pic>
        <p:nvPicPr>
          <p:cNvPr id="24" name="Image 2" descr="preencoded.png">    </p:cNvPr>
          <p:cNvPicPr>
            <a:picLocks noChangeAspect="1"/>
          </p:cNvPicPr>
          <p:nvPr/>
        </p:nvPicPr>
        <p:blipFill>
          <a:blip r:embed="rId3"/>
          <a:stretch>
            <a:fillRect/>
          </a:stretch>
        </p:blipFill>
        <p:spPr>
          <a:xfrm>
            <a:off x="10240143" y="4014216"/>
            <a:ext cx="1190995" cy="25786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65000"/>
          </a:blip>
          <a:stretch>
            <a:fillRect/>
          </a:stretch>
        </p:blipFill>
        <p:spPr>
          <a:xfrm>
            <a:off x="11137392" y="384048"/>
            <a:ext cx="548640" cy="548640"/>
          </a:xfrm>
          <a:prstGeom prst="rect">
            <a:avLst/>
          </a:prstGeom>
        </p:spPr>
      </p:pic>
      <p:pic>
        <p:nvPicPr>
          <p:cNvPr id="3" name="Image 1" descr="preencoded.png">    </p:cNvPr>
          <p:cNvPicPr>
            <a:picLocks noChangeAspect="1"/>
          </p:cNvPicPr>
          <p:nvPr/>
        </p:nvPicPr>
        <p:blipFill>
          <a:blip r:embed="rId2">
            <a:alphaModFix amt="80000"/>
          </a:blip>
          <a:stretch>
            <a:fillRect/>
          </a:stretch>
        </p:blipFill>
        <p:spPr>
          <a:xfrm>
            <a:off x="640080" y="6291072"/>
            <a:ext cx="219456" cy="219456"/>
          </a:xfrm>
          <a:prstGeom prst="rect">
            <a:avLst/>
          </a:prstGeom>
        </p:spPr>
      </p:pic>
      <p:sp>
        <p:nvSpPr>
          <p:cNvPr id="4" name="Text 0"/>
          <p:cNvSpPr/>
          <p:nvPr/>
        </p:nvSpPr>
        <p:spPr>
          <a:xfrm>
            <a:off x="914400" y="6309360"/>
            <a:ext cx="2743200" cy="219456"/>
          </a:xfrm>
          <a:prstGeom prst="rect">
            <a:avLst/>
          </a:prstGeom>
          <a:noFill/>
          <a:ln/>
        </p:spPr>
        <p:txBody>
          <a:bodyPr wrap="square" lIns="0" tIns="0" rIns="0" bIns="0" rtlCol="0" anchor="ctr"/>
          <a:lstStyle/>
          <a:p>
            <a:pPr indent="0" marL="0">
              <a:buNone/>
            </a:pPr>
            <a:r>
              <a:rPr lang="en-US" sz="900" b="1" spc="200" kern="0" dirty="0">
                <a:solidFill>
                  <a:srgbClr val="8A96A3"/>
                </a:solidFill>
                <a:latin typeface="Arial" pitchFamily="34" charset="0"/>
                <a:ea typeface="Arial" pitchFamily="34" charset="-122"/>
                <a:cs typeface="Arial" pitchFamily="34" charset="-120"/>
              </a:rPr>
              <a:t>RAPTOR</a:t>
            </a:r>
            <a:endParaRPr lang="en-US" sz="900" dirty="0"/>
          </a:p>
        </p:txBody>
      </p:sp>
      <p:sp>
        <p:nvSpPr>
          <p:cNvPr id="5" name="Text 1"/>
          <p:cNvSpPr/>
          <p:nvPr/>
        </p:nvSpPr>
        <p:spPr>
          <a:xfrm>
            <a:off x="11228832" y="6309360"/>
            <a:ext cx="457200" cy="219456"/>
          </a:xfrm>
          <a:prstGeom prst="rect">
            <a:avLst/>
          </a:prstGeom>
          <a:noFill/>
          <a:ln/>
        </p:spPr>
        <p:txBody>
          <a:bodyPr wrap="square" lIns="0" tIns="0" rIns="0" bIns="0" rtlCol="0" anchor="ctr"/>
          <a:lstStyle/>
          <a:p>
            <a:pPr algn="r" indent="0" marL="0">
              <a:buNone/>
            </a:pPr>
            <a:r>
              <a:rPr lang="en-US" sz="900" dirty="0">
                <a:solidFill>
                  <a:srgbClr val="8A96A3"/>
                </a:solidFill>
                <a:latin typeface="Arial" pitchFamily="34" charset="0"/>
                <a:ea typeface="Arial" pitchFamily="34" charset="-122"/>
                <a:cs typeface="Arial" pitchFamily="34" charset="-120"/>
              </a:rPr>
              <a:t>02</a:t>
            </a:r>
            <a:endParaRPr lang="en-US" sz="900" dirty="0"/>
          </a:p>
        </p:txBody>
      </p:sp>
      <p:sp>
        <p:nvSpPr>
          <p:cNvPr id="6" name="Text 2"/>
          <p:cNvSpPr/>
          <p:nvPr/>
        </p:nvSpPr>
        <p:spPr>
          <a:xfrm>
            <a:off x="640080" y="512064"/>
            <a:ext cx="9144000" cy="274320"/>
          </a:xfrm>
          <a:prstGeom prst="rect">
            <a:avLst/>
          </a:prstGeom>
          <a:noFill/>
          <a:ln/>
        </p:spPr>
        <p:txBody>
          <a:bodyPr wrap="square" lIns="0" tIns="0" rIns="0" bIns="0" rtlCol="0" anchor="ctr"/>
          <a:lstStyle/>
          <a:p>
            <a:pPr indent="0" marL="0">
              <a:buNone/>
            </a:pPr>
            <a:r>
              <a:rPr lang="en-US" sz="1200" b="1" spc="300" kern="0" dirty="0">
                <a:solidFill>
                  <a:srgbClr val="3BC6E8"/>
                </a:solidFill>
                <a:latin typeface="Arial" pitchFamily="34" charset="0"/>
                <a:ea typeface="Arial" pitchFamily="34" charset="-122"/>
                <a:cs typeface="Arial" pitchFamily="34" charset="-120"/>
              </a:rPr>
              <a:t>THE PROBLEM WE SET OUT TO SOLVE</a:t>
            </a:r>
            <a:endParaRPr lang="en-US" sz="1200" dirty="0"/>
          </a:p>
        </p:txBody>
      </p:sp>
      <p:sp>
        <p:nvSpPr>
          <p:cNvPr id="7" name="Text 3"/>
          <p:cNvSpPr/>
          <p:nvPr/>
        </p:nvSpPr>
        <p:spPr>
          <a:xfrm>
            <a:off x="640080" y="786384"/>
            <a:ext cx="11338560" cy="822960"/>
          </a:xfrm>
          <a:prstGeom prst="rect">
            <a:avLst/>
          </a:prstGeom>
          <a:noFill/>
          <a:ln/>
        </p:spPr>
        <p:txBody>
          <a:bodyPr wrap="square" lIns="0" tIns="0" rIns="0" bIns="0" rtlCol="0" anchor="ctr"/>
          <a:lstStyle/>
          <a:p>
            <a:pPr indent="0" marL="0">
              <a:buNone/>
            </a:pPr>
            <a:r>
              <a:rPr lang="en-US" sz="2900" b="1" dirty="0">
                <a:solidFill>
                  <a:srgbClr val="F1F4F7"/>
                </a:solidFill>
                <a:latin typeface="Arial" pitchFamily="34" charset="0"/>
                <a:ea typeface="Arial" pitchFamily="34" charset="-122"/>
                <a:cs typeface="Arial" pitchFamily="34" charset="-120"/>
              </a:rPr>
              <a:t>Today the picture is scattered across too many places</a:t>
            </a:r>
            <a:endParaRPr lang="en-US" sz="2900" dirty="0"/>
          </a:p>
        </p:txBody>
      </p:sp>
      <p:sp>
        <p:nvSpPr>
          <p:cNvPr id="8" name="Text 4"/>
          <p:cNvSpPr/>
          <p:nvPr/>
        </p:nvSpPr>
        <p:spPr>
          <a:xfrm>
            <a:off x="640080" y="1810512"/>
            <a:ext cx="11064240" cy="548640"/>
          </a:xfrm>
          <a:prstGeom prst="rect">
            <a:avLst/>
          </a:prstGeom>
          <a:noFill/>
          <a:ln/>
        </p:spPr>
        <p:txBody>
          <a:bodyPr wrap="square" lIns="0" tIns="0" rIns="0" bIns="0" rtlCol="0" anchor="ctr"/>
          <a:lstStyle/>
          <a:p>
            <a:pPr indent="0" marL="0">
              <a:buNone/>
            </a:pPr>
            <a:r>
              <a:rPr lang="en-US" sz="1350" dirty="0">
                <a:solidFill>
                  <a:srgbClr val="B6C0CB"/>
                </a:solidFill>
                <a:latin typeface="Calibri" pitchFamily="34" charset="0"/>
                <a:ea typeface="Calibri" pitchFamily="34" charset="-122"/>
                <a:cs typeface="Calibri" pitchFamily="34" charset="-120"/>
              </a:rPr>
              <a:t>The flying programme, leave, medical status, up-chits, qualifications, duties and student progress each live in a different spreadsheet, chat or form — and the same facts get re-typed into every one.</a:t>
            </a:r>
            <a:endParaRPr lang="en-US" sz="1350" dirty="0"/>
          </a:p>
        </p:txBody>
      </p:sp>
      <p:sp>
        <p:nvSpPr>
          <p:cNvPr id="9" name="Shape 5"/>
          <p:cNvSpPr/>
          <p:nvPr/>
        </p:nvSpPr>
        <p:spPr>
          <a:xfrm>
            <a:off x="3886200" y="2679192"/>
            <a:ext cx="4434840" cy="1481328"/>
          </a:xfrm>
          <a:prstGeom prst="line">
            <a:avLst/>
          </a:prstGeom>
          <a:noFill/>
          <a:ln w="9525">
            <a:solidFill>
              <a:srgbClr val="2E7F94">
                <a:alpha val="42000"/>
              </a:srgbClr>
            </a:solidFill>
            <a:prstDash val="solid"/>
          </a:ln>
        </p:spPr>
      </p:sp>
      <p:sp>
        <p:nvSpPr>
          <p:cNvPr id="10" name="Shape 6"/>
          <p:cNvSpPr/>
          <p:nvPr/>
        </p:nvSpPr>
        <p:spPr>
          <a:xfrm>
            <a:off x="685800" y="2450592"/>
            <a:ext cx="3200400" cy="457200"/>
          </a:xfrm>
          <a:prstGeom prst="roundRect">
            <a:avLst>
              <a:gd name="adj" fmla="val 12000"/>
            </a:avLst>
          </a:prstGeom>
          <a:solidFill>
            <a:srgbClr val="14181D"/>
          </a:solidFill>
          <a:ln w="12700">
            <a:solidFill>
              <a:srgbClr val="2A313A"/>
            </a:solidFill>
            <a:prstDash val="solid"/>
          </a:ln>
        </p:spPr>
      </p:sp>
      <p:sp>
        <p:nvSpPr>
          <p:cNvPr id="11" name="Shape 7"/>
          <p:cNvSpPr/>
          <p:nvPr/>
        </p:nvSpPr>
        <p:spPr>
          <a:xfrm>
            <a:off x="786384" y="2542032"/>
            <a:ext cx="128016" cy="274320"/>
          </a:xfrm>
          <a:prstGeom prst="roundRect">
            <a:avLst>
              <a:gd name="adj" fmla="val 21429"/>
            </a:avLst>
          </a:prstGeom>
          <a:solidFill>
            <a:srgbClr val="8A8F3C"/>
          </a:solidFill>
          <a:ln/>
        </p:spPr>
      </p:sp>
      <p:sp>
        <p:nvSpPr>
          <p:cNvPr id="12" name="Text 8"/>
          <p:cNvSpPr/>
          <p:nvPr/>
        </p:nvSpPr>
        <p:spPr>
          <a:xfrm>
            <a:off x="1033272" y="2468880"/>
            <a:ext cx="2743200" cy="256032"/>
          </a:xfrm>
          <a:prstGeom prst="rect">
            <a:avLst/>
          </a:prstGeom>
          <a:noFill/>
          <a:ln/>
        </p:spPr>
        <p:txBody>
          <a:bodyPr wrap="square" lIns="0" tIns="0" rIns="0" bIns="0" rtlCol="0" anchor="ctr"/>
          <a:lstStyle/>
          <a:p>
            <a:pPr indent="0" marL="0">
              <a:buNone/>
            </a:pPr>
            <a:r>
              <a:rPr lang="en-US" sz="1200" b="1" dirty="0">
                <a:solidFill>
                  <a:srgbClr val="F1F4F7"/>
                </a:solidFill>
                <a:latin typeface="Arial" pitchFamily="34" charset="0"/>
                <a:ea typeface="Arial" pitchFamily="34" charset="-122"/>
                <a:cs typeface="Arial" pitchFamily="34" charset="-120"/>
              </a:rPr>
              <a:t>Flying programme</a:t>
            </a:r>
            <a:endParaRPr lang="en-US" sz="1200" dirty="0"/>
          </a:p>
        </p:txBody>
      </p:sp>
      <p:sp>
        <p:nvSpPr>
          <p:cNvPr id="13" name="Text 9"/>
          <p:cNvSpPr/>
          <p:nvPr/>
        </p:nvSpPr>
        <p:spPr>
          <a:xfrm>
            <a:off x="1033272" y="2706624"/>
            <a:ext cx="2743200" cy="201168"/>
          </a:xfrm>
          <a:prstGeom prst="rect">
            <a:avLst/>
          </a:prstGeom>
          <a:noFill/>
          <a:ln/>
        </p:spPr>
        <p:txBody>
          <a:bodyPr wrap="square" lIns="0" tIns="0" rIns="0" bIns="0" rtlCol="0" anchor="ctr"/>
          <a:lstStyle/>
          <a:p>
            <a:pPr indent="0" marL="0">
              <a:buNone/>
            </a:pPr>
            <a:r>
              <a:rPr lang="en-US" sz="950" dirty="0">
                <a:solidFill>
                  <a:srgbClr val="8A96A3"/>
                </a:solidFill>
                <a:latin typeface="Courier New" pitchFamily="34" charset="0"/>
                <a:ea typeface="Courier New" pitchFamily="34" charset="-122"/>
                <a:cs typeface="Courier New" pitchFamily="34" charset="-120"/>
              </a:rPr>
              <a:t>spreadsheet</a:t>
            </a:r>
            <a:endParaRPr lang="en-US" sz="950" dirty="0"/>
          </a:p>
        </p:txBody>
      </p:sp>
      <p:sp>
        <p:nvSpPr>
          <p:cNvPr id="14" name="Shape 10"/>
          <p:cNvSpPr/>
          <p:nvPr/>
        </p:nvSpPr>
        <p:spPr>
          <a:xfrm>
            <a:off x="3886200" y="3204972"/>
            <a:ext cx="4434840" cy="955548"/>
          </a:xfrm>
          <a:prstGeom prst="line">
            <a:avLst/>
          </a:prstGeom>
          <a:noFill/>
          <a:ln w="9525">
            <a:solidFill>
              <a:srgbClr val="2E7F94">
                <a:alpha val="42000"/>
              </a:srgbClr>
            </a:solidFill>
            <a:prstDash val="solid"/>
          </a:ln>
        </p:spPr>
      </p:sp>
      <p:sp>
        <p:nvSpPr>
          <p:cNvPr id="15" name="Shape 11"/>
          <p:cNvSpPr/>
          <p:nvPr/>
        </p:nvSpPr>
        <p:spPr>
          <a:xfrm>
            <a:off x="685800" y="2976372"/>
            <a:ext cx="3200400" cy="457200"/>
          </a:xfrm>
          <a:prstGeom prst="roundRect">
            <a:avLst>
              <a:gd name="adj" fmla="val 12000"/>
            </a:avLst>
          </a:prstGeom>
          <a:solidFill>
            <a:srgbClr val="14181D"/>
          </a:solidFill>
          <a:ln w="12700">
            <a:solidFill>
              <a:srgbClr val="2A313A"/>
            </a:solidFill>
            <a:prstDash val="solid"/>
          </a:ln>
        </p:spPr>
      </p:sp>
      <p:sp>
        <p:nvSpPr>
          <p:cNvPr id="16" name="Shape 12"/>
          <p:cNvSpPr/>
          <p:nvPr/>
        </p:nvSpPr>
        <p:spPr>
          <a:xfrm>
            <a:off x="786384" y="3067812"/>
            <a:ext cx="128016" cy="274320"/>
          </a:xfrm>
          <a:prstGeom prst="roundRect">
            <a:avLst>
              <a:gd name="adj" fmla="val 21429"/>
            </a:avLst>
          </a:prstGeom>
          <a:solidFill>
            <a:srgbClr val="B24DEA"/>
          </a:solidFill>
          <a:ln/>
        </p:spPr>
      </p:sp>
      <p:sp>
        <p:nvSpPr>
          <p:cNvPr id="17" name="Text 13"/>
          <p:cNvSpPr/>
          <p:nvPr/>
        </p:nvSpPr>
        <p:spPr>
          <a:xfrm>
            <a:off x="1033272" y="2994660"/>
            <a:ext cx="2743200" cy="256032"/>
          </a:xfrm>
          <a:prstGeom prst="rect">
            <a:avLst/>
          </a:prstGeom>
          <a:noFill/>
          <a:ln/>
        </p:spPr>
        <p:txBody>
          <a:bodyPr wrap="square" lIns="0" tIns="0" rIns="0" bIns="0" rtlCol="0" anchor="ctr"/>
          <a:lstStyle/>
          <a:p>
            <a:pPr indent="0" marL="0">
              <a:buNone/>
            </a:pPr>
            <a:r>
              <a:rPr lang="en-US" sz="1200" b="1" dirty="0">
                <a:solidFill>
                  <a:srgbClr val="F1F4F7"/>
                </a:solidFill>
                <a:latin typeface="Arial" pitchFamily="34" charset="0"/>
                <a:ea typeface="Arial" pitchFamily="34" charset="-122"/>
                <a:cs typeface="Arial" pitchFamily="34" charset="-120"/>
              </a:rPr>
              <a:t>Leave applications</a:t>
            </a:r>
            <a:endParaRPr lang="en-US" sz="1200" dirty="0"/>
          </a:p>
        </p:txBody>
      </p:sp>
      <p:sp>
        <p:nvSpPr>
          <p:cNvPr id="18" name="Text 14"/>
          <p:cNvSpPr/>
          <p:nvPr/>
        </p:nvSpPr>
        <p:spPr>
          <a:xfrm>
            <a:off x="1033272" y="3232404"/>
            <a:ext cx="2743200" cy="201168"/>
          </a:xfrm>
          <a:prstGeom prst="rect">
            <a:avLst/>
          </a:prstGeom>
          <a:noFill/>
          <a:ln/>
        </p:spPr>
        <p:txBody>
          <a:bodyPr wrap="square" lIns="0" tIns="0" rIns="0" bIns="0" rtlCol="0" anchor="ctr"/>
          <a:lstStyle/>
          <a:p>
            <a:pPr indent="0" marL="0">
              <a:buNone/>
            </a:pPr>
            <a:r>
              <a:rPr lang="en-US" sz="950" dirty="0">
                <a:solidFill>
                  <a:srgbClr val="8A96A3"/>
                </a:solidFill>
                <a:latin typeface="Courier New" pitchFamily="34" charset="0"/>
                <a:ea typeface="Courier New" pitchFamily="34" charset="-122"/>
                <a:cs typeface="Courier New" pitchFamily="34" charset="-120"/>
              </a:rPr>
              <a:t>chat + forms</a:t>
            </a:r>
            <a:endParaRPr lang="en-US" sz="950" dirty="0"/>
          </a:p>
        </p:txBody>
      </p:sp>
      <p:sp>
        <p:nvSpPr>
          <p:cNvPr id="19" name="Shape 15"/>
          <p:cNvSpPr/>
          <p:nvPr/>
        </p:nvSpPr>
        <p:spPr>
          <a:xfrm>
            <a:off x="3886200" y="3730752"/>
            <a:ext cx="4434840" cy="429768"/>
          </a:xfrm>
          <a:prstGeom prst="line">
            <a:avLst/>
          </a:prstGeom>
          <a:noFill/>
          <a:ln w="9525">
            <a:solidFill>
              <a:srgbClr val="2E7F94">
                <a:alpha val="42000"/>
              </a:srgbClr>
            </a:solidFill>
            <a:prstDash val="solid"/>
          </a:ln>
        </p:spPr>
      </p:sp>
      <p:sp>
        <p:nvSpPr>
          <p:cNvPr id="20" name="Shape 16"/>
          <p:cNvSpPr/>
          <p:nvPr/>
        </p:nvSpPr>
        <p:spPr>
          <a:xfrm>
            <a:off x="685800" y="3502152"/>
            <a:ext cx="3200400" cy="457200"/>
          </a:xfrm>
          <a:prstGeom prst="roundRect">
            <a:avLst>
              <a:gd name="adj" fmla="val 12000"/>
            </a:avLst>
          </a:prstGeom>
          <a:solidFill>
            <a:srgbClr val="14181D"/>
          </a:solidFill>
          <a:ln w="12700">
            <a:solidFill>
              <a:srgbClr val="2A313A"/>
            </a:solidFill>
            <a:prstDash val="solid"/>
          </a:ln>
        </p:spPr>
      </p:sp>
      <p:sp>
        <p:nvSpPr>
          <p:cNvPr id="21" name="Shape 17"/>
          <p:cNvSpPr/>
          <p:nvPr/>
        </p:nvSpPr>
        <p:spPr>
          <a:xfrm>
            <a:off x="786384" y="3593592"/>
            <a:ext cx="128016" cy="274320"/>
          </a:xfrm>
          <a:prstGeom prst="roundRect">
            <a:avLst>
              <a:gd name="adj" fmla="val 21429"/>
            </a:avLst>
          </a:prstGeom>
          <a:solidFill>
            <a:srgbClr val="F0555F"/>
          </a:solidFill>
          <a:ln/>
        </p:spPr>
      </p:sp>
      <p:sp>
        <p:nvSpPr>
          <p:cNvPr id="22" name="Text 18"/>
          <p:cNvSpPr/>
          <p:nvPr/>
        </p:nvSpPr>
        <p:spPr>
          <a:xfrm>
            <a:off x="1033272" y="3520440"/>
            <a:ext cx="2743200" cy="256032"/>
          </a:xfrm>
          <a:prstGeom prst="rect">
            <a:avLst/>
          </a:prstGeom>
          <a:noFill/>
          <a:ln/>
        </p:spPr>
        <p:txBody>
          <a:bodyPr wrap="square" lIns="0" tIns="0" rIns="0" bIns="0" rtlCol="0" anchor="ctr"/>
          <a:lstStyle/>
          <a:p>
            <a:pPr indent="0" marL="0">
              <a:buNone/>
            </a:pPr>
            <a:r>
              <a:rPr lang="en-US" sz="1200" b="1" dirty="0">
                <a:solidFill>
                  <a:srgbClr val="F1F4F7"/>
                </a:solidFill>
                <a:latin typeface="Arial" pitchFamily="34" charset="0"/>
                <a:ea typeface="Arial" pitchFamily="34" charset="-122"/>
                <a:cs typeface="Arial" pitchFamily="34" charset="-120"/>
              </a:rPr>
              <a:t>Medical certs</a:t>
            </a:r>
            <a:endParaRPr lang="en-US" sz="1200" dirty="0"/>
          </a:p>
        </p:txBody>
      </p:sp>
      <p:sp>
        <p:nvSpPr>
          <p:cNvPr id="23" name="Text 19"/>
          <p:cNvSpPr/>
          <p:nvPr/>
        </p:nvSpPr>
        <p:spPr>
          <a:xfrm>
            <a:off x="1033272" y="3758184"/>
            <a:ext cx="2743200" cy="201168"/>
          </a:xfrm>
          <a:prstGeom prst="rect">
            <a:avLst/>
          </a:prstGeom>
          <a:noFill/>
          <a:ln/>
        </p:spPr>
        <p:txBody>
          <a:bodyPr wrap="square" lIns="0" tIns="0" rIns="0" bIns="0" rtlCol="0" anchor="ctr"/>
          <a:lstStyle/>
          <a:p>
            <a:pPr indent="0" marL="0">
              <a:buNone/>
            </a:pPr>
            <a:r>
              <a:rPr lang="en-US" sz="950" dirty="0">
                <a:solidFill>
                  <a:srgbClr val="8A96A3"/>
                </a:solidFill>
                <a:latin typeface="Courier New" pitchFamily="34" charset="0"/>
                <a:ea typeface="Courier New" pitchFamily="34" charset="-122"/>
                <a:cs typeface="Courier New" pitchFamily="34" charset="-120"/>
              </a:rPr>
              <a:t>email / paper</a:t>
            </a:r>
            <a:endParaRPr lang="en-US" sz="950" dirty="0"/>
          </a:p>
        </p:txBody>
      </p:sp>
      <p:sp>
        <p:nvSpPr>
          <p:cNvPr id="24" name="Shape 20"/>
          <p:cNvSpPr/>
          <p:nvPr/>
        </p:nvSpPr>
        <p:spPr>
          <a:xfrm flipV="1">
            <a:off x="3886200" y="4160520"/>
            <a:ext cx="4434840" cy="96012"/>
          </a:xfrm>
          <a:prstGeom prst="line">
            <a:avLst/>
          </a:prstGeom>
          <a:noFill/>
          <a:ln w="9525">
            <a:solidFill>
              <a:srgbClr val="2E7F94">
                <a:alpha val="42000"/>
              </a:srgbClr>
            </a:solidFill>
            <a:prstDash val="solid"/>
          </a:ln>
        </p:spPr>
      </p:sp>
      <p:sp>
        <p:nvSpPr>
          <p:cNvPr id="25" name="Shape 21"/>
          <p:cNvSpPr/>
          <p:nvPr/>
        </p:nvSpPr>
        <p:spPr>
          <a:xfrm>
            <a:off x="685800" y="4027932"/>
            <a:ext cx="3200400" cy="457200"/>
          </a:xfrm>
          <a:prstGeom prst="roundRect">
            <a:avLst>
              <a:gd name="adj" fmla="val 12000"/>
            </a:avLst>
          </a:prstGeom>
          <a:solidFill>
            <a:srgbClr val="14181D"/>
          </a:solidFill>
          <a:ln w="12700">
            <a:solidFill>
              <a:srgbClr val="2A313A"/>
            </a:solidFill>
            <a:prstDash val="solid"/>
          </a:ln>
        </p:spPr>
      </p:sp>
      <p:sp>
        <p:nvSpPr>
          <p:cNvPr id="26" name="Shape 22"/>
          <p:cNvSpPr/>
          <p:nvPr/>
        </p:nvSpPr>
        <p:spPr>
          <a:xfrm>
            <a:off x="786384" y="4119372"/>
            <a:ext cx="128016" cy="274320"/>
          </a:xfrm>
          <a:prstGeom prst="roundRect">
            <a:avLst>
              <a:gd name="adj" fmla="val 21429"/>
            </a:avLst>
          </a:prstGeom>
          <a:solidFill>
            <a:srgbClr val="E5A83B"/>
          </a:solidFill>
          <a:ln/>
        </p:spPr>
      </p:sp>
      <p:sp>
        <p:nvSpPr>
          <p:cNvPr id="27" name="Text 23"/>
          <p:cNvSpPr/>
          <p:nvPr/>
        </p:nvSpPr>
        <p:spPr>
          <a:xfrm>
            <a:off x="1033272" y="4046220"/>
            <a:ext cx="2743200" cy="256032"/>
          </a:xfrm>
          <a:prstGeom prst="rect">
            <a:avLst/>
          </a:prstGeom>
          <a:noFill/>
          <a:ln/>
        </p:spPr>
        <p:txBody>
          <a:bodyPr wrap="square" lIns="0" tIns="0" rIns="0" bIns="0" rtlCol="0" anchor="ctr"/>
          <a:lstStyle/>
          <a:p>
            <a:pPr indent="0" marL="0">
              <a:buNone/>
            </a:pPr>
            <a:r>
              <a:rPr lang="en-US" sz="1200" b="1" dirty="0">
                <a:solidFill>
                  <a:srgbClr val="F1F4F7"/>
                </a:solidFill>
                <a:latin typeface="Arial" pitchFamily="34" charset="0"/>
                <a:ea typeface="Arial" pitchFamily="34" charset="-122"/>
                <a:cs typeface="Arial" pitchFamily="34" charset="-120"/>
              </a:rPr>
              <a:t>Up-chits</a:t>
            </a:r>
            <a:endParaRPr lang="en-US" sz="1200" dirty="0"/>
          </a:p>
        </p:txBody>
      </p:sp>
      <p:sp>
        <p:nvSpPr>
          <p:cNvPr id="28" name="Text 24"/>
          <p:cNvSpPr/>
          <p:nvPr/>
        </p:nvSpPr>
        <p:spPr>
          <a:xfrm>
            <a:off x="1033272" y="4283964"/>
            <a:ext cx="2743200" cy="201168"/>
          </a:xfrm>
          <a:prstGeom prst="rect">
            <a:avLst/>
          </a:prstGeom>
          <a:noFill/>
          <a:ln/>
        </p:spPr>
        <p:txBody>
          <a:bodyPr wrap="square" lIns="0" tIns="0" rIns="0" bIns="0" rtlCol="0" anchor="ctr"/>
          <a:lstStyle/>
          <a:p>
            <a:pPr indent="0" marL="0">
              <a:buNone/>
            </a:pPr>
            <a:r>
              <a:rPr lang="en-US" sz="950" dirty="0">
                <a:solidFill>
                  <a:srgbClr val="8A96A3"/>
                </a:solidFill>
                <a:latin typeface="Courier New" pitchFamily="34" charset="0"/>
                <a:ea typeface="Courier New" pitchFamily="34" charset="-122"/>
                <a:cs typeface="Courier New" pitchFamily="34" charset="-120"/>
              </a:rPr>
              <a:t>paper / memory</a:t>
            </a:r>
            <a:endParaRPr lang="en-US" sz="950" dirty="0"/>
          </a:p>
        </p:txBody>
      </p:sp>
      <p:sp>
        <p:nvSpPr>
          <p:cNvPr id="29" name="Shape 25"/>
          <p:cNvSpPr/>
          <p:nvPr/>
        </p:nvSpPr>
        <p:spPr>
          <a:xfrm flipV="1">
            <a:off x="3886200" y="4160520"/>
            <a:ext cx="4434840" cy="621792"/>
          </a:xfrm>
          <a:prstGeom prst="line">
            <a:avLst/>
          </a:prstGeom>
          <a:noFill/>
          <a:ln w="9525">
            <a:solidFill>
              <a:srgbClr val="2E7F94">
                <a:alpha val="42000"/>
              </a:srgbClr>
            </a:solidFill>
            <a:prstDash val="solid"/>
          </a:ln>
        </p:spPr>
      </p:sp>
      <p:sp>
        <p:nvSpPr>
          <p:cNvPr id="30" name="Shape 26"/>
          <p:cNvSpPr/>
          <p:nvPr/>
        </p:nvSpPr>
        <p:spPr>
          <a:xfrm>
            <a:off x="685800" y="4553712"/>
            <a:ext cx="3200400" cy="457200"/>
          </a:xfrm>
          <a:prstGeom prst="roundRect">
            <a:avLst>
              <a:gd name="adj" fmla="val 12000"/>
            </a:avLst>
          </a:prstGeom>
          <a:solidFill>
            <a:srgbClr val="14181D"/>
          </a:solidFill>
          <a:ln w="12700">
            <a:solidFill>
              <a:srgbClr val="2A313A"/>
            </a:solidFill>
            <a:prstDash val="solid"/>
          </a:ln>
        </p:spPr>
      </p:sp>
      <p:sp>
        <p:nvSpPr>
          <p:cNvPr id="31" name="Shape 27"/>
          <p:cNvSpPr/>
          <p:nvPr/>
        </p:nvSpPr>
        <p:spPr>
          <a:xfrm>
            <a:off x="786384" y="4645152"/>
            <a:ext cx="128016" cy="274320"/>
          </a:xfrm>
          <a:prstGeom prst="roundRect">
            <a:avLst>
              <a:gd name="adj" fmla="val 21429"/>
            </a:avLst>
          </a:prstGeom>
          <a:solidFill>
            <a:srgbClr val="2E9E74"/>
          </a:solidFill>
          <a:ln/>
        </p:spPr>
      </p:sp>
      <p:sp>
        <p:nvSpPr>
          <p:cNvPr id="32" name="Text 28"/>
          <p:cNvSpPr/>
          <p:nvPr/>
        </p:nvSpPr>
        <p:spPr>
          <a:xfrm>
            <a:off x="1033272" y="4572000"/>
            <a:ext cx="2743200" cy="256032"/>
          </a:xfrm>
          <a:prstGeom prst="rect">
            <a:avLst/>
          </a:prstGeom>
          <a:noFill/>
          <a:ln/>
        </p:spPr>
        <p:txBody>
          <a:bodyPr wrap="square" lIns="0" tIns="0" rIns="0" bIns="0" rtlCol="0" anchor="ctr"/>
          <a:lstStyle/>
          <a:p>
            <a:pPr indent="0" marL="0">
              <a:buNone/>
            </a:pPr>
            <a:r>
              <a:rPr lang="en-US" sz="1200" b="1" dirty="0">
                <a:solidFill>
                  <a:srgbClr val="F1F4F7"/>
                </a:solidFill>
                <a:latin typeface="Arial" pitchFamily="34" charset="0"/>
                <a:ea typeface="Arial" pitchFamily="34" charset="-122"/>
                <a:cs typeface="Arial" pitchFamily="34" charset="-120"/>
              </a:rPr>
              <a:t>Qualifications</a:t>
            </a:r>
            <a:endParaRPr lang="en-US" sz="1200" dirty="0"/>
          </a:p>
        </p:txBody>
      </p:sp>
      <p:sp>
        <p:nvSpPr>
          <p:cNvPr id="33" name="Text 29"/>
          <p:cNvSpPr/>
          <p:nvPr/>
        </p:nvSpPr>
        <p:spPr>
          <a:xfrm>
            <a:off x="1033272" y="4809744"/>
            <a:ext cx="2743200" cy="201168"/>
          </a:xfrm>
          <a:prstGeom prst="rect">
            <a:avLst/>
          </a:prstGeom>
          <a:noFill/>
          <a:ln/>
        </p:spPr>
        <p:txBody>
          <a:bodyPr wrap="square" lIns="0" tIns="0" rIns="0" bIns="0" rtlCol="0" anchor="ctr"/>
          <a:lstStyle/>
          <a:p>
            <a:pPr indent="0" marL="0">
              <a:buNone/>
            </a:pPr>
            <a:r>
              <a:rPr lang="en-US" sz="950" dirty="0">
                <a:solidFill>
                  <a:srgbClr val="8A96A3"/>
                </a:solidFill>
                <a:latin typeface="Courier New" pitchFamily="34" charset="0"/>
                <a:ea typeface="Courier New" pitchFamily="34" charset="-122"/>
                <a:cs typeface="Courier New" pitchFamily="34" charset="-120"/>
              </a:rPr>
              <a:t>spreadsheet</a:t>
            </a:r>
            <a:endParaRPr lang="en-US" sz="950" dirty="0"/>
          </a:p>
        </p:txBody>
      </p:sp>
      <p:sp>
        <p:nvSpPr>
          <p:cNvPr id="34" name="Shape 30"/>
          <p:cNvSpPr/>
          <p:nvPr/>
        </p:nvSpPr>
        <p:spPr>
          <a:xfrm flipV="1">
            <a:off x="3886200" y="4160520"/>
            <a:ext cx="4434840" cy="1147572"/>
          </a:xfrm>
          <a:prstGeom prst="line">
            <a:avLst/>
          </a:prstGeom>
          <a:noFill/>
          <a:ln w="9525">
            <a:solidFill>
              <a:srgbClr val="2E7F94">
                <a:alpha val="42000"/>
              </a:srgbClr>
            </a:solidFill>
            <a:prstDash val="solid"/>
          </a:ln>
        </p:spPr>
      </p:sp>
      <p:sp>
        <p:nvSpPr>
          <p:cNvPr id="35" name="Shape 31"/>
          <p:cNvSpPr/>
          <p:nvPr/>
        </p:nvSpPr>
        <p:spPr>
          <a:xfrm>
            <a:off x="685800" y="5079492"/>
            <a:ext cx="3200400" cy="457200"/>
          </a:xfrm>
          <a:prstGeom prst="roundRect">
            <a:avLst>
              <a:gd name="adj" fmla="val 12000"/>
            </a:avLst>
          </a:prstGeom>
          <a:solidFill>
            <a:srgbClr val="14181D"/>
          </a:solidFill>
          <a:ln w="12700">
            <a:solidFill>
              <a:srgbClr val="2A313A"/>
            </a:solidFill>
            <a:prstDash val="solid"/>
          </a:ln>
        </p:spPr>
      </p:sp>
      <p:sp>
        <p:nvSpPr>
          <p:cNvPr id="36" name="Shape 32"/>
          <p:cNvSpPr/>
          <p:nvPr/>
        </p:nvSpPr>
        <p:spPr>
          <a:xfrm>
            <a:off x="786384" y="5170932"/>
            <a:ext cx="128016" cy="274320"/>
          </a:xfrm>
          <a:prstGeom prst="roundRect">
            <a:avLst>
              <a:gd name="adj" fmla="val 21429"/>
            </a:avLst>
          </a:prstGeom>
          <a:solidFill>
            <a:srgbClr val="3BC6E8"/>
          </a:solidFill>
          <a:ln/>
        </p:spPr>
      </p:sp>
      <p:sp>
        <p:nvSpPr>
          <p:cNvPr id="37" name="Text 33"/>
          <p:cNvSpPr/>
          <p:nvPr/>
        </p:nvSpPr>
        <p:spPr>
          <a:xfrm>
            <a:off x="1033272" y="5097780"/>
            <a:ext cx="2743200" cy="256032"/>
          </a:xfrm>
          <a:prstGeom prst="rect">
            <a:avLst/>
          </a:prstGeom>
          <a:noFill/>
          <a:ln/>
        </p:spPr>
        <p:txBody>
          <a:bodyPr wrap="square" lIns="0" tIns="0" rIns="0" bIns="0" rtlCol="0" anchor="ctr"/>
          <a:lstStyle/>
          <a:p>
            <a:pPr indent="0" marL="0">
              <a:buNone/>
            </a:pPr>
            <a:r>
              <a:rPr lang="en-US" sz="1200" b="1" dirty="0">
                <a:solidFill>
                  <a:srgbClr val="F1F4F7"/>
                </a:solidFill>
                <a:latin typeface="Arial" pitchFamily="34" charset="0"/>
                <a:ea typeface="Arial" pitchFamily="34" charset="-122"/>
                <a:cs typeface="Arial" pitchFamily="34" charset="-120"/>
              </a:rPr>
              <a:t>Duties &amp; manning</a:t>
            </a:r>
            <a:endParaRPr lang="en-US" sz="1200" dirty="0"/>
          </a:p>
        </p:txBody>
      </p:sp>
      <p:sp>
        <p:nvSpPr>
          <p:cNvPr id="38" name="Text 34"/>
          <p:cNvSpPr/>
          <p:nvPr/>
        </p:nvSpPr>
        <p:spPr>
          <a:xfrm>
            <a:off x="1033272" y="5335524"/>
            <a:ext cx="2743200" cy="201168"/>
          </a:xfrm>
          <a:prstGeom prst="rect">
            <a:avLst/>
          </a:prstGeom>
          <a:noFill/>
          <a:ln/>
        </p:spPr>
        <p:txBody>
          <a:bodyPr wrap="square" lIns="0" tIns="0" rIns="0" bIns="0" rtlCol="0" anchor="ctr"/>
          <a:lstStyle/>
          <a:p>
            <a:pPr indent="0" marL="0">
              <a:buNone/>
            </a:pPr>
            <a:r>
              <a:rPr lang="en-US" sz="950" dirty="0">
                <a:solidFill>
                  <a:srgbClr val="8A96A3"/>
                </a:solidFill>
                <a:latin typeface="Courier New" pitchFamily="34" charset="0"/>
                <a:ea typeface="Courier New" pitchFamily="34" charset="-122"/>
                <a:cs typeface="Courier New" pitchFamily="34" charset="-120"/>
              </a:rPr>
              <a:t>whiteboard</a:t>
            </a:r>
            <a:endParaRPr lang="en-US" sz="950" dirty="0"/>
          </a:p>
        </p:txBody>
      </p:sp>
      <p:sp>
        <p:nvSpPr>
          <p:cNvPr id="39" name="Shape 35"/>
          <p:cNvSpPr/>
          <p:nvPr/>
        </p:nvSpPr>
        <p:spPr>
          <a:xfrm flipV="1">
            <a:off x="3886200" y="4160520"/>
            <a:ext cx="4434840" cy="1673352"/>
          </a:xfrm>
          <a:prstGeom prst="line">
            <a:avLst/>
          </a:prstGeom>
          <a:noFill/>
          <a:ln w="9525">
            <a:solidFill>
              <a:srgbClr val="2E7F94">
                <a:alpha val="42000"/>
              </a:srgbClr>
            </a:solidFill>
            <a:prstDash val="solid"/>
          </a:ln>
        </p:spPr>
      </p:sp>
      <p:sp>
        <p:nvSpPr>
          <p:cNvPr id="40" name="Shape 36"/>
          <p:cNvSpPr/>
          <p:nvPr/>
        </p:nvSpPr>
        <p:spPr>
          <a:xfrm>
            <a:off x="685800" y="5605272"/>
            <a:ext cx="3200400" cy="457200"/>
          </a:xfrm>
          <a:prstGeom prst="roundRect">
            <a:avLst>
              <a:gd name="adj" fmla="val 12000"/>
            </a:avLst>
          </a:prstGeom>
          <a:solidFill>
            <a:srgbClr val="14181D"/>
          </a:solidFill>
          <a:ln w="12700">
            <a:solidFill>
              <a:srgbClr val="2A313A"/>
            </a:solidFill>
            <a:prstDash val="solid"/>
          </a:ln>
        </p:spPr>
      </p:sp>
      <p:sp>
        <p:nvSpPr>
          <p:cNvPr id="41" name="Shape 37"/>
          <p:cNvSpPr/>
          <p:nvPr/>
        </p:nvSpPr>
        <p:spPr>
          <a:xfrm>
            <a:off x="786384" y="5696712"/>
            <a:ext cx="128016" cy="274320"/>
          </a:xfrm>
          <a:prstGeom prst="roundRect">
            <a:avLst>
              <a:gd name="adj" fmla="val 21429"/>
            </a:avLst>
          </a:prstGeom>
          <a:solidFill>
            <a:srgbClr val="8A8F3C"/>
          </a:solidFill>
          <a:ln/>
        </p:spPr>
      </p:sp>
      <p:sp>
        <p:nvSpPr>
          <p:cNvPr id="42" name="Text 38"/>
          <p:cNvSpPr/>
          <p:nvPr/>
        </p:nvSpPr>
        <p:spPr>
          <a:xfrm>
            <a:off x="1033272" y="5623560"/>
            <a:ext cx="2743200" cy="256032"/>
          </a:xfrm>
          <a:prstGeom prst="rect">
            <a:avLst/>
          </a:prstGeom>
          <a:noFill/>
          <a:ln/>
        </p:spPr>
        <p:txBody>
          <a:bodyPr wrap="square" lIns="0" tIns="0" rIns="0" bIns="0" rtlCol="0" anchor="ctr"/>
          <a:lstStyle/>
          <a:p>
            <a:pPr indent="0" marL="0">
              <a:buNone/>
            </a:pPr>
            <a:r>
              <a:rPr lang="en-US" sz="1200" b="1" dirty="0">
                <a:solidFill>
                  <a:srgbClr val="F1F4F7"/>
                </a:solidFill>
                <a:latin typeface="Arial" pitchFamily="34" charset="0"/>
                <a:ea typeface="Arial" pitchFamily="34" charset="-122"/>
                <a:cs typeface="Arial" pitchFamily="34" charset="-120"/>
              </a:rPr>
              <a:t>Student syllabus</a:t>
            </a:r>
            <a:endParaRPr lang="en-US" sz="1200" dirty="0"/>
          </a:p>
        </p:txBody>
      </p:sp>
      <p:sp>
        <p:nvSpPr>
          <p:cNvPr id="43" name="Text 39"/>
          <p:cNvSpPr/>
          <p:nvPr/>
        </p:nvSpPr>
        <p:spPr>
          <a:xfrm>
            <a:off x="1033272" y="5861304"/>
            <a:ext cx="2743200" cy="201168"/>
          </a:xfrm>
          <a:prstGeom prst="rect">
            <a:avLst/>
          </a:prstGeom>
          <a:noFill/>
          <a:ln/>
        </p:spPr>
        <p:txBody>
          <a:bodyPr wrap="square" lIns="0" tIns="0" rIns="0" bIns="0" rtlCol="0" anchor="ctr"/>
          <a:lstStyle/>
          <a:p>
            <a:pPr indent="0" marL="0">
              <a:buNone/>
            </a:pPr>
            <a:r>
              <a:rPr lang="en-US" sz="950" dirty="0">
                <a:solidFill>
                  <a:srgbClr val="8A96A3"/>
                </a:solidFill>
                <a:latin typeface="Courier New" pitchFamily="34" charset="0"/>
                <a:ea typeface="Courier New" pitchFamily="34" charset="-122"/>
                <a:cs typeface="Courier New" pitchFamily="34" charset="-120"/>
              </a:rPr>
              <a:t>separate tracker</a:t>
            </a:r>
            <a:endParaRPr lang="en-US" sz="950" dirty="0"/>
          </a:p>
        </p:txBody>
      </p:sp>
      <p:sp>
        <p:nvSpPr>
          <p:cNvPr id="44" name="Shape 40"/>
          <p:cNvSpPr/>
          <p:nvPr/>
        </p:nvSpPr>
        <p:spPr>
          <a:xfrm>
            <a:off x="8293608" y="3218688"/>
            <a:ext cx="3209544" cy="1883664"/>
          </a:xfrm>
          <a:prstGeom prst="roundRect">
            <a:avLst>
              <a:gd name="adj" fmla="val 6796"/>
            </a:avLst>
          </a:prstGeom>
          <a:solidFill>
            <a:srgbClr val="000000"/>
          </a:solidFill>
          <a:ln/>
          <a:effectLst>
            <a:outerShdw sx="100000" sy="100000" kx="0" ky="0" algn="bl" rotWithShape="0" blurRad="203200" dist="63500" dir="5400000">
              <a:srgbClr val="000000">
                <a:alpha val="50000"/>
              </a:srgbClr>
            </a:outerShdw>
          </a:effectLst>
        </p:spPr>
      </p:sp>
      <p:sp>
        <p:nvSpPr>
          <p:cNvPr id="45" name="Shape 41"/>
          <p:cNvSpPr/>
          <p:nvPr/>
        </p:nvSpPr>
        <p:spPr>
          <a:xfrm>
            <a:off x="8321040" y="3246120"/>
            <a:ext cx="3154680" cy="1828800"/>
          </a:xfrm>
          <a:prstGeom prst="roundRect">
            <a:avLst>
              <a:gd name="adj" fmla="val 6500"/>
            </a:avLst>
          </a:prstGeom>
          <a:solidFill>
            <a:srgbClr val="1A1F26"/>
          </a:solidFill>
          <a:ln w="19050">
            <a:solidFill>
              <a:srgbClr val="3BC6E8"/>
            </a:solidFill>
            <a:prstDash val="solid"/>
          </a:ln>
        </p:spPr>
      </p:sp>
      <p:pic>
        <p:nvPicPr>
          <p:cNvPr id="46" name="Image 2" descr="preencoded.png">    </p:cNvPr>
          <p:cNvPicPr>
            <a:picLocks noChangeAspect="1"/>
          </p:cNvPicPr>
          <p:nvPr/>
        </p:nvPicPr>
        <p:blipFill>
          <a:blip r:embed="rId3"/>
          <a:stretch>
            <a:fillRect/>
          </a:stretch>
        </p:blipFill>
        <p:spPr>
          <a:xfrm>
            <a:off x="9532620" y="3502152"/>
            <a:ext cx="731520" cy="731520"/>
          </a:xfrm>
          <a:prstGeom prst="rect">
            <a:avLst/>
          </a:prstGeom>
        </p:spPr>
      </p:pic>
      <p:sp>
        <p:nvSpPr>
          <p:cNvPr id="47" name="Text 42"/>
          <p:cNvSpPr/>
          <p:nvPr/>
        </p:nvSpPr>
        <p:spPr>
          <a:xfrm>
            <a:off x="8321040" y="4270248"/>
            <a:ext cx="3154680" cy="365760"/>
          </a:xfrm>
          <a:prstGeom prst="rect">
            <a:avLst/>
          </a:prstGeom>
          <a:noFill/>
          <a:ln/>
        </p:spPr>
        <p:txBody>
          <a:bodyPr wrap="square" lIns="0" tIns="0" rIns="0" bIns="0" rtlCol="0" anchor="ctr"/>
          <a:lstStyle/>
          <a:p>
            <a:pPr algn="ctr" indent="0" marL="0">
              <a:buNone/>
            </a:pPr>
            <a:r>
              <a:rPr lang="en-US" sz="2200" b="1" spc="200" kern="0" dirty="0">
                <a:solidFill>
                  <a:srgbClr val="F1F4F7"/>
                </a:solidFill>
                <a:latin typeface="Arial" pitchFamily="34" charset="0"/>
                <a:ea typeface="Arial" pitchFamily="34" charset="-122"/>
                <a:cs typeface="Arial" pitchFamily="34" charset="-120"/>
              </a:rPr>
              <a:t>RAPTOR</a:t>
            </a:r>
            <a:endParaRPr lang="en-US" sz="2200" dirty="0"/>
          </a:p>
        </p:txBody>
      </p:sp>
      <p:sp>
        <p:nvSpPr>
          <p:cNvPr id="48" name="Text 43"/>
          <p:cNvSpPr/>
          <p:nvPr/>
        </p:nvSpPr>
        <p:spPr>
          <a:xfrm>
            <a:off x="8321040" y="4663440"/>
            <a:ext cx="3154680" cy="292608"/>
          </a:xfrm>
          <a:prstGeom prst="rect">
            <a:avLst/>
          </a:prstGeom>
          <a:noFill/>
          <a:ln/>
        </p:spPr>
        <p:txBody>
          <a:bodyPr wrap="square" lIns="0" tIns="0" rIns="0" bIns="0" rtlCol="0" anchor="ctr"/>
          <a:lstStyle/>
          <a:p>
            <a:pPr algn="ctr" indent="0" marL="0">
              <a:buNone/>
            </a:pPr>
            <a:r>
              <a:rPr lang="en-US" sz="1200" dirty="0">
                <a:solidFill>
                  <a:srgbClr val="3BC6E8"/>
                </a:solidFill>
                <a:latin typeface="Calibri" pitchFamily="34" charset="0"/>
                <a:ea typeface="Calibri" pitchFamily="34" charset="-122"/>
                <a:cs typeface="Calibri" pitchFamily="34" charset="-120"/>
              </a:rPr>
              <a:t>One application · one source of truth</a:t>
            </a:r>
            <a:endParaRPr lang="en-US" sz="1200" dirty="0"/>
          </a:p>
        </p:txBody>
      </p:sp>
      <p:sp>
        <p:nvSpPr>
          <p:cNvPr id="49" name="Text 44"/>
          <p:cNvSpPr/>
          <p:nvPr/>
        </p:nvSpPr>
        <p:spPr>
          <a:xfrm>
            <a:off x="7955280" y="5257800"/>
            <a:ext cx="3931920" cy="548640"/>
          </a:xfrm>
          <a:prstGeom prst="rect">
            <a:avLst/>
          </a:prstGeom>
          <a:noFill/>
          <a:ln/>
        </p:spPr>
        <p:txBody>
          <a:bodyPr wrap="square" lIns="0" tIns="0" rIns="0" bIns="0" rtlCol="0" anchor="ctr"/>
          <a:lstStyle/>
          <a:p>
            <a:pPr algn="ctr" indent="0" marL="0">
              <a:buNone/>
            </a:pPr>
            <a:r>
              <a:rPr lang="en-US" sz="1250" i="1" dirty="0">
                <a:solidFill>
                  <a:srgbClr val="B6C0CB"/>
                </a:solidFill>
                <a:latin typeface="Calibri" pitchFamily="34" charset="0"/>
                <a:ea typeface="Calibri" pitchFamily="34" charset="-122"/>
                <a:cs typeface="Calibri" pitchFamily="34" charset="-120"/>
              </a:rPr>
              <a:t>Enter a fact once. Everyone sees the same picture — and nothing has to be re-keyed.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0000"/>
          </a:blip>
          <a:stretch>
            <a:fillRect/>
          </a:stretch>
        </p:blipFill>
        <p:spPr>
          <a:xfrm>
            <a:off x="640080" y="6291072"/>
            <a:ext cx="219456" cy="219456"/>
          </a:xfrm>
          <a:prstGeom prst="rect">
            <a:avLst/>
          </a:prstGeom>
        </p:spPr>
      </p:pic>
      <p:sp>
        <p:nvSpPr>
          <p:cNvPr id="3" name="Text 0"/>
          <p:cNvSpPr/>
          <p:nvPr/>
        </p:nvSpPr>
        <p:spPr>
          <a:xfrm>
            <a:off x="914400" y="6309360"/>
            <a:ext cx="2743200" cy="219456"/>
          </a:xfrm>
          <a:prstGeom prst="rect">
            <a:avLst/>
          </a:prstGeom>
          <a:noFill/>
          <a:ln/>
        </p:spPr>
        <p:txBody>
          <a:bodyPr wrap="square" lIns="0" tIns="0" rIns="0" bIns="0" rtlCol="0" anchor="ctr"/>
          <a:lstStyle/>
          <a:p>
            <a:pPr indent="0" marL="0">
              <a:buNone/>
            </a:pPr>
            <a:r>
              <a:rPr lang="en-US" sz="900" b="1" spc="200" kern="0" dirty="0">
                <a:solidFill>
                  <a:srgbClr val="8A96A3"/>
                </a:solidFill>
                <a:latin typeface="Arial" pitchFamily="34" charset="0"/>
                <a:ea typeface="Arial" pitchFamily="34" charset="-122"/>
                <a:cs typeface="Arial" pitchFamily="34" charset="-120"/>
              </a:rPr>
              <a:t>RAPTOR</a:t>
            </a:r>
            <a:endParaRPr lang="en-US" sz="900" dirty="0"/>
          </a:p>
        </p:txBody>
      </p:sp>
      <p:sp>
        <p:nvSpPr>
          <p:cNvPr id="4" name="Text 1"/>
          <p:cNvSpPr/>
          <p:nvPr/>
        </p:nvSpPr>
        <p:spPr>
          <a:xfrm>
            <a:off x="11228832" y="6309360"/>
            <a:ext cx="457200" cy="219456"/>
          </a:xfrm>
          <a:prstGeom prst="rect">
            <a:avLst/>
          </a:prstGeom>
          <a:noFill/>
          <a:ln/>
        </p:spPr>
        <p:txBody>
          <a:bodyPr wrap="square" lIns="0" tIns="0" rIns="0" bIns="0" rtlCol="0" anchor="ctr"/>
          <a:lstStyle/>
          <a:p>
            <a:pPr algn="r" indent="0" marL="0">
              <a:buNone/>
            </a:pPr>
            <a:r>
              <a:rPr lang="en-US" sz="900" dirty="0">
                <a:solidFill>
                  <a:srgbClr val="8A96A3"/>
                </a:solidFill>
                <a:latin typeface="Arial" pitchFamily="34" charset="0"/>
                <a:ea typeface="Arial" pitchFamily="34" charset="-122"/>
                <a:cs typeface="Arial" pitchFamily="34" charset="-120"/>
              </a:rPr>
              <a:t>03</a:t>
            </a:r>
            <a:endParaRPr lang="en-US" sz="900" dirty="0"/>
          </a:p>
        </p:txBody>
      </p:sp>
      <p:sp>
        <p:nvSpPr>
          <p:cNvPr id="5" name="Text 2"/>
          <p:cNvSpPr/>
          <p:nvPr/>
        </p:nvSpPr>
        <p:spPr>
          <a:xfrm>
            <a:off x="640080" y="512064"/>
            <a:ext cx="9144000" cy="274320"/>
          </a:xfrm>
          <a:prstGeom prst="rect">
            <a:avLst/>
          </a:prstGeom>
          <a:noFill/>
          <a:ln/>
        </p:spPr>
        <p:txBody>
          <a:bodyPr wrap="square" lIns="0" tIns="0" rIns="0" bIns="0" rtlCol="0" anchor="ctr"/>
          <a:lstStyle/>
          <a:p>
            <a:pPr indent="0" marL="0">
              <a:buNone/>
            </a:pPr>
            <a:r>
              <a:rPr lang="en-US" sz="1200" b="1" spc="300" kern="0" dirty="0">
                <a:solidFill>
                  <a:srgbClr val="3BC6E8"/>
                </a:solidFill>
                <a:latin typeface="Arial" pitchFamily="34" charset="0"/>
                <a:ea typeface="Arial" pitchFamily="34" charset="-122"/>
                <a:cs typeface="Arial" pitchFamily="34" charset="-120"/>
              </a:rPr>
              <a:t>YOUR WINGMAN · 1</a:t>
            </a:r>
            <a:endParaRPr lang="en-US" sz="1200" dirty="0"/>
          </a:p>
        </p:txBody>
      </p:sp>
      <p:sp>
        <p:nvSpPr>
          <p:cNvPr id="6" name="Text 3"/>
          <p:cNvSpPr/>
          <p:nvPr/>
        </p:nvSpPr>
        <p:spPr>
          <a:xfrm>
            <a:off x="640080" y="804672"/>
            <a:ext cx="6949440" cy="822960"/>
          </a:xfrm>
          <a:prstGeom prst="rect">
            <a:avLst/>
          </a:prstGeom>
          <a:noFill/>
          <a:ln/>
        </p:spPr>
        <p:txBody>
          <a:bodyPr wrap="square" lIns="0" tIns="0" rIns="0" bIns="0" rtlCol="0" anchor="ctr"/>
          <a:lstStyle/>
          <a:p>
            <a:pPr indent="0" marL="0">
              <a:buNone/>
            </a:pPr>
            <a:r>
              <a:rPr lang="en-US" sz="3000" b="1" dirty="0">
                <a:solidFill>
                  <a:srgbClr val="F1F4F7"/>
                </a:solidFill>
                <a:latin typeface="Arial" pitchFamily="34" charset="0"/>
                <a:ea typeface="Arial" pitchFamily="34" charset="-122"/>
                <a:cs typeface="Arial" pitchFamily="34" charset="-120"/>
              </a:rPr>
              <a:t>It backs you up when a plan doesn't add up</a:t>
            </a:r>
            <a:endParaRPr lang="en-US" sz="3000" dirty="0"/>
          </a:p>
        </p:txBody>
      </p:sp>
      <p:sp>
        <p:nvSpPr>
          <p:cNvPr id="7" name="Text 4"/>
          <p:cNvSpPr/>
          <p:nvPr/>
        </p:nvSpPr>
        <p:spPr>
          <a:xfrm>
            <a:off x="640080" y="1810512"/>
            <a:ext cx="6949440" cy="640080"/>
          </a:xfrm>
          <a:prstGeom prst="rect">
            <a:avLst/>
          </a:prstGeom>
          <a:noFill/>
          <a:ln/>
        </p:spPr>
        <p:txBody>
          <a:bodyPr wrap="square" lIns="0" tIns="0" rIns="0" bIns="0" rtlCol="0" anchor="ctr"/>
          <a:lstStyle/>
          <a:p>
            <a:pPr indent="0" marL="0">
              <a:buNone/>
            </a:pPr>
            <a:r>
              <a:rPr lang="en-US" sz="1350" dirty="0">
                <a:solidFill>
                  <a:srgbClr val="B6C0CB"/>
                </a:solidFill>
                <a:latin typeface="Calibri" pitchFamily="34" charset="0"/>
                <a:ea typeface="Calibri" pitchFamily="34" charset="-122"/>
                <a:cs typeface="Calibri" pitchFamily="34" charset="-120"/>
              </a:rPr>
              <a:t>Every line is re-checked the instant it changes — RAPTOR flags what breaks the rules, clearly and on the spot, so a mistake is caught before it flies.</a:t>
            </a:r>
            <a:endParaRPr lang="en-US" sz="1350" dirty="0"/>
          </a:p>
        </p:txBody>
      </p:sp>
      <p:sp>
        <p:nvSpPr>
          <p:cNvPr id="8" name="Shape 5"/>
          <p:cNvSpPr/>
          <p:nvPr/>
        </p:nvSpPr>
        <p:spPr>
          <a:xfrm>
            <a:off x="640080" y="2468880"/>
            <a:ext cx="6903720" cy="749808"/>
          </a:xfrm>
          <a:prstGeom prst="roundRect">
            <a:avLst>
              <a:gd name="adj" fmla="val 8537"/>
            </a:avLst>
          </a:prstGeom>
          <a:solidFill>
            <a:srgbClr val="14181D"/>
          </a:solidFill>
          <a:ln w="12700">
            <a:solidFill>
              <a:srgbClr val="2A313A"/>
            </a:solidFill>
            <a:prstDash val="solid"/>
          </a:ln>
        </p:spPr>
      </p:sp>
      <p:sp>
        <p:nvSpPr>
          <p:cNvPr id="9" name="Shape 6"/>
          <p:cNvSpPr/>
          <p:nvPr/>
        </p:nvSpPr>
        <p:spPr>
          <a:xfrm>
            <a:off x="640080" y="2468880"/>
            <a:ext cx="100584" cy="749808"/>
          </a:xfrm>
          <a:prstGeom prst="roundRect">
            <a:avLst>
              <a:gd name="adj" fmla="val 18182"/>
            </a:avLst>
          </a:prstGeom>
          <a:solidFill>
            <a:srgbClr val="F0555F"/>
          </a:solidFill>
          <a:ln/>
        </p:spPr>
      </p:sp>
      <p:sp>
        <p:nvSpPr>
          <p:cNvPr id="10" name="Text 7"/>
          <p:cNvSpPr/>
          <p:nvPr/>
        </p:nvSpPr>
        <p:spPr>
          <a:xfrm>
            <a:off x="868680" y="2560320"/>
            <a:ext cx="6309360" cy="274320"/>
          </a:xfrm>
          <a:prstGeom prst="rect">
            <a:avLst/>
          </a:prstGeom>
          <a:noFill/>
          <a:ln/>
        </p:spPr>
        <p:txBody>
          <a:bodyPr wrap="square" lIns="0" tIns="0" rIns="0" bIns="0" rtlCol="0" anchor="ctr"/>
          <a:lstStyle/>
          <a:p>
            <a:pPr indent="0" marL="0">
              <a:buNone/>
            </a:pPr>
            <a:r>
              <a:rPr lang="en-US" sz="1350" b="1" dirty="0">
                <a:solidFill>
                  <a:srgbClr val="F1F4F7"/>
                </a:solidFill>
                <a:latin typeface="Arial" pitchFamily="34" charset="0"/>
                <a:ea typeface="Arial" pitchFamily="34" charset="-122"/>
                <a:cs typeface="Arial" pitchFamily="34" charset="-120"/>
              </a:rPr>
              <a:t>Crew-rest breach</a:t>
            </a:r>
            <a:endParaRPr lang="en-US" sz="1350" dirty="0"/>
          </a:p>
        </p:txBody>
      </p:sp>
      <p:sp>
        <p:nvSpPr>
          <p:cNvPr id="11" name="Text 8"/>
          <p:cNvSpPr/>
          <p:nvPr/>
        </p:nvSpPr>
        <p:spPr>
          <a:xfrm>
            <a:off x="868680" y="2852928"/>
            <a:ext cx="6492240" cy="310896"/>
          </a:xfrm>
          <a:prstGeom prst="rect">
            <a:avLst/>
          </a:prstGeom>
          <a:noFill/>
          <a:ln/>
        </p:spPr>
        <p:txBody>
          <a:bodyPr wrap="square" lIns="0" tIns="0" rIns="0" bIns="0" rtlCol="0" anchor="ctr"/>
          <a:lstStyle/>
          <a:p>
            <a:pPr indent="0" marL="0">
              <a:buNone/>
            </a:pPr>
            <a:r>
              <a:rPr lang="en-US" sz="1100" dirty="0">
                <a:solidFill>
                  <a:srgbClr val="B6C0CB"/>
                </a:solidFill>
                <a:latin typeface="Calibri" pitchFamily="34" charset="0"/>
                <a:ea typeface="Calibri" pitchFamily="34" charset="-122"/>
                <a:cs typeface="Calibri" pitchFamily="34" charset="-120"/>
              </a:rPr>
              <a:t>Late land last night vs. an early report — RAPTOR does the maths and names who's short.</a:t>
            </a:r>
            <a:endParaRPr lang="en-US" sz="1100" dirty="0"/>
          </a:p>
        </p:txBody>
      </p:sp>
      <p:sp>
        <p:nvSpPr>
          <p:cNvPr id="12" name="Shape 9"/>
          <p:cNvSpPr/>
          <p:nvPr/>
        </p:nvSpPr>
        <p:spPr>
          <a:xfrm>
            <a:off x="640080" y="3291840"/>
            <a:ext cx="6903720" cy="749808"/>
          </a:xfrm>
          <a:prstGeom prst="roundRect">
            <a:avLst>
              <a:gd name="adj" fmla="val 8537"/>
            </a:avLst>
          </a:prstGeom>
          <a:solidFill>
            <a:srgbClr val="14181D"/>
          </a:solidFill>
          <a:ln w="12700">
            <a:solidFill>
              <a:srgbClr val="2A313A"/>
            </a:solidFill>
            <a:prstDash val="solid"/>
          </a:ln>
        </p:spPr>
      </p:sp>
      <p:sp>
        <p:nvSpPr>
          <p:cNvPr id="13" name="Shape 10"/>
          <p:cNvSpPr/>
          <p:nvPr/>
        </p:nvSpPr>
        <p:spPr>
          <a:xfrm>
            <a:off x="640080" y="3291840"/>
            <a:ext cx="100584" cy="749808"/>
          </a:xfrm>
          <a:prstGeom prst="roundRect">
            <a:avLst>
              <a:gd name="adj" fmla="val 18182"/>
            </a:avLst>
          </a:prstGeom>
          <a:solidFill>
            <a:srgbClr val="F0555F"/>
          </a:solidFill>
          <a:ln/>
        </p:spPr>
      </p:sp>
      <p:sp>
        <p:nvSpPr>
          <p:cNvPr id="14" name="Text 11"/>
          <p:cNvSpPr/>
          <p:nvPr/>
        </p:nvSpPr>
        <p:spPr>
          <a:xfrm>
            <a:off x="868680" y="3383280"/>
            <a:ext cx="6309360" cy="274320"/>
          </a:xfrm>
          <a:prstGeom prst="rect">
            <a:avLst/>
          </a:prstGeom>
          <a:noFill/>
          <a:ln/>
        </p:spPr>
        <p:txBody>
          <a:bodyPr wrap="square" lIns="0" tIns="0" rIns="0" bIns="0" rtlCol="0" anchor="ctr"/>
          <a:lstStyle/>
          <a:p>
            <a:pPr indent="0" marL="0">
              <a:buNone/>
            </a:pPr>
            <a:r>
              <a:rPr lang="en-US" sz="1350" b="1" dirty="0">
                <a:solidFill>
                  <a:srgbClr val="F1F4F7"/>
                </a:solidFill>
                <a:latin typeface="Arial" pitchFamily="34" charset="0"/>
                <a:ea typeface="Arial" pitchFamily="34" charset="-122"/>
                <a:cs typeface="Arial" pitchFamily="34" charset="-120"/>
              </a:rPr>
              <a:t>Double-booking / clash</a:t>
            </a:r>
            <a:endParaRPr lang="en-US" sz="1350" dirty="0"/>
          </a:p>
        </p:txBody>
      </p:sp>
      <p:sp>
        <p:nvSpPr>
          <p:cNvPr id="15" name="Text 12"/>
          <p:cNvSpPr/>
          <p:nvPr/>
        </p:nvSpPr>
        <p:spPr>
          <a:xfrm>
            <a:off x="868680" y="3675888"/>
            <a:ext cx="6492240" cy="310896"/>
          </a:xfrm>
          <a:prstGeom prst="rect">
            <a:avLst/>
          </a:prstGeom>
          <a:noFill/>
          <a:ln/>
        </p:spPr>
        <p:txBody>
          <a:bodyPr wrap="square" lIns="0" tIns="0" rIns="0" bIns="0" rtlCol="0" anchor="ctr"/>
          <a:lstStyle/>
          <a:p>
            <a:pPr indent="0" marL="0">
              <a:buNone/>
            </a:pPr>
            <a:r>
              <a:rPr lang="en-US" sz="1100" dirty="0">
                <a:solidFill>
                  <a:srgbClr val="B6C0CB"/>
                </a:solidFill>
                <a:latin typeface="Calibri" pitchFamily="34" charset="0"/>
                <a:ea typeface="Calibri" pitchFamily="34" charset="-122"/>
                <a:cs typeface="Calibri" pitchFamily="34" charset="-120"/>
              </a:rPr>
              <a:t>One person, two places at once — across sorties, sims, duties and meetings.</a:t>
            </a:r>
            <a:endParaRPr lang="en-US" sz="1100" dirty="0"/>
          </a:p>
        </p:txBody>
      </p:sp>
      <p:sp>
        <p:nvSpPr>
          <p:cNvPr id="16" name="Shape 13"/>
          <p:cNvSpPr/>
          <p:nvPr/>
        </p:nvSpPr>
        <p:spPr>
          <a:xfrm>
            <a:off x="640080" y="4114800"/>
            <a:ext cx="6903720" cy="749808"/>
          </a:xfrm>
          <a:prstGeom prst="roundRect">
            <a:avLst>
              <a:gd name="adj" fmla="val 8537"/>
            </a:avLst>
          </a:prstGeom>
          <a:solidFill>
            <a:srgbClr val="14181D"/>
          </a:solidFill>
          <a:ln w="12700">
            <a:solidFill>
              <a:srgbClr val="2A313A"/>
            </a:solidFill>
            <a:prstDash val="solid"/>
          </a:ln>
        </p:spPr>
      </p:sp>
      <p:sp>
        <p:nvSpPr>
          <p:cNvPr id="17" name="Shape 14"/>
          <p:cNvSpPr/>
          <p:nvPr/>
        </p:nvSpPr>
        <p:spPr>
          <a:xfrm>
            <a:off x="640080" y="4114800"/>
            <a:ext cx="100584" cy="749808"/>
          </a:xfrm>
          <a:prstGeom prst="roundRect">
            <a:avLst>
              <a:gd name="adj" fmla="val 18182"/>
            </a:avLst>
          </a:prstGeom>
          <a:solidFill>
            <a:srgbClr val="F0555F"/>
          </a:solidFill>
          <a:ln/>
        </p:spPr>
      </p:sp>
      <p:sp>
        <p:nvSpPr>
          <p:cNvPr id="18" name="Text 15"/>
          <p:cNvSpPr/>
          <p:nvPr/>
        </p:nvSpPr>
        <p:spPr>
          <a:xfrm>
            <a:off x="868680" y="4206240"/>
            <a:ext cx="6309360" cy="274320"/>
          </a:xfrm>
          <a:prstGeom prst="rect">
            <a:avLst/>
          </a:prstGeom>
          <a:noFill/>
          <a:ln/>
        </p:spPr>
        <p:txBody>
          <a:bodyPr wrap="square" lIns="0" tIns="0" rIns="0" bIns="0" rtlCol="0" anchor="ctr"/>
          <a:lstStyle/>
          <a:p>
            <a:pPr indent="0" marL="0">
              <a:buNone/>
            </a:pPr>
            <a:r>
              <a:rPr lang="en-US" sz="1350" b="1" dirty="0">
                <a:solidFill>
                  <a:srgbClr val="F1F4F7"/>
                </a:solidFill>
                <a:latin typeface="Arial" pitchFamily="34" charset="0"/>
                <a:ea typeface="Arial" pitchFamily="34" charset="-122"/>
                <a:cs typeface="Arial" pitchFamily="34" charset="-120"/>
              </a:rPr>
              <a:t>Downchit but tasked</a:t>
            </a:r>
            <a:endParaRPr lang="en-US" sz="1350" dirty="0"/>
          </a:p>
        </p:txBody>
      </p:sp>
      <p:sp>
        <p:nvSpPr>
          <p:cNvPr id="19" name="Text 16"/>
          <p:cNvSpPr/>
          <p:nvPr/>
        </p:nvSpPr>
        <p:spPr>
          <a:xfrm>
            <a:off x="868680" y="4498848"/>
            <a:ext cx="6492240" cy="310896"/>
          </a:xfrm>
          <a:prstGeom prst="rect">
            <a:avLst/>
          </a:prstGeom>
          <a:noFill/>
          <a:ln/>
        </p:spPr>
        <p:txBody>
          <a:bodyPr wrap="square" lIns="0" tIns="0" rIns="0" bIns="0" rtlCol="0" anchor="ctr"/>
          <a:lstStyle/>
          <a:p>
            <a:pPr indent="0" marL="0">
              <a:buNone/>
            </a:pPr>
            <a:r>
              <a:rPr lang="en-US" sz="1100" dirty="0">
                <a:solidFill>
                  <a:srgbClr val="B6C0CB"/>
                </a:solidFill>
                <a:latin typeface="Calibri" pitchFamily="34" charset="0"/>
                <a:ea typeface="Calibri" pitchFamily="34" charset="-122"/>
                <a:cs typeface="Calibri" pitchFamily="34" charset="-120"/>
              </a:rPr>
              <a:t>Someone medically down still on a flying line — flagged with the reason and dates.</a:t>
            </a:r>
            <a:endParaRPr lang="en-US" sz="1100" dirty="0"/>
          </a:p>
        </p:txBody>
      </p:sp>
      <p:sp>
        <p:nvSpPr>
          <p:cNvPr id="20" name="Shape 17"/>
          <p:cNvSpPr/>
          <p:nvPr/>
        </p:nvSpPr>
        <p:spPr>
          <a:xfrm>
            <a:off x="640080" y="4937760"/>
            <a:ext cx="6903720" cy="749808"/>
          </a:xfrm>
          <a:prstGeom prst="roundRect">
            <a:avLst>
              <a:gd name="adj" fmla="val 8537"/>
            </a:avLst>
          </a:prstGeom>
          <a:solidFill>
            <a:srgbClr val="14181D"/>
          </a:solidFill>
          <a:ln w="12700">
            <a:solidFill>
              <a:srgbClr val="2A313A"/>
            </a:solidFill>
            <a:prstDash val="solid"/>
          </a:ln>
        </p:spPr>
      </p:sp>
      <p:sp>
        <p:nvSpPr>
          <p:cNvPr id="21" name="Shape 18"/>
          <p:cNvSpPr/>
          <p:nvPr/>
        </p:nvSpPr>
        <p:spPr>
          <a:xfrm>
            <a:off x="640080" y="4937760"/>
            <a:ext cx="100584" cy="749808"/>
          </a:xfrm>
          <a:prstGeom prst="roundRect">
            <a:avLst>
              <a:gd name="adj" fmla="val 18182"/>
            </a:avLst>
          </a:prstGeom>
          <a:solidFill>
            <a:srgbClr val="E5A83B"/>
          </a:solidFill>
          <a:ln/>
        </p:spPr>
      </p:sp>
      <p:sp>
        <p:nvSpPr>
          <p:cNvPr id="22" name="Text 19"/>
          <p:cNvSpPr/>
          <p:nvPr/>
        </p:nvSpPr>
        <p:spPr>
          <a:xfrm>
            <a:off x="868680" y="5029200"/>
            <a:ext cx="6309360" cy="274320"/>
          </a:xfrm>
          <a:prstGeom prst="rect">
            <a:avLst/>
          </a:prstGeom>
          <a:noFill/>
          <a:ln/>
        </p:spPr>
        <p:txBody>
          <a:bodyPr wrap="square" lIns="0" tIns="0" rIns="0" bIns="0" rtlCol="0" anchor="ctr"/>
          <a:lstStyle/>
          <a:p>
            <a:pPr indent="0" marL="0">
              <a:buNone/>
            </a:pPr>
            <a:r>
              <a:rPr lang="en-US" sz="1350" b="1" dirty="0">
                <a:solidFill>
                  <a:srgbClr val="F1F4F7"/>
                </a:solidFill>
                <a:latin typeface="Arial" pitchFamily="34" charset="0"/>
                <a:ea typeface="Arial" pitchFamily="34" charset="-122"/>
                <a:cs typeface="Arial" pitchFamily="34" charset="-120"/>
              </a:rPr>
              <a:t>No time for the brief</a:t>
            </a:r>
            <a:endParaRPr lang="en-US" sz="1350" dirty="0"/>
          </a:p>
        </p:txBody>
      </p:sp>
      <p:sp>
        <p:nvSpPr>
          <p:cNvPr id="23" name="Text 20"/>
          <p:cNvSpPr/>
          <p:nvPr/>
        </p:nvSpPr>
        <p:spPr>
          <a:xfrm>
            <a:off x="868680" y="5321808"/>
            <a:ext cx="6492240" cy="310896"/>
          </a:xfrm>
          <a:prstGeom prst="rect">
            <a:avLst/>
          </a:prstGeom>
          <a:noFill/>
          <a:ln/>
        </p:spPr>
        <p:txBody>
          <a:bodyPr wrap="square" lIns="0" tIns="0" rIns="0" bIns="0" rtlCol="0" anchor="ctr"/>
          <a:lstStyle/>
          <a:p>
            <a:pPr indent="0" marL="0">
              <a:buNone/>
            </a:pPr>
            <a:r>
              <a:rPr lang="en-US" sz="1100" dirty="0">
                <a:solidFill>
                  <a:srgbClr val="B6C0CB"/>
                </a:solidFill>
                <a:latin typeface="Calibri" pitchFamily="34" charset="0"/>
                <a:ea typeface="Calibri" pitchFamily="34" charset="-122"/>
                <a:cs typeface="Calibri" pitchFamily="34" charset="-120"/>
              </a:rPr>
              <a:t>A meeting or sim sits inside the flight's brief window — the brief can't happen.</a:t>
            </a:r>
            <a:endParaRPr lang="en-US" sz="1100" dirty="0"/>
          </a:p>
        </p:txBody>
      </p:sp>
      <p:sp>
        <p:nvSpPr>
          <p:cNvPr id="24" name="Shape 21"/>
          <p:cNvSpPr/>
          <p:nvPr/>
        </p:nvSpPr>
        <p:spPr>
          <a:xfrm>
            <a:off x="640080" y="5760720"/>
            <a:ext cx="6903720" cy="749808"/>
          </a:xfrm>
          <a:prstGeom prst="roundRect">
            <a:avLst>
              <a:gd name="adj" fmla="val 8537"/>
            </a:avLst>
          </a:prstGeom>
          <a:solidFill>
            <a:srgbClr val="14181D"/>
          </a:solidFill>
          <a:ln w="12700">
            <a:solidFill>
              <a:srgbClr val="2A313A"/>
            </a:solidFill>
            <a:prstDash val="solid"/>
          </a:ln>
        </p:spPr>
      </p:sp>
      <p:sp>
        <p:nvSpPr>
          <p:cNvPr id="25" name="Shape 22"/>
          <p:cNvSpPr/>
          <p:nvPr/>
        </p:nvSpPr>
        <p:spPr>
          <a:xfrm>
            <a:off x="640080" y="5760720"/>
            <a:ext cx="100584" cy="749808"/>
          </a:xfrm>
          <a:prstGeom prst="roundRect">
            <a:avLst>
              <a:gd name="adj" fmla="val 18182"/>
            </a:avLst>
          </a:prstGeom>
          <a:solidFill>
            <a:srgbClr val="F0555F"/>
          </a:solidFill>
          <a:ln/>
        </p:spPr>
      </p:sp>
      <p:sp>
        <p:nvSpPr>
          <p:cNvPr id="26" name="Text 23"/>
          <p:cNvSpPr/>
          <p:nvPr/>
        </p:nvSpPr>
        <p:spPr>
          <a:xfrm>
            <a:off x="868680" y="5852160"/>
            <a:ext cx="6309360" cy="274320"/>
          </a:xfrm>
          <a:prstGeom prst="rect">
            <a:avLst/>
          </a:prstGeom>
          <a:noFill/>
          <a:ln/>
        </p:spPr>
        <p:txBody>
          <a:bodyPr wrap="square" lIns="0" tIns="0" rIns="0" bIns="0" rtlCol="0" anchor="ctr"/>
          <a:lstStyle/>
          <a:p>
            <a:pPr indent="0" marL="0">
              <a:buNone/>
            </a:pPr>
            <a:r>
              <a:rPr lang="en-US" sz="1350" b="1" dirty="0">
                <a:solidFill>
                  <a:srgbClr val="F1F4F7"/>
                </a:solidFill>
                <a:latin typeface="Arial" pitchFamily="34" charset="0"/>
                <a:ea typeface="Arial" pitchFamily="34" charset="-122"/>
                <a:cs typeface="Arial" pitchFamily="34" charset="-120"/>
              </a:rPr>
              <a:t>Illegal crew combination</a:t>
            </a:r>
            <a:endParaRPr lang="en-US" sz="1350" dirty="0"/>
          </a:p>
        </p:txBody>
      </p:sp>
      <p:sp>
        <p:nvSpPr>
          <p:cNvPr id="27" name="Text 24"/>
          <p:cNvSpPr/>
          <p:nvPr/>
        </p:nvSpPr>
        <p:spPr>
          <a:xfrm>
            <a:off x="868680" y="6144768"/>
            <a:ext cx="6492240" cy="310896"/>
          </a:xfrm>
          <a:prstGeom prst="rect">
            <a:avLst/>
          </a:prstGeom>
          <a:noFill/>
          <a:ln/>
        </p:spPr>
        <p:txBody>
          <a:bodyPr wrap="square" lIns="0" tIns="0" rIns="0" bIns="0" rtlCol="0" anchor="ctr"/>
          <a:lstStyle/>
          <a:p>
            <a:pPr indent="0" marL="0">
              <a:buNone/>
            </a:pPr>
            <a:r>
              <a:rPr lang="en-US" sz="1100" dirty="0">
                <a:solidFill>
                  <a:srgbClr val="B6C0CB"/>
                </a:solidFill>
                <a:latin typeface="Calibri" pitchFamily="34" charset="0"/>
                <a:ea typeface="Calibri" pitchFamily="34" charset="-122"/>
                <a:cs typeface="Calibri" pitchFamily="34" charset="-120"/>
              </a:rPr>
              <a:t>“OCU pilot with CAT C WSO — not an authorised combination” — quals checked on every pairing.</a:t>
            </a:r>
            <a:endParaRPr lang="en-US" sz="1100" dirty="0"/>
          </a:p>
        </p:txBody>
      </p:sp>
      <p:sp>
        <p:nvSpPr>
          <p:cNvPr id="28" name="Text 25"/>
          <p:cNvSpPr/>
          <p:nvPr/>
        </p:nvSpPr>
        <p:spPr>
          <a:xfrm>
            <a:off x="640080" y="6601968"/>
            <a:ext cx="6858000" cy="320040"/>
          </a:xfrm>
          <a:prstGeom prst="rect">
            <a:avLst/>
          </a:prstGeom>
          <a:noFill/>
          <a:ln/>
        </p:spPr>
        <p:txBody>
          <a:bodyPr wrap="square" lIns="0" tIns="0" rIns="0" bIns="0" rtlCol="0" anchor="ctr"/>
          <a:lstStyle/>
          <a:p>
            <a:pPr indent="0" marL="0">
              <a:buNone/>
            </a:pPr>
            <a:r>
              <a:rPr lang="en-US" sz="1150" i="1" dirty="0">
                <a:solidFill>
                  <a:srgbClr val="3BC6E8"/>
                </a:solidFill>
                <a:latin typeface="Calibri" pitchFamily="34" charset="0"/>
                <a:ea typeface="Calibri" pitchFamily="34" charset="-122"/>
                <a:cs typeface="Calibri" pitchFamily="34" charset="-120"/>
              </a:rPr>
              <a:t>A soft bar: it warns clearly and grades severity, but the planner stays in command.</a:t>
            </a:r>
            <a:endParaRPr lang="en-US" sz="1150" dirty="0"/>
          </a:p>
        </p:txBody>
      </p:sp>
      <p:sp>
        <p:nvSpPr>
          <p:cNvPr id="29" name="Shape 26"/>
          <p:cNvSpPr/>
          <p:nvPr/>
        </p:nvSpPr>
        <p:spPr>
          <a:xfrm>
            <a:off x="7790688" y="1024128"/>
            <a:ext cx="3758184" cy="5449824"/>
          </a:xfrm>
          <a:prstGeom prst="roundRect">
            <a:avLst>
              <a:gd name="adj" fmla="val 2433"/>
            </a:avLst>
          </a:prstGeom>
          <a:solidFill>
            <a:srgbClr val="000000"/>
          </a:solidFill>
          <a:ln/>
          <a:effectLst>
            <a:outerShdw sx="100000" sy="100000" kx="0" ky="0" algn="bl" rotWithShape="0" blurRad="177800" dist="63500" dir="5400000">
              <a:srgbClr val="000000">
                <a:alpha val="55000"/>
              </a:srgbClr>
            </a:outerShdw>
          </a:effectLst>
        </p:spPr>
      </p:sp>
      <p:sp>
        <p:nvSpPr>
          <p:cNvPr id="30" name="Shape 27"/>
          <p:cNvSpPr/>
          <p:nvPr/>
        </p:nvSpPr>
        <p:spPr>
          <a:xfrm>
            <a:off x="7818120" y="1051560"/>
            <a:ext cx="3703320" cy="5394960"/>
          </a:xfrm>
          <a:prstGeom prst="roundRect">
            <a:avLst>
              <a:gd name="adj" fmla="val 2222"/>
            </a:avLst>
          </a:prstGeom>
          <a:solidFill>
            <a:srgbClr val="0E1116"/>
          </a:solidFill>
          <a:ln w="12700">
            <a:solidFill>
              <a:srgbClr val="F0555F"/>
            </a:solidFill>
            <a:prstDash val="solid"/>
          </a:ln>
        </p:spPr>
      </p:sp>
      <p:pic>
        <p:nvPicPr>
          <p:cNvPr id="31" name="Image 1" descr="preencoded.png">    </p:cNvPr>
          <p:cNvPicPr>
            <a:picLocks noChangeAspect="1"/>
          </p:cNvPicPr>
          <p:nvPr/>
        </p:nvPicPr>
        <p:blipFill>
          <a:blip r:embed="rId2"/>
          <a:stretch>
            <a:fillRect/>
          </a:stretch>
        </p:blipFill>
        <p:spPr>
          <a:xfrm>
            <a:off x="7872984" y="1255654"/>
            <a:ext cx="3593592" cy="49867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65000"/>
          </a:blip>
          <a:stretch>
            <a:fillRect/>
          </a:stretch>
        </p:blipFill>
        <p:spPr>
          <a:xfrm>
            <a:off x="11137392" y="384048"/>
            <a:ext cx="548640" cy="548640"/>
          </a:xfrm>
          <a:prstGeom prst="rect">
            <a:avLst/>
          </a:prstGeom>
        </p:spPr>
      </p:pic>
      <p:pic>
        <p:nvPicPr>
          <p:cNvPr id="3" name="Image 1" descr="preencoded.png">    </p:cNvPr>
          <p:cNvPicPr>
            <a:picLocks noChangeAspect="1"/>
          </p:cNvPicPr>
          <p:nvPr/>
        </p:nvPicPr>
        <p:blipFill>
          <a:blip r:embed="rId2">
            <a:alphaModFix amt="80000"/>
          </a:blip>
          <a:stretch>
            <a:fillRect/>
          </a:stretch>
        </p:blipFill>
        <p:spPr>
          <a:xfrm>
            <a:off x="640080" y="6291072"/>
            <a:ext cx="219456" cy="219456"/>
          </a:xfrm>
          <a:prstGeom prst="rect">
            <a:avLst/>
          </a:prstGeom>
        </p:spPr>
      </p:pic>
      <p:sp>
        <p:nvSpPr>
          <p:cNvPr id="4" name="Text 0"/>
          <p:cNvSpPr/>
          <p:nvPr/>
        </p:nvSpPr>
        <p:spPr>
          <a:xfrm>
            <a:off x="914400" y="6309360"/>
            <a:ext cx="2743200" cy="219456"/>
          </a:xfrm>
          <a:prstGeom prst="rect">
            <a:avLst/>
          </a:prstGeom>
          <a:noFill/>
          <a:ln/>
        </p:spPr>
        <p:txBody>
          <a:bodyPr wrap="square" lIns="0" tIns="0" rIns="0" bIns="0" rtlCol="0" anchor="ctr"/>
          <a:lstStyle/>
          <a:p>
            <a:pPr indent="0" marL="0">
              <a:buNone/>
            </a:pPr>
            <a:r>
              <a:rPr lang="en-US" sz="900" b="1" spc="200" kern="0" dirty="0">
                <a:solidFill>
                  <a:srgbClr val="8A96A3"/>
                </a:solidFill>
                <a:latin typeface="Arial" pitchFamily="34" charset="0"/>
                <a:ea typeface="Arial" pitchFamily="34" charset="-122"/>
                <a:cs typeface="Arial" pitchFamily="34" charset="-120"/>
              </a:rPr>
              <a:t>RAPTOR</a:t>
            </a:r>
            <a:endParaRPr lang="en-US" sz="900" dirty="0"/>
          </a:p>
        </p:txBody>
      </p:sp>
      <p:sp>
        <p:nvSpPr>
          <p:cNvPr id="5" name="Text 1"/>
          <p:cNvSpPr/>
          <p:nvPr/>
        </p:nvSpPr>
        <p:spPr>
          <a:xfrm>
            <a:off x="11228832" y="6309360"/>
            <a:ext cx="457200" cy="219456"/>
          </a:xfrm>
          <a:prstGeom prst="rect">
            <a:avLst/>
          </a:prstGeom>
          <a:noFill/>
          <a:ln/>
        </p:spPr>
        <p:txBody>
          <a:bodyPr wrap="square" lIns="0" tIns="0" rIns="0" bIns="0" rtlCol="0" anchor="ctr"/>
          <a:lstStyle/>
          <a:p>
            <a:pPr algn="r" indent="0" marL="0">
              <a:buNone/>
            </a:pPr>
            <a:r>
              <a:rPr lang="en-US" sz="900" dirty="0">
                <a:solidFill>
                  <a:srgbClr val="8A96A3"/>
                </a:solidFill>
                <a:latin typeface="Arial" pitchFamily="34" charset="0"/>
                <a:ea typeface="Arial" pitchFamily="34" charset="-122"/>
                <a:cs typeface="Arial" pitchFamily="34" charset="-120"/>
              </a:rPr>
              <a:t>04</a:t>
            </a:r>
            <a:endParaRPr lang="en-US" sz="900" dirty="0"/>
          </a:p>
        </p:txBody>
      </p:sp>
      <p:sp>
        <p:nvSpPr>
          <p:cNvPr id="6" name="Text 2"/>
          <p:cNvSpPr/>
          <p:nvPr/>
        </p:nvSpPr>
        <p:spPr>
          <a:xfrm>
            <a:off x="640080" y="512064"/>
            <a:ext cx="9144000" cy="274320"/>
          </a:xfrm>
          <a:prstGeom prst="rect">
            <a:avLst/>
          </a:prstGeom>
          <a:noFill/>
          <a:ln/>
        </p:spPr>
        <p:txBody>
          <a:bodyPr wrap="square" lIns="0" tIns="0" rIns="0" bIns="0" rtlCol="0" anchor="ctr"/>
          <a:lstStyle/>
          <a:p>
            <a:pPr indent="0" marL="0">
              <a:buNone/>
            </a:pPr>
            <a:r>
              <a:rPr lang="en-US" sz="1200" b="1" spc="300" kern="0" dirty="0">
                <a:solidFill>
                  <a:srgbClr val="3BC6E8"/>
                </a:solidFill>
                <a:latin typeface="Arial" pitchFamily="34" charset="0"/>
                <a:ea typeface="Arial" pitchFamily="34" charset="-122"/>
                <a:cs typeface="Arial" pitchFamily="34" charset="-120"/>
              </a:rPr>
              <a:t>YOUR WINGMAN · 2</a:t>
            </a:r>
            <a:endParaRPr lang="en-US" sz="1200" dirty="0"/>
          </a:p>
        </p:txBody>
      </p:sp>
      <p:sp>
        <p:nvSpPr>
          <p:cNvPr id="7" name="Text 3"/>
          <p:cNvSpPr/>
          <p:nvPr/>
        </p:nvSpPr>
        <p:spPr>
          <a:xfrm>
            <a:off x="640080" y="822960"/>
            <a:ext cx="10607040" cy="822960"/>
          </a:xfrm>
          <a:prstGeom prst="rect">
            <a:avLst/>
          </a:prstGeom>
          <a:noFill/>
          <a:ln/>
        </p:spPr>
        <p:txBody>
          <a:bodyPr wrap="square" lIns="0" tIns="0" rIns="0" bIns="0" rtlCol="0" anchor="ctr"/>
          <a:lstStyle/>
          <a:p>
            <a:pPr indent="0" marL="0">
              <a:buNone/>
            </a:pPr>
            <a:r>
              <a:rPr lang="en-US" sz="3300" b="1" dirty="0">
                <a:solidFill>
                  <a:srgbClr val="F1F4F7"/>
                </a:solidFill>
                <a:latin typeface="Arial" pitchFamily="34" charset="0"/>
                <a:ea typeface="Arial" pitchFamily="34" charset="-122"/>
                <a:cs typeface="Arial" pitchFamily="34" charset="-120"/>
              </a:rPr>
              <a:t>It shows you exactly who can fly the line</a:t>
            </a:r>
            <a:endParaRPr lang="en-US" sz="3300" dirty="0"/>
          </a:p>
        </p:txBody>
      </p:sp>
      <p:sp>
        <p:nvSpPr>
          <p:cNvPr id="8" name="Text 4"/>
          <p:cNvSpPr/>
          <p:nvPr/>
        </p:nvSpPr>
        <p:spPr>
          <a:xfrm>
            <a:off x="640080" y="1572768"/>
            <a:ext cx="10881360" cy="365760"/>
          </a:xfrm>
          <a:prstGeom prst="rect">
            <a:avLst/>
          </a:prstGeom>
          <a:noFill/>
          <a:ln/>
        </p:spPr>
        <p:txBody>
          <a:bodyPr wrap="square" lIns="0" tIns="0" rIns="0" bIns="0" rtlCol="0" anchor="ctr"/>
          <a:lstStyle/>
          <a:p>
            <a:pPr indent="0" marL="0">
              <a:buNone/>
            </a:pPr>
            <a:r>
              <a:rPr lang="en-US" sz="1400" dirty="0">
                <a:solidFill>
                  <a:srgbClr val="B6C0CB"/>
                </a:solidFill>
                <a:latin typeface="Calibri" pitchFamily="34" charset="0"/>
                <a:ea typeface="Calibri" pitchFamily="34" charset="-122"/>
                <a:cs typeface="Calibri" pitchFamily="34" charset="-120"/>
              </a:rPr>
              <a:t>Reach for a crew and RAPTOR has already done the thinking — who's qualified, who's rested, who's free.</a:t>
            </a:r>
            <a:endParaRPr lang="en-US" sz="1400" dirty="0"/>
          </a:p>
        </p:txBody>
      </p:sp>
      <p:sp>
        <p:nvSpPr>
          <p:cNvPr id="9" name="Shape 5"/>
          <p:cNvSpPr/>
          <p:nvPr/>
        </p:nvSpPr>
        <p:spPr>
          <a:xfrm>
            <a:off x="612648" y="2075688"/>
            <a:ext cx="6912864" cy="4398264"/>
          </a:xfrm>
          <a:prstGeom prst="roundRect">
            <a:avLst>
              <a:gd name="adj" fmla="val 2079"/>
            </a:avLst>
          </a:prstGeom>
          <a:solidFill>
            <a:srgbClr val="000000"/>
          </a:solidFill>
          <a:ln/>
          <a:effectLst>
            <a:outerShdw sx="100000" sy="100000" kx="0" ky="0" algn="bl" rotWithShape="0" blurRad="177800" dist="63500" dir="5400000">
              <a:srgbClr val="000000">
                <a:alpha val="55000"/>
              </a:srgbClr>
            </a:outerShdw>
          </a:effectLst>
        </p:spPr>
      </p:sp>
      <p:sp>
        <p:nvSpPr>
          <p:cNvPr id="10" name="Shape 6"/>
          <p:cNvSpPr/>
          <p:nvPr/>
        </p:nvSpPr>
        <p:spPr>
          <a:xfrm>
            <a:off x="640080" y="2103120"/>
            <a:ext cx="6858000" cy="4343400"/>
          </a:xfrm>
          <a:prstGeom prst="roundRect">
            <a:avLst>
              <a:gd name="adj" fmla="val 1895"/>
            </a:avLst>
          </a:prstGeom>
          <a:solidFill>
            <a:srgbClr val="0E1116"/>
          </a:solidFill>
          <a:ln w="12700">
            <a:solidFill>
              <a:srgbClr val="3BD07A"/>
            </a:solidFill>
            <a:prstDash val="solid"/>
          </a:ln>
        </p:spPr>
      </p:sp>
      <p:pic>
        <p:nvPicPr>
          <p:cNvPr id="11" name="Image 2" descr="preencoded.png">    </p:cNvPr>
          <p:cNvPicPr>
            <a:picLocks noChangeAspect="1"/>
          </p:cNvPicPr>
          <p:nvPr/>
        </p:nvPicPr>
        <p:blipFill>
          <a:blip r:embed="rId3"/>
          <a:stretch>
            <a:fillRect/>
          </a:stretch>
        </p:blipFill>
        <p:spPr>
          <a:xfrm>
            <a:off x="725781" y="2157984"/>
            <a:ext cx="6686598" cy="4233672"/>
          </a:xfrm>
          <a:prstGeom prst="rect">
            <a:avLst/>
          </a:prstGeom>
        </p:spPr>
      </p:pic>
      <p:sp>
        <p:nvSpPr>
          <p:cNvPr id="12" name="Shape 7"/>
          <p:cNvSpPr/>
          <p:nvPr/>
        </p:nvSpPr>
        <p:spPr>
          <a:xfrm>
            <a:off x="7772400" y="2295144"/>
            <a:ext cx="146304" cy="146304"/>
          </a:xfrm>
          <a:prstGeom prst="ellipse">
            <a:avLst/>
          </a:prstGeom>
          <a:solidFill>
            <a:srgbClr val="3BC6E8"/>
          </a:solidFill>
          <a:ln/>
        </p:spPr>
      </p:sp>
      <p:sp>
        <p:nvSpPr>
          <p:cNvPr id="13" name="Text 8"/>
          <p:cNvSpPr/>
          <p:nvPr/>
        </p:nvSpPr>
        <p:spPr>
          <a:xfrm>
            <a:off x="8046720" y="2194560"/>
            <a:ext cx="347472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Available-crew placeholders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The palette lists who is free right now — pilots, WSOs and personnel — and strikes out anyone already committed.</a:t>
            </a:r>
            <a:endParaRPr lang="en-US" sz="1250" dirty="0"/>
          </a:p>
        </p:txBody>
      </p:sp>
      <p:sp>
        <p:nvSpPr>
          <p:cNvPr id="14" name="Shape 9"/>
          <p:cNvSpPr/>
          <p:nvPr/>
        </p:nvSpPr>
        <p:spPr>
          <a:xfrm>
            <a:off x="7772400" y="3300984"/>
            <a:ext cx="146304" cy="146304"/>
          </a:xfrm>
          <a:prstGeom prst="ellipse">
            <a:avLst/>
          </a:prstGeom>
          <a:solidFill>
            <a:srgbClr val="3BD07A"/>
          </a:solidFill>
          <a:ln/>
        </p:spPr>
      </p:sp>
      <p:sp>
        <p:nvSpPr>
          <p:cNvPr id="15" name="Text 10"/>
          <p:cNvSpPr/>
          <p:nvPr/>
        </p:nvSpPr>
        <p:spPr>
          <a:xfrm>
            <a:off x="8046720" y="3200400"/>
            <a:ext cx="347472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Click a crew → green shows where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Select someone and every slot they can legally fill lights up green. No guesswork.</a:t>
            </a:r>
            <a:endParaRPr lang="en-US" sz="1250" dirty="0"/>
          </a:p>
        </p:txBody>
      </p:sp>
      <p:sp>
        <p:nvSpPr>
          <p:cNvPr id="16" name="Shape 11"/>
          <p:cNvSpPr/>
          <p:nvPr/>
        </p:nvSpPr>
        <p:spPr>
          <a:xfrm>
            <a:off x="7772400" y="4306824"/>
            <a:ext cx="146304" cy="146304"/>
          </a:xfrm>
          <a:prstGeom prst="ellipse">
            <a:avLst/>
          </a:prstGeom>
          <a:solidFill>
            <a:srgbClr val="E5A83B"/>
          </a:solidFill>
          <a:ln/>
        </p:spPr>
      </p:sp>
      <p:sp>
        <p:nvSpPr>
          <p:cNvPr id="17" name="Text 12"/>
          <p:cNvSpPr/>
          <p:nvPr/>
        </p:nvSpPr>
        <p:spPr>
          <a:xfrm>
            <a:off x="8046720" y="4206240"/>
            <a:ext cx="347472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Read them across the whole week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Tap a puck and that person is highlighted on every day — trace where they are all week at a glance.</a:t>
            </a:r>
            <a:endParaRPr lang="en-US" sz="1250" dirty="0"/>
          </a:p>
        </p:txBody>
      </p:sp>
      <p:sp>
        <p:nvSpPr>
          <p:cNvPr id="18" name="Shape 13"/>
          <p:cNvSpPr/>
          <p:nvPr/>
        </p:nvSpPr>
        <p:spPr>
          <a:xfrm>
            <a:off x="7772400" y="5349240"/>
            <a:ext cx="3749040" cy="1051560"/>
          </a:xfrm>
          <a:prstGeom prst="roundRect">
            <a:avLst>
              <a:gd name="adj" fmla="val 8696"/>
            </a:avLst>
          </a:prstGeom>
          <a:solidFill>
            <a:srgbClr val="1A1F26"/>
          </a:solidFill>
          <a:ln w="12700">
            <a:solidFill>
              <a:srgbClr val="3BD07A"/>
            </a:solidFill>
            <a:prstDash val="solid"/>
          </a:ln>
        </p:spPr>
      </p:sp>
      <p:sp>
        <p:nvSpPr>
          <p:cNvPr id="19" name="Text 14"/>
          <p:cNvSpPr/>
          <p:nvPr/>
        </p:nvSpPr>
        <p:spPr>
          <a:xfrm>
            <a:off x="7973568" y="5440680"/>
            <a:ext cx="3346704" cy="868680"/>
          </a:xfrm>
          <a:prstGeom prst="rect">
            <a:avLst/>
          </a:prstGeom>
          <a:noFill/>
          <a:ln/>
        </p:spPr>
        <p:txBody>
          <a:bodyPr wrap="square" lIns="0" tIns="0" rIns="0" bIns="0" rtlCol="0" anchor="ctr"/>
          <a:lstStyle/>
          <a:p>
            <a:pPr indent="0" marL="0">
              <a:buNone/>
            </a:pPr>
            <a:r>
              <a:rPr lang="en-US" sz="1200" b="1" dirty="0">
                <a:solidFill>
                  <a:srgbClr val="F1F4F7"/>
                </a:solidFill>
                <a:latin typeface="Calibri" pitchFamily="34" charset="0"/>
                <a:ea typeface="Calibri" pitchFamily="34" charset="-122"/>
                <a:cs typeface="Calibri" pitchFamily="34" charset="-120"/>
              </a:rPr>
              <a:t>Qualified · rested · conflict-free.  </a:t>
            </a:r>
            <a:pPr indent="0" marL="0">
              <a:buNone/>
            </a:pPr>
            <a:r>
              <a:rPr lang="en-US" sz="1200" dirty="0">
                <a:solidFill>
                  <a:srgbClr val="B6C0CB"/>
                </a:solidFill>
                <a:latin typeface="Calibri" pitchFamily="34" charset="0"/>
                <a:ea typeface="Calibri" pitchFamily="34" charset="-122"/>
                <a:cs typeface="Calibri" pitchFamily="34" charset="-120"/>
              </a:rPr>
              <a:t>If a placement still breaks a rule, it's flagged right on the puck.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0000"/>
          </a:blip>
          <a:stretch>
            <a:fillRect/>
          </a:stretch>
        </p:blipFill>
        <p:spPr>
          <a:xfrm>
            <a:off x="640080" y="6291072"/>
            <a:ext cx="219456" cy="219456"/>
          </a:xfrm>
          <a:prstGeom prst="rect">
            <a:avLst/>
          </a:prstGeom>
        </p:spPr>
      </p:pic>
      <p:sp>
        <p:nvSpPr>
          <p:cNvPr id="3" name="Text 0"/>
          <p:cNvSpPr/>
          <p:nvPr/>
        </p:nvSpPr>
        <p:spPr>
          <a:xfrm>
            <a:off x="914400" y="6309360"/>
            <a:ext cx="2743200" cy="219456"/>
          </a:xfrm>
          <a:prstGeom prst="rect">
            <a:avLst/>
          </a:prstGeom>
          <a:noFill/>
          <a:ln/>
        </p:spPr>
        <p:txBody>
          <a:bodyPr wrap="square" lIns="0" tIns="0" rIns="0" bIns="0" rtlCol="0" anchor="ctr"/>
          <a:lstStyle/>
          <a:p>
            <a:pPr indent="0" marL="0">
              <a:buNone/>
            </a:pPr>
            <a:r>
              <a:rPr lang="en-US" sz="900" b="1" spc="200" kern="0" dirty="0">
                <a:solidFill>
                  <a:srgbClr val="8A96A3"/>
                </a:solidFill>
                <a:latin typeface="Arial" pitchFamily="34" charset="0"/>
                <a:ea typeface="Arial" pitchFamily="34" charset="-122"/>
                <a:cs typeface="Arial" pitchFamily="34" charset="-120"/>
              </a:rPr>
              <a:t>RAPTOR</a:t>
            </a:r>
            <a:endParaRPr lang="en-US" sz="900" dirty="0"/>
          </a:p>
        </p:txBody>
      </p:sp>
      <p:sp>
        <p:nvSpPr>
          <p:cNvPr id="4" name="Text 1"/>
          <p:cNvSpPr/>
          <p:nvPr/>
        </p:nvSpPr>
        <p:spPr>
          <a:xfrm>
            <a:off x="11228832" y="6309360"/>
            <a:ext cx="457200" cy="219456"/>
          </a:xfrm>
          <a:prstGeom prst="rect">
            <a:avLst/>
          </a:prstGeom>
          <a:noFill/>
          <a:ln/>
        </p:spPr>
        <p:txBody>
          <a:bodyPr wrap="square" lIns="0" tIns="0" rIns="0" bIns="0" rtlCol="0" anchor="ctr"/>
          <a:lstStyle/>
          <a:p>
            <a:pPr algn="r" indent="0" marL="0">
              <a:buNone/>
            </a:pPr>
            <a:r>
              <a:rPr lang="en-US" sz="900" dirty="0">
                <a:solidFill>
                  <a:srgbClr val="8A96A3"/>
                </a:solidFill>
                <a:latin typeface="Arial" pitchFamily="34" charset="0"/>
                <a:ea typeface="Arial" pitchFamily="34" charset="-122"/>
                <a:cs typeface="Arial" pitchFamily="34" charset="-120"/>
              </a:rPr>
              <a:t>05</a:t>
            </a:r>
            <a:endParaRPr lang="en-US" sz="900" dirty="0"/>
          </a:p>
        </p:txBody>
      </p:sp>
      <p:sp>
        <p:nvSpPr>
          <p:cNvPr id="5" name="Text 2"/>
          <p:cNvSpPr/>
          <p:nvPr/>
        </p:nvSpPr>
        <p:spPr>
          <a:xfrm>
            <a:off x="640080" y="512064"/>
            <a:ext cx="9144000" cy="274320"/>
          </a:xfrm>
          <a:prstGeom prst="rect">
            <a:avLst/>
          </a:prstGeom>
          <a:noFill/>
          <a:ln/>
        </p:spPr>
        <p:txBody>
          <a:bodyPr wrap="square" lIns="0" tIns="0" rIns="0" bIns="0" rtlCol="0" anchor="ctr"/>
          <a:lstStyle/>
          <a:p>
            <a:pPr indent="0" marL="0">
              <a:buNone/>
            </a:pPr>
            <a:r>
              <a:rPr lang="en-US" sz="1200" b="1" spc="300" kern="0" dirty="0">
                <a:solidFill>
                  <a:srgbClr val="3BC6E8"/>
                </a:solidFill>
                <a:latin typeface="Arial" pitchFamily="34" charset="0"/>
                <a:ea typeface="Arial" pitchFamily="34" charset="-122"/>
                <a:cs typeface="Arial" pitchFamily="34" charset="-120"/>
              </a:rPr>
              <a:t>YOUR WINGMAN · 3</a:t>
            </a:r>
            <a:endParaRPr lang="en-US" sz="1200" dirty="0"/>
          </a:p>
        </p:txBody>
      </p:sp>
      <p:sp>
        <p:nvSpPr>
          <p:cNvPr id="6" name="Text 3"/>
          <p:cNvSpPr/>
          <p:nvPr/>
        </p:nvSpPr>
        <p:spPr>
          <a:xfrm>
            <a:off x="640080" y="786384"/>
            <a:ext cx="11338560" cy="822960"/>
          </a:xfrm>
          <a:prstGeom prst="rect">
            <a:avLst/>
          </a:prstGeom>
          <a:noFill/>
          <a:ln/>
        </p:spPr>
        <p:txBody>
          <a:bodyPr wrap="square" lIns="0" tIns="0" rIns="0" bIns="0" rtlCol="0" anchor="ctr"/>
          <a:lstStyle/>
          <a:p>
            <a:pPr indent="0" marL="0">
              <a:buNone/>
            </a:pPr>
            <a:r>
              <a:rPr lang="en-US" sz="2800" b="1" dirty="0">
                <a:solidFill>
                  <a:srgbClr val="F1F4F7"/>
                </a:solidFill>
                <a:latin typeface="Arial" pitchFamily="34" charset="0"/>
                <a:ea typeface="Arial" pitchFamily="34" charset="-122"/>
                <a:cs typeface="Arial" pitchFamily="34" charset="-120"/>
              </a:rPr>
              <a:t>Flagged on the crew — and every rule is yours to tune</a:t>
            </a:r>
            <a:endParaRPr lang="en-US" sz="2800" dirty="0"/>
          </a:p>
        </p:txBody>
      </p:sp>
      <p:sp>
        <p:nvSpPr>
          <p:cNvPr id="7" name="Shape 4"/>
          <p:cNvSpPr/>
          <p:nvPr/>
        </p:nvSpPr>
        <p:spPr>
          <a:xfrm>
            <a:off x="612648" y="1755648"/>
            <a:ext cx="6044184" cy="3054096"/>
          </a:xfrm>
          <a:prstGeom prst="roundRect">
            <a:avLst>
              <a:gd name="adj" fmla="val 2994"/>
            </a:avLst>
          </a:prstGeom>
          <a:solidFill>
            <a:srgbClr val="000000"/>
          </a:solidFill>
          <a:ln/>
          <a:effectLst>
            <a:outerShdw sx="100000" sy="100000" kx="0" ky="0" algn="bl" rotWithShape="0" blurRad="177800" dist="63500" dir="5400000">
              <a:srgbClr val="000000">
                <a:alpha val="55000"/>
              </a:srgbClr>
            </a:outerShdw>
          </a:effectLst>
        </p:spPr>
      </p:sp>
      <p:sp>
        <p:nvSpPr>
          <p:cNvPr id="8" name="Shape 5"/>
          <p:cNvSpPr/>
          <p:nvPr/>
        </p:nvSpPr>
        <p:spPr>
          <a:xfrm>
            <a:off x="640080" y="1783080"/>
            <a:ext cx="5989320" cy="2999232"/>
          </a:xfrm>
          <a:prstGeom prst="roundRect">
            <a:avLst>
              <a:gd name="adj" fmla="val 2744"/>
            </a:avLst>
          </a:prstGeom>
          <a:solidFill>
            <a:srgbClr val="0E1116"/>
          </a:solidFill>
          <a:ln w="12700">
            <a:solidFill>
              <a:srgbClr val="F0555F"/>
            </a:solidFill>
            <a:prstDash val="solid"/>
          </a:ln>
        </p:spPr>
      </p:sp>
      <p:pic>
        <p:nvPicPr>
          <p:cNvPr id="9" name="Image 1" descr="preencoded.png">    </p:cNvPr>
          <p:cNvPicPr>
            <a:picLocks noChangeAspect="1"/>
          </p:cNvPicPr>
          <p:nvPr/>
        </p:nvPicPr>
        <p:blipFill>
          <a:blip r:embed="rId2"/>
          <a:stretch>
            <a:fillRect/>
          </a:stretch>
        </p:blipFill>
        <p:spPr>
          <a:xfrm>
            <a:off x="1138049" y="1837944"/>
            <a:ext cx="4993382" cy="2889504"/>
          </a:xfrm>
          <a:prstGeom prst="rect">
            <a:avLst/>
          </a:prstGeom>
        </p:spPr>
      </p:pic>
      <p:sp>
        <p:nvSpPr>
          <p:cNvPr id="10" name="Text 6"/>
          <p:cNvSpPr/>
          <p:nvPr/>
        </p:nvSpPr>
        <p:spPr>
          <a:xfrm>
            <a:off x="640080" y="4864608"/>
            <a:ext cx="5989320" cy="274320"/>
          </a:xfrm>
          <a:prstGeom prst="rect">
            <a:avLst/>
          </a:prstGeom>
          <a:noFill/>
          <a:ln/>
        </p:spPr>
        <p:txBody>
          <a:bodyPr wrap="square" lIns="0" tIns="0" rIns="0" bIns="0" rtlCol="0" anchor="ctr"/>
          <a:lstStyle/>
          <a:p>
            <a:pPr indent="0" marL="0">
              <a:buNone/>
            </a:pPr>
            <a:r>
              <a:rPr lang="en-US" sz="1100" i="1" dirty="0">
                <a:solidFill>
                  <a:srgbClr val="8A96A3"/>
                </a:solidFill>
                <a:latin typeface="Calibri" pitchFamily="34" charset="0"/>
                <a:ea typeface="Calibri" pitchFamily="34" charset="-122"/>
                <a:cs typeface="Calibri" pitchFamily="34" charset="-120"/>
              </a:rPr>
              <a:t>An OCU student crewed without authorisation — red rings on the pair, and the reason in plain English:</a:t>
            </a:r>
            <a:endParaRPr lang="en-US" sz="1100" dirty="0"/>
          </a:p>
        </p:txBody>
      </p:sp>
      <p:sp>
        <p:nvSpPr>
          <p:cNvPr id="11" name="Shape 7"/>
          <p:cNvSpPr/>
          <p:nvPr/>
        </p:nvSpPr>
        <p:spPr>
          <a:xfrm>
            <a:off x="612648" y="5202936"/>
            <a:ext cx="6044184" cy="1042416"/>
          </a:xfrm>
          <a:prstGeom prst="roundRect">
            <a:avLst>
              <a:gd name="adj" fmla="val 8772"/>
            </a:avLst>
          </a:prstGeom>
          <a:solidFill>
            <a:srgbClr val="000000"/>
          </a:solidFill>
          <a:ln/>
          <a:effectLst>
            <a:outerShdw sx="100000" sy="100000" kx="0" ky="0" algn="bl" rotWithShape="0" blurRad="177800" dist="63500" dir="5400000">
              <a:srgbClr val="000000">
                <a:alpha val="55000"/>
              </a:srgbClr>
            </a:outerShdw>
          </a:effectLst>
        </p:spPr>
      </p:sp>
      <p:sp>
        <p:nvSpPr>
          <p:cNvPr id="12" name="Shape 8"/>
          <p:cNvSpPr/>
          <p:nvPr/>
        </p:nvSpPr>
        <p:spPr>
          <a:xfrm>
            <a:off x="640080" y="5230368"/>
            <a:ext cx="5989320" cy="987552"/>
          </a:xfrm>
          <a:prstGeom prst="roundRect">
            <a:avLst>
              <a:gd name="adj" fmla="val 8333"/>
            </a:avLst>
          </a:prstGeom>
          <a:solidFill>
            <a:srgbClr val="0E1116"/>
          </a:solidFill>
          <a:ln w="12700">
            <a:solidFill>
              <a:srgbClr val="F0555F"/>
            </a:solidFill>
            <a:prstDash val="solid"/>
          </a:ln>
        </p:spPr>
      </p:sp>
      <p:pic>
        <p:nvPicPr>
          <p:cNvPr id="13" name="Image 2" descr="preencoded.png">    </p:cNvPr>
          <p:cNvPicPr>
            <a:picLocks noChangeAspect="1"/>
          </p:cNvPicPr>
          <p:nvPr/>
        </p:nvPicPr>
        <p:blipFill>
          <a:blip r:embed="rId3"/>
          <a:stretch>
            <a:fillRect/>
          </a:stretch>
        </p:blipFill>
        <p:spPr>
          <a:xfrm>
            <a:off x="791566" y="5321808"/>
            <a:ext cx="5686349" cy="804672"/>
          </a:xfrm>
          <a:prstGeom prst="rect">
            <a:avLst/>
          </a:prstGeom>
        </p:spPr>
      </p:pic>
      <p:sp>
        <p:nvSpPr>
          <p:cNvPr id="14" name="Shape 9"/>
          <p:cNvSpPr/>
          <p:nvPr/>
        </p:nvSpPr>
        <p:spPr>
          <a:xfrm>
            <a:off x="6876288" y="1755648"/>
            <a:ext cx="4718304" cy="2980944"/>
          </a:xfrm>
          <a:prstGeom prst="roundRect">
            <a:avLst>
              <a:gd name="adj" fmla="val 3067"/>
            </a:avLst>
          </a:prstGeom>
          <a:solidFill>
            <a:srgbClr val="000000"/>
          </a:solidFill>
          <a:ln/>
          <a:effectLst>
            <a:outerShdw sx="100000" sy="100000" kx="0" ky="0" algn="bl" rotWithShape="0" blurRad="177800" dist="63500" dir="5400000">
              <a:srgbClr val="000000">
                <a:alpha val="55000"/>
              </a:srgbClr>
            </a:outerShdw>
          </a:effectLst>
        </p:spPr>
      </p:sp>
      <p:sp>
        <p:nvSpPr>
          <p:cNvPr id="15" name="Shape 10"/>
          <p:cNvSpPr/>
          <p:nvPr/>
        </p:nvSpPr>
        <p:spPr>
          <a:xfrm>
            <a:off x="6903720" y="1783080"/>
            <a:ext cx="4663440" cy="2926080"/>
          </a:xfrm>
          <a:prstGeom prst="roundRect">
            <a:avLst>
              <a:gd name="adj" fmla="val 2813"/>
            </a:avLst>
          </a:prstGeom>
          <a:solidFill>
            <a:srgbClr val="0E1116"/>
          </a:solidFill>
          <a:ln w="12700">
            <a:solidFill>
              <a:srgbClr val="3BC6E8"/>
            </a:solidFill>
            <a:prstDash val="solid"/>
          </a:ln>
        </p:spPr>
      </p:sp>
      <p:pic>
        <p:nvPicPr>
          <p:cNvPr id="16" name="Image 3" descr="preencoded.png">    </p:cNvPr>
          <p:cNvPicPr>
            <a:picLocks noChangeAspect="1"/>
          </p:cNvPicPr>
          <p:nvPr/>
        </p:nvPicPr>
        <p:blipFill>
          <a:blip r:embed="rId4"/>
          <a:stretch>
            <a:fillRect/>
          </a:stretch>
        </p:blipFill>
        <p:spPr>
          <a:xfrm>
            <a:off x="7011388" y="1837944"/>
            <a:ext cx="4448104" cy="2816352"/>
          </a:xfrm>
          <a:prstGeom prst="rect">
            <a:avLst/>
          </a:prstGeom>
        </p:spPr>
      </p:pic>
      <p:sp>
        <p:nvSpPr>
          <p:cNvPr id="17" name="Shape 11"/>
          <p:cNvSpPr/>
          <p:nvPr/>
        </p:nvSpPr>
        <p:spPr>
          <a:xfrm>
            <a:off x="6903720" y="4946904"/>
            <a:ext cx="146304" cy="146304"/>
          </a:xfrm>
          <a:prstGeom prst="ellipse">
            <a:avLst/>
          </a:prstGeom>
          <a:solidFill>
            <a:srgbClr val="3BC6E8"/>
          </a:solidFill>
          <a:ln/>
        </p:spPr>
      </p:sp>
      <p:sp>
        <p:nvSpPr>
          <p:cNvPr id="18" name="Text 12"/>
          <p:cNvSpPr/>
          <p:nvPr/>
        </p:nvSpPr>
        <p:spPr>
          <a:xfrm>
            <a:off x="7178040" y="4846320"/>
            <a:ext cx="438912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58 rules, in plain English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The Logic tab spells out every rule the engine applies — and shows which fired on this week's schedule.</a:t>
            </a:r>
            <a:endParaRPr lang="en-US" sz="1250" dirty="0"/>
          </a:p>
        </p:txBody>
      </p:sp>
      <p:sp>
        <p:nvSpPr>
          <p:cNvPr id="19" name="Shape 13"/>
          <p:cNvSpPr/>
          <p:nvPr/>
        </p:nvSpPr>
        <p:spPr>
          <a:xfrm>
            <a:off x="6903720" y="5678424"/>
            <a:ext cx="146304" cy="146304"/>
          </a:xfrm>
          <a:prstGeom prst="ellipse">
            <a:avLst/>
          </a:prstGeom>
          <a:solidFill>
            <a:srgbClr val="E5A83B"/>
          </a:solidFill>
          <a:ln/>
        </p:spPr>
      </p:sp>
      <p:sp>
        <p:nvSpPr>
          <p:cNvPr id="20" name="Text 14"/>
          <p:cNvSpPr/>
          <p:nvPr/>
        </p:nvSpPr>
        <p:spPr>
          <a:xfrm>
            <a:off x="7178040" y="5577840"/>
            <a:ext cx="438912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Squadron-editable numbers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Crew-rest hours, brief lead, report time, debrief — management tunes the thresholds on the page, no coding.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65000"/>
          </a:blip>
          <a:stretch>
            <a:fillRect/>
          </a:stretch>
        </p:blipFill>
        <p:spPr>
          <a:xfrm>
            <a:off x="11137392" y="384048"/>
            <a:ext cx="548640" cy="548640"/>
          </a:xfrm>
          <a:prstGeom prst="rect">
            <a:avLst/>
          </a:prstGeom>
        </p:spPr>
      </p:pic>
      <p:pic>
        <p:nvPicPr>
          <p:cNvPr id="3" name="Image 1" descr="preencoded.png">    </p:cNvPr>
          <p:cNvPicPr>
            <a:picLocks noChangeAspect="1"/>
          </p:cNvPicPr>
          <p:nvPr/>
        </p:nvPicPr>
        <p:blipFill>
          <a:blip r:embed="rId2">
            <a:alphaModFix amt="80000"/>
          </a:blip>
          <a:stretch>
            <a:fillRect/>
          </a:stretch>
        </p:blipFill>
        <p:spPr>
          <a:xfrm>
            <a:off x="640080" y="6291072"/>
            <a:ext cx="219456" cy="219456"/>
          </a:xfrm>
          <a:prstGeom prst="rect">
            <a:avLst/>
          </a:prstGeom>
        </p:spPr>
      </p:pic>
      <p:sp>
        <p:nvSpPr>
          <p:cNvPr id="4" name="Text 0"/>
          <p:cNvSpPr/>
          <p:nvPr/>
        </p:nvSpPr>
        <p:spPr>
          <a:xfrm>
            <a:off x="914400" y="6309360"/>
            <a:ext cx="2743200" cy="219456"/>
          </a:xfrm>
          <a:prstGeom prst="rect">
            <a:avLst/>
          </a:prstGeom>
          <a:noFill/>
          <a:ln/>
        </p:spPr>
        <p:txBody>
          <a:bodyPr wrap="square" lIns="0" tIns="0" rIns="0" bIns="0" rtlCol="0" anchor="ctr"/>
          <a:lstStyle/>
          <a:p>
            <a:pPr indent="0" marL="0">
              <a:buNone/>
            </a:pPr>
            <a:r>
              <a:rPr lang="en-US" sz="900" b="1" spc="200" kern="0" dirty="0">
                <a:solidFill>
                  <a:srgbClr val="8A96A3"/>
                </a:solidFill>
                <a:latin typeface="Arial" pitchFamily="34" charset="0"/>
                <a:ea typeface="Arial" pitchFamily="34" charset="-122"/>
                <a:cs typeface="Arial" pitchFamily="34" charset="-120"/>
              </a:rPr>
              <a:t>RAPTOR</a:t>
            </a:r>
            <a:endParaRPr lang="en-US" sz="900" dirty="0"/>
          </a:p>
        </p:txBody>
      </p:sp>
      <p:sp>
        <p:nvSpPr>
          <p:cNvPr id="5" name="Text 1"/>
          <p:cNvSpPr/>
          <p:nvPr/>
        </p:nvSpPr>
        <p:spPr>
          <a:xfrm>
            <a:off x="11228832" y="6309360"/>
            <a:ext cx="457200" cy="219456"/>
          </a:xfrm>
          <a:prstGeom prst="rect">
            <a:avLst/>
          </a:prstGeom>
          <a:noFill/>
          <a:ln/>
        </p:spPr>
        <p:txBody>
          <a:bodyPr wrap="square" lIns="0" tIns="0" rIns="0" bIns="0" rtlCol="0" anchor="ctr"/>
          <a:lstStyle/>
          <a:p>
            <a:pPr algn="r" indent="0" marL="0">
              <a:buNone/>
            </a:pPr>
            <a:r>
              <a:rPr lang="en-US" sz="900" dirty="0">
                <a:solidFill>
                  <a:srgbClr val="8A96A3"/>
                </a:solidFill>
                <a:latin typeface="Arial" pitchFamily="34" charset="0"/>
                <a:ea typeface="Arial" pitchFamily="34" charset="-122"/>
                <a:cs typeface="Arial" pitchFamily="34" charset="-120"/>
              </a:rPr>
              <a:t>06</a:t>
            </a:r>
            <a:endParaRPr lang="en-US" sz="900" dirty="0"/>
          </a:p>
        </p:txBody>
      </p:sp>
      <p:sp>
        <p:nvSpPr>
          <p:cNvPr id="6" name="Text 2"/>
          <p:cNvSpPr/>
          <p:nvPr/>
        </p:nvSpPr>
        <p:spPr>
          <a:xfrm>
            <a:off x="640080" y="512064"/>
            <a:ext cx="9144000" cy="274320"/>
          </a:xfrm>
          <a:prstGeom prst="rect">
            <a:avLst/>
          </a:prstGeom>
          <a:noFill/>
          <a:ln/>
        </p:spPr>
        <p:txBody>
          <a:bodyPr wrap="square" lIns="0" tIns="0" rIns="0" bIns="0" rtlCol="0" anchor="ctr"/>
          <a:lstStyle/>
          <a:p>
            <a:pPr indent="0" marL="0">
              <a:buNone/>
            </a:pPr>
            <a:r>
              <a:rPr lang="en-US" sz="1200" b="1" spc="300" kern="0" dirty="0">
                <a:solidFill>
                  <a:srgbClr val="3BC6E8"/>
                </a:solidFill>
                <a:latin typeface="Arial" pitchFamily="34" charset="0"/>
                <a:ea typeface="Arial" pitchFamily="34" charset="-122"/>
                <a:cs typeface="Arial" pitchFamily="34" charset="-120"/>
              </a:rPr>
              <a:t>ONE PLACE TO FILE EVERYTHING</a:t>
            </a:r>
            <a:endParaRPr lang="en-US" sz="1200" dirty="0"/>
          </a:p>
        </p:txBody>
      </p:sp>
      <p:sp>
        <p:nvSpPr>
          <p:cNvPr id="7" name="Text 3"/>
          <p:cNvSpPr/>
          <p:nvPr/>
        </p:nvSpPr>
        <p:spPr>
          <a:xfrm>
            <a:off x="640080" y="786384"/>
            <a:ext cx="11338560" cy="822960"/>
          </a:xfrm>
          <a:prstGeom prst="rect">
            <a:avLst/>
          </a:prstGeom>
          <a:noFill/>
          <a:ln/>
        </p:spPr>
        <p:txBody>
          <a:bodyPr wrap="square" lIns="0" tIns="0" rIns="0" bIns="0" rtlCol="0" anchor="ctr"/>
          <a:lstStyle/>
          <a:p>
            <a:pPr indent="0" marL="0">
              <a:buNone/>
            </a:pPr>
            <a:r>
              <a:rPr lang="en-US" sz="2800" b="1" dirty="0">
                <a:solidFill>
                  <a:srgbClr val="F1F4F7"/>
                </a:solidFill>
                <a:latin typeface="Arial" pitchFamily="34" charset="0"/>
                <a:ea typeface="Arial" pitchFamily="34" charset="-122"/>
                <a:cs typeface="Arial" pitchFamily="34" charset="-120"/>
              </a:rPr>
              <a:t>Leave, medical &amp; up-chits — filed once on the Inputs page</a:t>
            </a:r>
            <a:endParaRPr lang="en-US" sz="2800" dirty="0"/>
          </a:p>
        </p:txBody>
      </p:sp>
      <p:sp>
        <p:nvSpPr>
          <p:cNvPr id="8" name="Shape 4"/>
          <p:cNvSpPr/>
          <p:nvPr/>
        </p:nvSpPr>
        <p:spPr>
          <a:xfrm>
            <a:off x="612648" y="1755648"/>
            <a:ext cx="6912864" cy="4489704"/>
          </a:xfrm>
          <a:prstGeom prst="roundRect">
            <a:avLst>
              <a:gd name="adj" fmla="val 2037"/>
            </a:avLst>
          </a:prstGeom>
          <a:solidFill>
            <a:srgbClr val="000000"/>
          </a:solidFill>
          <a:ln/>
          <a:effectLst>
            <a:outerShdw sx="100000" sy="100000" kx="0" ky="0" algn="bl" rotWithShape="0" blurRad="177800" dist="63500" dir="5400000">
              <a:srgbClr val="000000">
                <a:alpha val="55000"/>
              </a:srgbClr>
            </a:outerShdw>
          </a:effectLst>
        </p:spPr>
      </p:sp>
      <p:sp>
        <p:nvSpPr>
          <p:cNvPr id="9" name="Shape 5"/>
          <p:cNvSpPr/>
          <p:nvPr/>
        </p:nvSpPr>
        <p:spPr>
          <a:xfrm>
            <a:off x="640080" y="1783080"/>
            <a:ext cx="6858000" cy="4434840"/>
          </a:xfrm>
          <a:prstGeom prst="roundRect">
            <a:avLst>
              <a:gd name="adj" fmla="val 1856"/>
            </a:avLst>
          </a:prstGeom>
          <a:solidFill>
            <a:srgbClr val="0E1116"/>
          </a:solidFill>
          <a:ln w="12700">
            <a:solidFill>
              <a:srgbClr val="3BC6E8"/>
            </a:solidFill>
            <a:prstDash val="solid"/>
          </a:ln>
        </p:spPr>
      </p:sp>
      <p:pic>
        <p:nvPicPr>
          <p:cNvPr id="10" name="Image 2" descr="preencoded.png">    </p:cNvPr>
          <p:cNvPicPr>
            <a:picLocks noChangeAspect="1"/>
          </p:cNvPicPr>
          <p:nvPr/>
        </p:nvPicPr>
        <p:blipFill>
          <a:blip r:embed="rId3"/>
          <a:stretch>
            <a:fillRect/>
          </a:stretch>
        </p:blipFill>
        <p:spPr>
          <a:xfrm>
            <a:off x="694944" y="1864139"/>
            <a:ext cx="6748272" cy="4272722"/>
          </a:xfrm>
          <a:prstGeom prst="rect">
            <a:avLst/>
          </a:prstGeom>
        </p:spPr>
      </p:pic>
      <p:sp>
        <p:nvSpPr>
          <p:cNvPr id="11" name="Shape 6"/>
          <p:cNvSpPr/>
          <p:nvPr/>
        </p:nvSpPr>
        <p:spPr>
          <a:xfrm>
            <a:off x="7744968" y="1755648"/>
            <a:ext cx="3849624" cy="2203704"/>
          </a:xfrm>
          <a:prstGeom prst="roundRect">
            <a:avLst>
              <a:gd name="adj" fmla="val 4149"/>
            </a:avLst>
          </a:prstGeom>
          <a:solidFill>
            <a:srgbClr val="000000"/>
          </a:solidFill>
          <a:ln/>
          <a:effectLst>
            <a:outerShdw sx="100000" sy="100000" kx="0" ky="0" algn="bl" rotWithShape="0" blurRad="177800" dist="63500" dir="5400000">
              <a:srgbClr val="000000">
                <a:alpha val="55000"/>
              </a:srgbClr>
            </a:outerShdw>
          </a:effectLst>
        </p:spPr>
      </p:sp>
      <p:sp>
        <p:nvSpPr>
          <p:cNvPr id="12" name="Shape 7"/>
          <p:cNvSpPr/>
          <p:nvPr/>
        </p:nvSpPr>
        <p:spPr>
          <a:xfrm>
            <a:off x="7772400" y="1783080"/>
            <a:ext cx="3794760" cy="2148840"/>
          </a:xfrm>
          <a:prstGeom prst="roundRect">
            <a:avLst>
              <a:gd name="adj" fmla="val 3830"/>
            </a:avLst>
          </a:prstGeom>
          <a:solidFill>
            <a:srgbClr val="0E1116"/>
          </a:solidFill>
          <a:ln w="12700">
            <a:solidFill>
              <a:srgbClr val="3BD07A"/>
            </a:solidFill>
            <a:prstDash val="solid"/>
          </a:ln>
        </p:spPr>
      </p:sp>
      <p:pic>
        <p:nvPicPr>
          <p:cNvPr id="13" name="Image 3" descr="preencoded.png">    </p:cNvPr>
          <p:cNvPicPr>
            <a:picLocks noChangeAspect="1"/>
          </p:cNvPicPr>
          <p:nvPr/>
        </p:nvPicPr>
        <p:blipFill>
          <a:blip r:embed="rId4"/>
          <a:stretch>
            <a:fillRect/>
          </a:stretch>
        </p:blipFill>
        <p:spPr>
          <a:xfrm>
            <a:off x="8059509" y="1837944"/>
            <a:ext cx="3220543" cy="2039112"/>
          </a:xfrm>
          <a:prstGeom prst="rect">
            <a:avLst/>
          </a:prstGeom>
        </p:spPr>
      </p:pic>
      <p:sp>
        <p:nvSpPr>
          <p:cNvPr id="14" name="Text 8"/>
          <p:cNvSpPr/>
          <p:nvPr/>
        </p:nvSpPr>
        <p:spPr>
          <a:xfrm>
            <a:off x="7772400" y="3968496"/>
            <a:ext cx="3794760" cy="274320"/>
          </a:xfrm>
          <a:prstGeom prst="rect">
            <a:avLst/>
          </a:prstGeom>
          <a:noFill/>
          <a:ln/>
        </p:spPr>
        <p:txBody>
          <a:bodyPr wrap="square" lIns="0" tIns="0" rIns="0" bIns="0" rtlCol="0" anchor="ctr"/>
          <a:lstStyle/>
          <a:p>
            <a:pPr indent="0" marL="0">
              <a:buNone/>
            </a:pPr>
            <a:r>
              <a:rPr lang="en-US" sz="1050" i="1" dirty="0">
                <a:solidFill>
                  <a:srgbClr val="8A96A3"/>
                </a:solidFill>
                <a:latin typeface="Calibri" pitchFamily="34" charset="0"/>
                <a:ea typeface="Calibri" pitchFamily="34" charset="-122"/>
                <a:cs typeface="Calibri" pitchFamily="34" charset="-120"/>
              </a:rPr>
              <a:t>…and the month calendar shows every input at a glance.</a:t>
            </a:r>
            <a:endParaRPr lang="en-US" sz="1050" dirty="0"/>
          </a:p>
        </p:txBody>
      </p:sp>
      <p:sp>
        <p:nvSpPr>
          <p:cNvPr id="15" name="Shape 9"/>
          <p:cNvSpPr/>
          <p:nvPr/>
        </p:nvSpPr>
        <p:spPr>
          <a:xfrm>
            <a:off x="7772400" y="4443984"/>
            <a:ext cx="146304" cy="146304"/>
          </a:xfrm>
          <a:prstGeom prst="ellipse">
            <a:avLst/>
          </a:prstGeom>
          <a:solidFill>
            <a:srgbClr val="3BC6E8"/>
          </a:solidFill>
          <a:ln/>
        </p:spPr>
      </p:sp>
      <p:sp>
        <p:nvSpPr>
          <p:cNvPr id="16" name="Text 10"/>
          <p:cNvSpPr/>
          <p:nvPr/>
        </p:nvSpPr>
        <p:spPr>
          <a:xfrm>
            <a:off x="8046720" y="4343400"/>
            <a:ext cx="352044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Snap, upload, done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Screenshot your approved leave application or medical cert and upload it here — no forms re-filled.</a:t>
            </a:r>
            <a:endParaRPr lang="en-US" sz="1250" dirty="0"/>
          </a:p>
        </p:txBody>
      </p:sp>
      <p:sp>
        <p:nvSpPr>
          <p:cNvPr id="17" name="Shape 11"/>
          <p:cNvSpPr/>
          <p:nvPr/>
        </p:nvSpPr>
        <p:spPr>
          <a:xfrm>
            <a:off x="7772400" y="5193792"/>
            <a:ext cx="146304" cy="146304"/>
          </a:xfrm>
          <a:prstGeom prst="ellipse">
            <a:avLst/>
          </a:prstGeom>
          <a:solidFill>
            <a:srgbClr val="E5A83B"/>
          </a:solidFill>
          <a:ln/>
        </p:spPr>
      </p:sp>
      <p:sp>
        <p:nvSpPr>
          <p:cNvPr id="18" name="Text 12"/>
          <p:cNvSpPr/>
          <p:nvPr/>
        </p:nvSpPr>
        <p:spPr>
          <a:xfrm>
            <a:off x="8046720" y="5093208"/>
            <a:ext cx="352044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Up-chit reminders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Due to be up-chitted and haven't been? RAPTOR reminds you — nothing lives on a personal note.</a:t>
            </a:r>
            <a:endParaRPr lang="en-US" sz="1250" dirty="0"/>
          </a:p>
        </p:txBody>
      </p:sp>
      <p:sp>
        <p:nvSpPr>
          <p:cNvPr id="19" name="Shape 13"/>
          <p:cNvSpPr/>
          <p:nvPr/>
        </p:nvSpPr>
        <p:spPr>
          <a:xfrm>
            <a:off x="7772400" y="5943600"/>
            <a:ext cx="146304" cy="146304"/>
          </a:xfrm>
          <a:prstGeom prst="ellipse">
            <a:avLst/>
          </a:prstGeom>
          <a:solidFill>
            <a:srgbClr val="3BD07A"/>
          </a:solidFill>
          <a:ln/>
        </p:spPr>
      </p:sp>
      <p:sp>
        <p:nvSpPr>
          <p:cNvPr id="20" name="Text 14"/>
          <p:cNvSpPr/>
          <p:nvPr/>
        </p:nvSpPr>
        <p:spPr>
          <a:xfrm>
            <a:off x="8046720" y="5843016"/>
            <a:ext cx="352044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Synced everywhere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Filed once, it flows to the schedule, the crew palette, the warnings and Leave War.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0000"/>
          </a:blip>
          <a:stretch>
            <a:fillRect/>
          </a:stretch>
        </p:blipFill>
        <p:spPr>
          <a:xfrm>
            <a:off x="640080" y="6291072"/>
            <a:ext cx="219456" cy="219456"/>
          </a:xfrm>
          <a:prstGeom prst="rect">
            <a:avLst/>
          </a:prstGeom>
        </p:spPr>
      </p:pic>
      <p:sp>
        <p:nvSpPr>
          <p:cNvPr id="3" name="Text 0"/>
          <p:cNvSpPr/>
          <p:nvPr/>
        </p:nvSpPr>
        <p:spPr>
          <a:xfrm>
            <a:off x="914400" y="6309360"/>
            <a:ext cx="2743200" cy="219456"/>
          </a:xfrm>
          <a:prstGeom prst="rect">
            <a:avLst/>
          </a:prstGeom>
          <a:noFill/>
          <a:ln/>
        </p:spPr>
        <p:txBody>
          <a:bodyPr wrap="square" lIns="0" tIns="0" rIns="0" bIns="0" rtlCol="0" anchor="ctr"/>
          <a:lstStyle/>
          <a:p>
            <a:pPr indent="0" marL="0">
              <a:buNone/>
            </a:pPr>
            <a:r>
              <a:rPr lang="en-US" sz="900" b="1" spc="200" kern="0" dirty="0">
                <a:solidFill>
                  <a:srgbClr val="8A96A3"/>
                </a:solidFill>
                <a:latin typeface="Arial" pitchFamily="34" charset="0"/>
                <a:ea typeface="Arial" pitchFamily="34" charset="-122"/>
                <a:cs typeface="Arial" pitchFamily="34" charset="-120"/>
              </a:rPr>
              <a:t>RAPTOR</a:t>
            </a:r>
            <a:endParaRPr lang="en-US" sz="900" dirty="0"/>
          </a:p>
        </p:txBody>
      </p:sp>
      <p:sp>
        <p:nvSpPr>
          <p:cNvPr id="4" name="Text 1"/>
          <p:cNvSpPr/>
          <p:nvPr/>
        </p:nvSpPr>
        <p:spPr>
          <a:xfrm>
            <a:off x="11228832" y="6309360"/>
            <a:ext cx="457200" cy="219456"/>
          </a:xfrm>
          <a:prstGeom prst="rect">
            <a:avLst/>
          </a:prstGeom>
          <a:noFill/>
          <a:ln/>
        </p:spPr>
        <p:txBody>
          <a:bodyPr wrap="square" lIns="0" tIns="0" rIns="0" bIns="0" rtlCol="0" anchor="ctr"/>
          <a:lstStyle/>
          <a:p>
            <a:pPr algn="r" indent="0" marL="0">
              <a:buNone/>
            </a:pPr>
            <a:r>
              <a:rPr lang="en-US" sz="900" dirty="0">
                <a:solidFill>
                  <a:srgbClr val="8A96A3"/>
                </a:solidFill>
                <a:latin typeface="Arial" pitchFamily="34" charset="0"/>
                <a:ea typeface="Arial" pitchFamily="34" charset="-122"/>
                <a:cs typeface="Arial" pitchFamily="34" charset="-120"/>
              </a:rPr>
              <a:t>07</a:t>
            </a:r>
            <a:endParaRPr lang="en-US" sz="900" dirty="0"/>
          </a:p>
        </p:txBody>
      </p:sp>
      <p:sp>
        <p:nvSpPr>
          <p:cNvPr id="5" name="Text 2"/>
          <p:cNvSpPr/>
          <p:nvPr/>
        </p:nvSpPr>
        <p:spPr>
          <a:xfrm>
            <a:off x="640080" y="512064"/>
            <a:ext cx="9144000" cy="274320"/>
          </a:xfrm>
          <a:prstGeom prst="rect">
            <a:avLst/>
          </a:prstGeom>
          <a:noFill/>
          <a:ln/>
        </p:spPr>
        <p:txBody>
          <a:bodyPr wrap="square" lIns="0" tIns="0" rIns="0" bIns="0" rtlCol="0" anchor="ctr"/>
          <a:lstStyle/>
          <a:p>
            <a:pPr indent="0" marL="0">
              <a:buNone/>
            </a:pPr>
            <a:r>
              <a:rPr lang="en-US" sz="1200" b="1" spc="300" kern="0" dirty="0">
                <a:solidFill>
                  <a:srgbClr val="3BC6E8"/>
                </a:solidFill>
                <a:latin typeface="Arial" pitchFamily="34" charset="0"/>
                <a:ea typeface="Arial" pitchFamily="34" charset="-122"/>
                <a:cs typeface="Arial" pitchFamily="34" charset="-120"/>
              </a:rPr>
              <a:t>THE MANPOWER RED LINE</a:t>
            </a:r>
            <a:endParaRPr lang="en-US" sz="1200" dirty="0"/>
          </a:p>
        </p:txBody>
      </p:sp>
      <p:sp>
        <p:nvSpPr>
          <p:cNvPr id="6" name="Text 3"/>
          <p:cNvSpPr/>
          <p:nvPr/>
        </p:nvSpPr>
        <p:spPr>
          <a:xfrm>
            <a:off x="640080" y="786384"/>
            <a:ext cx="11338560" cy="822960"/>
          </a:xfrm>
          <a:prstGeom prst="rect">
            <a:avLst/>
          </a:prstGeom>
          <a:noFill/>
          <a:ln/>
        </p:spPr>
        <p:txBody>
          <a:bodyPr wrap="square" lIns="0" tIns="0" rIns="0" bIns="0" rtlCol="0" anchor="ctr"/>
          <a:lstStyle/>
          <a:p>
            <a:pPr indent="0" marL="0">
              <a:buNone/>
            </a:pPr>
            <a:r>
              <a:rPr lang="en-US" sz="2800" b="1" dirty="0">
                <a:solidFill>
                  <a:srgbClr val="F1F4F7"/>
                </a:solidFill>
                <a:latin typeface="Arial" pitchFamily="34" charset="0"/>
                <a:ea typeface="Arial" pitchFamily="34" charset="-122"/>
                <a:cs typeface="Arial" pitchFamily="34" charset="-120"/>
              </a:rPr>
              <a:t>A year of leave and manning — with the red line built in</a:t>
            </a:r>
            <a:endParaRPr lang="en-US" sz="2800" dirty="0"/>
          </a:p>
        </p:txBody>
      </p:sp>
      <p:sp>
        <p:nvSpPr>
          <p:cNvPr id="7" name="Shape 4"/>
          <p:cNvSpPr/>
          <p:nvPr/>
        </p:nvSpPr>
        <p:spPr>
          <a:xfrm>
            <a:off x="612648" y="1755648"/>
            <a:ext cx="7095744" cy="4672584"/>
          </a:xfrm>
          <a:prstGeom prst="roundRect">
            <a:avLst>
              <a:gd name="adj" fmla="val 1957"/>
            </a:avLst>
          </a:prstGeom>
          <a:solidFill>
            <a:srgbClr val="000000"/>
          </a:solidFill>
          <a:ln/>
          <a:effectLst>
            <a:outerShdw sx="100000" sy="100000" kx="0" ky="0" algn="bl" rotWithShape="0" blurRad="177800" dist="63500" dir="5400000">
              <a:srgbClr val="000000">
                <a:alpha val="55000"/>
              </a:srgbClr>
            </a:outerShdw>
          </a:effectLst>
        </p:spPr>
      </p:sp>
      <p:sp>
        <p:nvSpPr>
          <p:cNvPr id="8" name="Shape 5"/>
          <p:cNvSpPr/>
          <p:nvPr/>
        </p:nvSpPr>
        <p:spPr>
          <a:xfrm>
            <a:off x="640080" y="1783080"/>
            <a:ext cx="7040880" cy="4617720"/>
          </a:xfrm>
          <a:prstGeom prst="roundRect">
            <a:avLst>
              <a:gd name="adj" fmla="val 1782"/>
            </a:avLst>
          </a:prstGeom>
          <a:solidFill>
            <a:srgbClr val="0E1116"/>
          </a:solidFill>
          <a:ln w="12700">
            <a:solidFill>
              <a:srgbClr val="3BC6E8"/>
            </a:solidFill>
            <a:prstDash val="solid"/>
          </a:ln>
        </p:spPr>
      </p:sp>
      <p:pic>
        <p:nvPicPr>
          <p:cNvPr id="9" name="Image 1" descr="preencoded.png">    </p:cNvPr>
          <p:cNvPicPr>
            <a:picLocks noChangeAspect="1"/>
          </p:cNvPicPr>
          <p:nvPr/>
        </p:nvPicPr>
        <p:blipFill>
          <a:blip r:embed="rId2"/>
          <a:stretch>
            <a:fillRect/>
          </a:stretch>
        </p:blipFill>
        <p:spPr>
          <a:xfrm>
            <a:off x="694944" y="1897683"/>
            <a:ext cx="6931152" cy="4388514"/>
          </a:xfrm>
          <a:prstGeom prst="rect">
            <a:avLst/>
          </a:prstGeom>
        </p:spPr>
      </p:pic>
      <p:sp>
        <p:nvSpPr>
          <p:cNvPr id="10" name="Shape 6"/>
          <p:cNvSpPr/>
          <p:nvPr/>
        </p:nvSpPr>
        <p:spPr>
          <a:xfrm>
            <a:off x="7909560" y="1975104"/>
            <a:ext cx="146304" cy="146304"/>
          </a:xfrm>
          <a:prstGeom prst="ellipse">
            <a:avLst/>
          </a:prstGeom>
          <a:solidFill>
            <a:srgbClr val="3BD07A"/>
          </a:solidFill>
          <a:ln/>
        </p:spPr>
      </p:sp>
      <p:sp>
        <p:nvSpPr>
          <p:cNvPr id="11" name="Text 7"/>
          <p:cNvSpPr/>
          <p:nvPr/>
        </p:nvSpPr>
        <p:spPr>
          <a:xfrm>
            <a:off x="8183880" y="1874520"/>
            <a:ext cx="333756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Approved vs pending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Green chips are approved leave, purple still pending — AL, OL, LL, HL, medical — every type, all year.</a:t>
            </a:r>
            <a:endParaRPr lang="en-US" sz="1250" dirty="0"/>
          </a:p>
        </p:txBody>
      </p:sp>
      <p:sp>
        <p:nvSpPr>
          <p:cNvPr id="12" name="Shape 8"/>
          <p:cNvSpPr/>
          <p:nvPr/>
        </p:nvSpPr>
        <p:spPr>
          <a:xfrm>
            <a:off x="7909560" y="2980944"/>
            <a:ext cx="146304" cy="146304"/>
          </a:xfrm>
          <a:prstGeom prst="ellipse">
            <a:avLst/>
          </a:prstGeom>
          <a:solidFill>
            <a:srgbClr val="E5A83B"/>
          </a:solidFill>
          <a:ln/>
        </p:spPr>
      </p:sp>
      <p:sp>
        <p:nvSpPr>
          <p:cNvPr id="13" name="Text 9"/>
          <p:cNvSpPr/>
          <p:nvPr/>
        </p:nvSpPr>
        <p:spPr>
          <a:xfrm>
            <a:off x="8183880" y="2880360"/>
            <a:ext cx="333756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Amber, then red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Management sets the daily manning floor per category; the counts turn amber, then red, the moment a day drops below it.</a:t>
            </a:r>
            <a:endParaRPr lang="en-US" sz="1250" dirty="0"/>
          </a:p>
        </p:txBody>
      </p:sp>
      <p:sp>
        <p:nvSpPr>
          <p:cNvPr id="14" name="Shape 10"/>
          <p:cNvSpPr/>
          <p:nvPr/>
        </p:nvSpPr>
        <p:spPr>
          <a:xfrm>
            <a:off x="7909560" y="4032504"/>
            <a:ext cx="146304" cy="146304"/>
          </a:xfrm>
          <a:prstGeom prst="ellipse">
            <a:avLst/>
          </a:prstGeom>
          <a:solidFill>
            <a:srgbClr val="F0555F"/>
          </a:solidFill>
          <a:ln/>
        </p:spPr>
      </p:sp>
      <p:sp>
        <p:nvSpPr>
          <p:cNvPr id="15" name="Text 11"/>
          <p:cNvSpPr/>
          <p:nvPr/>
        </p:nvSpPr>
        <p:spPr>
          <a:xfrm>
            <a:off x="8183880" y="3931920"/>
            <a:ext cx="333756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Under-manned days, counted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The header keeps score — the days below the red line are impossible to miss.</a:t>
            </a:r>
            <a:endParaRPr lang="en-US" sz="1250" dirty="0"/>
          </a:p>
        </p:txBody>
      </p:sp>
      <p:sp>
        <p:nvSpPr>
          <p:cNvPr id="16" name="Shape 12"/>
          <p:cNvSpPr/>
          <p:nvPr/>
        </p:nvSpPr>
        <p:spPr>
          <a:xfrm>
            <a:off x="7909560" y="5029200"/>
            <a:ext cx="3611880" cy="1325880"/>
          </a:xfrm>
          <a:prstGeom prst="roundRect">
            <a:avLst>
              <a:gd name="adj" fmla="val 6897"/>
            </a:avLst>
          </a:prstGeom>
          <a:solidFill>
            <a:srgbClr val="1A1F26"/>
          </a:solidFill>
          <a:ln w="12700">
            <a:solidFill>
              <a:srgbClr val="39424D"/>
            </a:solidFill>
            <a:prstDash val="solid"/>
          </a:ln>
        </p:spPr>
      </p:sp>
      <p:sp>
        <p:nvSpPr>
          <p:cNvPr id="17" name="Text 13"/>
          <p:cNvSpPr/>
          <p:nvPr/>
        </p:nvSpPr>
        <p:spPr>
          <a:xfrm>
            <a:off x="8110728" y="5120640"/>
            <a:ext cx="3209544" cy="1143000"/>
          </a:xfrm>
          <a:prstGeom prst="rect">
            <a:avLst/>
          </a:prstGeom>
          <a:noFill/>
          <a:ln/>
        </p:spPr>
        <p:txBody>
          <a:bodyPr wrap="square" lIns="0" tIns="0" rIns="0" bIns="0" rtlCol="0" anchor="ctr"/>
          <a:lstStyle/>
          <a:p>
            <a:pPr indent="0" marL="0">
              <a:buNone/>
            </a:pPr>
            <a:r>
              <a:rPr lang="en-US" sz="1200" b="1" dirty="0">
                <a:solidFill>
                  <a:srgbClr val="F1F4F7"/>
                </a:solidFill>
                <a:latin typeface="Calibri" pitchFamily="34" charset="0"/>
                <a:ea typeface="Calibri" pitchFamily="34" charset="-122"/>
                <a:cs typeface="Calibri" pitchFamily="34" charset="-120"/>
              </a:rPr>
              <a:t>Synced both ways.  </a:t>
            </a:r>
            <a:pPr indent="0" marL="0">
              <a:buNone/>
            </a:pPr>
            <a:r>
              <a:rPr lang="en-US" sz="1200" dirty="0">
                <a:solidFill>
                  <a:srgbClr val="B6C0CB"/>
                </a:solidFill>
                <a:latin typeface="Calibri" pitchFamily="34" charset="0"/>
                <a:ea typeface="Calibri" pitchFamily="34" charset="-122"/>
                <a:cs typeface="Calibri" pitchFamily="34" charset="-120"/>
              </a:rPr>
              <a:t>Approve a bid and it lands on the programme; leave filed on the Inputs page draws the balances down here.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0000"/>
          </a:blip>
          <a:stretch>
            <a:fillRect/>
          </a:stretch>
        </p:blipFill>
        <p:spPr>
          <a:xfrm>
            <a:off x="640080" y="6291072"/>
            <a:ext cx="219456" cy="219456"/>
          </a:xfrm>
          <a:prstGeom prst="rect">
            <a:avLst/>
          </a:prstGeom>
        </p:spPr>
      </p:pic>
      <p:sp>
        <p:nvSpPr>
          <p:cNvPr id="3" name="Text 0"/>
          <p:cNvSpPr/>
          <p:nvPr/>
        </p:nvSpPr>
        <p:spPr>
          <a:xfrm>
            <a:off x="914400" y="6309360"/>
            <a:ext cx="2743200" cy="219456"/>
          </a:xfrm>
          <a:prstGeom prst="rect">
            <a:avLst/>
          </a:prstGeom>
          <a:noFill/>
          <a:ln/>
        </p:spPr>
        <p:txBody>
          <a:bodyPr wrap="square" lIns="0" tIns="0" rIns="0" bIns="0" rtlCol="0" anchor="ctr"/>
          <a:lstStyle/>
          <a:p>
            <a:pPr indent="0" marL="0">
              <a:buNone/>
            </a:pPr>
            <a:r>
              <a:rPr lang="en-US" sz="900" b="1" spc="200" kern="0" dirty="0">
                <a:solidFill>
                  <a:srgbClr val="8A96A3"/>
                </a:solidFill>
                <a:latin typeface="Arial" pitchFamily="34" charset="0"/>
                <a:ea typeface="Arial" pitchFamily="34" charset="-122"/>
                <a:cs typeface="Arial" pitchFamily="34" charset="-120"/>
              </a:rPr>
              <a:t>RAPTOR</a:t>
            </a:r>
            <a:endParaRPr lang="en-US" sz="900" dirty="0"/>
          </a:p>
        </p:txBody>
      </p:sp>
      <p:sp>
        <p:nvSpPr>
          <p:cNvPr id="4" name="Text 1"/>
          <p:cNvSpPr/>
          <p:nvPr/>
        </p:nvSpPr>
        <p:spPr>
          <a:xfrm>
            <a:off x="11228832" y="6309360"/>
            <a:ext cx="457200" cy="219456"/>
          </a:xfrm>
          <a:prstGeom prst="rect">
            <a:avLst/>
          </a:prstGeom>
          <a:noFill/>
          <a:ln/>
        </p:spPr>
        <p:txBody>
          <a:bodyPr wrap="square" lIns="0" tIns="0" rIns="0" bIns="0" rtlCol="0" anchor="ctr"/>
          <a:lstStyle/>
          <a:p>
            <a:pPr algn="r" indent="0" marL="0">
              <a:buNone/>
            </a:pPr>
            <a:r>
              <a:rPr lang="en-US" sz="900" dirty="0">
                <a:solidFill>
                  <a:srgbClr val="8A96A3"/>
                </a:solidFill>
                <a:latin typeface="Arial" pitchFamily="34" charset="0"/>
                <a:ea typeface="Arial" pitchFamily="34" charset="-122"/>
                <a:cs typeface="Arial" pitchFamily="34" charset="-120"/>
              </a:rPr>
              <a:t>08</a:t>
            </a:r>
            <a:endParaRPr lang="en-US" sz="900" dirty="0"/>
          </a:p>
        </p:txBody>
      </p:sp>
      <p:sp>
        <p:nvSpPr>
          <p:cNvPr id="5" name="Text 2"/>
          <p:cNvSpPr/>
          <p:nvPr/>
        </p:nvSpPr>
        <p:spPr>
          <a:xfrm>
            <a:off x="640080" y="512064"/>
            <a:ext cx="9144000" cy="274320"/>
          </a:xfrm>
          <a:prstGeom prst="rect">
            <a:avLst/>
          </a:prstGeom>
          <a:noFill/>
          <a:ln/>
        </p:spPr>
        <p:txBody>
          <a:bodyPr wrap="square" lIns="0" tIns="0" rIns="0" bIns="0" rtlCol="0" anchor="ctr"/>
          <a:lstStyle/>
          <a:p>
            <a:pPr indent="0" marL="0">
              <a:buNone/>
            </a:pPr>
            <a:r>
              <a:rPr lang="en-US" sz="1200" b="1" spc="300" kern="0" dirty="0">
                <a:solidFill>
                  <a:srgbClr val="3BC6E8"/>
                </a:solidFill>
                <a:latin typeface="Arial" pitchFamily="34" charset="0"/>
                <a:ea typeface="Arial" pitchFamily="34" charset="-122"/>
                <a:cs typeface="Arial" pitchFamily="34" charset="-120"/>
              </a:rPr>
              <a:t>COMING INTO RAPTOR — THE UPGRADE TRACKER</a:t>
            </a:r>
            <a:endParaRPr lang="en-US" sz="1200" dirty="0"/>
          </a:p>
        </p:txBody>
      </p:sp>
      <p:sp>
        <p:nvSpPr>
          <p:cNvPr id="6" name="Text 3"/>
          <p:cNvSpPr/>
          <p:nvPr/>
        </p:nvSpPr>
        <p:spPr>
          <a:xfrm>
            <a:off x="640080" y="786384"/>
            <a:ext cx="11338560" cy="822960"/>
          </a:xfrm>
          <a:prstGeom prst="rect">
            <a:avLst/>
          </a:prstGeom>
          <a:noFill/>
          <a:ln/>
        </p:spPr>
        <p:txBody>
          <a:bodyPr wrap="square" lIns="0" tIns="0" rIns="0" bIns="0" rtlCol="0" anchor="ctr"/>
          <a:lstStyle/>
          <a:p>
            <a:pPr indent="0" marL="0">
              <a:buNone/>
            </a:pPr>
            <a:r>
              <a:rPr lang="en-US" sz="2800" b="1" dirty="0">
                <a:solidFill>
                  <a:srgbClr val="F1F4F7"/>
                </a:solidFill>
                <a:latin typeface="Arial" pitchFamily="34" charset="0"/>
                <a:ea typeface="Arial" pitchFamily="34" charset="-122"/>
                <a:cs typeface="Arial" pitchFamily="34" charset="-120"/>
              </a:rPr>
              <a:t>Every OCU student's syllabus, one click deep</a:t>
            </a:r>
            <a:endParaRPr lang="en-US" sz="2800" dirty="0"/>
          </a:p>
        </p:txBody>
      </p:sp>
      <p:sp>
        <p:nvSpPr>
          <p:cNvPr id="7" name="Shape 4"/>
          <p:cNvSpPr/>
          <p:nvPr/>
        </p:nvSpPr>
        <p:spPr>
          <a:xfrm>
            <a:off x="612648" y="1755648"/>
            <a:ext cx="7278624" cy="4581144"/>
          </a:xfrm>
          <a:prstGeom prst="roundRect">
            <a:avLst>
              <a:gd name="adj" fmla="val 1996"/>
            </a:avLst>
          </a:prstGeom>
          <a:solidFill>
            <a:srgbClr val="000000"/>
          </a:solidFill>
          <a:ln/>
          <a:effectLst>
            <a:outerShdw sx="100000" sy="100000" kx="0" ky="0" algn="bl" rotWithShape="0" blurRad="177800" dist="63500" dir="5400000">
              <a:srgbClr val="000000">
                <a:alpha val="55000"/>
              </a:srgbClr>
            </a:outerShdw>
          </a:effectLst>
        </p:spPr>
      </p:sp>
      <p:sp>
        <p:nvSpPr>
          <p:cNvPr id="8" name="Shape 5"/>
          <p:cNvSpPr/>
          <p:nvPr/>
        </p:nvSpPr>
        <p:spPr>
          <a:xfrm>
            <a:off x="640080" y="1783080"/>
            <a:ext cx="7223760" cy="4526280"/>
          </a:xfrm>
          <a:prstGeom prst="roundRect">
            <a:avLst>
              <a:gd name="adj" fmla="val 1818"/>
            </a:avLst>
          </a:prstGeom>
          <a:solidFill>
            <a:srgbClr val="0E1116"/>
          </a:solidFill>
          <a:ln w="12700">
            <a:solidFill>
              <a:srgbClr val="8A8F3C"/>
            </a:solidFill>
            <a:prstDash val="solid"/>
          </a:ln>
        </p:spPr>
      </p:sp>
      <p:pic>
        <p:nvPicPr>
          <p:cNvPr id="9" name="Image 1" descr="preencoded.png">    </p:cNvPr>
          <p:cNvPicPr>
            <a:picLocks noChangeAspect="1"/>
          </p:cNvPicPr>
          <p:nvPr/>
        </p:nvPicPr>
        <p:blipFill>
          <a:blip r:embed="rId2"/>
          <a:stretch>
            <a:fillRect/>
          </a:stretch>
        </p:blipFill>
        <p:spPr>
          <a:xfrm>
            <a:off x="764242" y="1837944"/>
            <a:ext cx="6975435" cy="4416552"/>
          </a:xfrm>
          <a:prstGeom prst="rect">
            <a:avLst/>
          </a:prstGeom>
        </p:spPr>
      </p:pic>
      <p:sp>
        <p:nvSpPr>
          <p:cNvPr id="10" name="Shape 6"/>
          <p:cNvSpPr/>
          <p:nvPr/>
        </p:nvSpPr>
        <p:spPr>
          <a:xfrm>
            <a:off x="8138160" y="1929384"/>
            <a:ext cx="146304" cy="146304"/>
          </a:xfrm>
          <a:prstGeom prst="ellipse">
            <a:avLst/>
          </a:prstGeom>
          <a:solidFill>
            <a:srgbClr val="8A8F3C"/>
          </a:solidFill>
          <a:ln/>
        </p:spPr>
      </p:sp>
      <p:sp>
        <p:nvSpPr>
          <p:cNvPr id="11" name="Text 7"/>
          <p:cNvSpPr/>
          <p:nvPr/>
        </p:nvSpPr>
        <p:spPr>
          <a:xfrm>
            <a:off x="8412480" y="1828800"/>
            <a:ext cx="310896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The whole syllabus, mapped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Every event as an interactive flow chart — flights, academics, sims, tests — graded per student.</a:t>
            </a:r>
            <a:endParaRPr lang="en-US" sz="1250" dirty="0"/>
          </a:p>
        </p:txBody>
      </p:sp>
      <p:sp>
        <p:nvSpPr>
          <p:cNvPr id="12" name="Shape 8"/>
          <p:cNvSpPr/>
          <p:nvPr/>
        </p:nvSpPr>
        <p:spPr>
          <a:xfrm>
            <a:off x="8138160" y="2798064"/>
            <a:ext cx="146304" cy="146304"/>
          </a:xfrm>
          <a:prstGeom prst="ellipse">
            <a:avLst/>
          </a:prstGeom>
          <a:solidFill>
            <a:srgbClr val="3BC6E8"/>
          </a:solidFill>
          <a:ln/>
        </p:spPr>
      </p:sp>
      <p:sp>
        <p:nvSpPr>
          <p:cNvPr id="13" name="Text 9"/>
          <p:cNvSpPr/>
          <p:nvPr/>
        </p:nvSpPr>
        <p:spPr>
          <a:xfrm>
            <a:off x="8412480" y="2697480"/>
            <a:ext cx="310896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One click, all the stats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Progress by type, currency &amp; flex, what's plannable now, and a forecast of when they should finish.</a:t>
            </a:r>
            <a:endParaRPr lang="en-US" sz="1250" dirty="0"/>
          </a:p>
        </p:txBody>
      </p:sp>
      <p:sp>
        <p:nvSpPr>
          <p:cNvPr id="14" name="Shape 10"/>
          <p:cNvSpPr/>
          <p:nvPr/>
        </p:nvSpPr>
        <p:spPr>
          <a:xfrm>
            <a:off x="8138160" y="3666744"/>
            <a:ext cx="146304" cy="146304"/>
          </a:xfrm>
          <a:prstGeom prst="ellipse">
            <a:avLst/>
          </a:prstGeom>
          <a:solidFill>
            <a:srgbClr val="E5A83B"/>
          </a:solidFill>
          <a:ln/>
        </p:spPr>
      </p:sp>
      <p:sp>
        <p:nvSpPr>
          <p:cNvPr id="15" name="Text 11"/>
          <p:cNvSpPr/>
          <p:nvPr/>
        </p:nvSpPr>
        <p:spPr>
          <a:xfrm>
            <a:off x="8412480" y="3566160"/>
            <a:ext cx="310896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Crew pairing from the syllabus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It knows when a student needs an IP and when a pairing is allowed — the same rules the schedule flags.</a:t>
            </a:r>
            <a:endParaRPr lang="en-US" sz="1250" dirty="0"/>
          </a:p>
        </p:txBody>
      </p:sp>
      <p:sp>
        <p:nvSpPr>
          <p:cNvPr id="16" name="Shape 12"/>
          <p:cNvSpPr/>
          <p:nvPr/>
        </p:nvSpPr>
        <p:spPr>
          <a:xfrm>
            <a:off x="8138160" y="4535424"/>
            <a:ext cx="146304" cy="146304"/>
          </a:xfrm>
          <a:prstGeom prst="ellipse">
            <a:avLst/>
          </a:prstGeom>
          <a:solidFill>
            <a:srgbClr val="3BD07A"/>
          </a:solidFill>
          <a:ln/>
        </p:spPr>
      </p:sp>
      <p:sp>
        <p:nvSpPr>
          <p:cNvPr id="17" name="Text 13"/>
          <p:cNvSpPr/>
          <p:nvPr/>
        </p:nvSpPr>
        <p:spPr>
          <a:xfrm>
            <a:off x="8412480" y="4434840"/>
            <a:ext cx="3108960" cy="457200"/>
          </a:xfrm>
          <a:prstGeom prst="rect">
            <a:avLst/>
          </a:prstGeom>
          <a:noFill/>
          <a:ln/>
        </p:spPr>
        <p:txBody>
          <a:bodyPr wrap="square" lIns="0" tIns="0" rIns="0" bIns="0" rtlCol="0" anchor="t"/>
          <a:lstStyle/>
          <a:p>
            <a:pPr indent="0" marL="0">
              <a:lnSpc>
                <a:spcPct val="102000"/>
              </a:lnSpc>
              <a:buNone/>
            </a:pPr>
            <a:r>
              <a:rPr lang="en-US" sz="1250" b="1" dirty="0">
                <a:solidFill>
                  <a:srgbClr val="F1F4F7"/>
                </a:solidFill>
                <a:latin typeface="Calibri" pitchFamily="34" charset="0"/>
                <a:ea typeface="Calibri" pitchFamily="34" charset="-122"/>
                <a:cs typeface="Calibri" pitchFamily="34" charset="-120"/>
              </a:rPr>
              <a:t>Then just plan them  </a:t>
            </a:r>
            <a:pPr indent="0" marL="0">
              <a:lnSpc>
                <a:spcPct val="102000"/>
              </a:lnSpc>
              <a:buNone/>
            </a:pPr>
            <a:r>
              <a:rPr lang="en-US" sz="1250" dirty="0">
                <a:solidFill>
                  <a:srgbClr val="B6C0CB"/>
                </a:solidFill>
                <a:latin typeface="Calibri" pitchFamily="34" charset="0"/>
                <a:ea typeface="Calibri" pitchFamily="34" charset="-122"/>
                <a:cs typeface="Calibri" pitchFamily="34" charset="-120"/>
              </a:rPr>
              <a:t>“Plannable now” says exactly which events are next — the scheduler plans straight off it.</a:t>
            </a:r>
            <a:endParaRPr lang="en-US" sz="1250" dirty="0"/>
          </a:p>
        </p:txBody>
      </p:sp>
      <p:sp>
        <p:nvSpPr>
          <p:cNvPr id="18" name="Shape 14"/>
          <p:cNvSpPr/>
          <p:nvPr/>
        </p:nvSpPr>
        <p:spPr>
          <a:xfrm>
            <a:off x="8138160" y="5349240"/>
            <a:ext cx="3383280" cy="960120"/>
          </a:xfrm>
          <a:prstGeom prst="roundRect">
            <a:avLst>
              <a:gd name="adj" fmla="val 9524"/>
            </a:avLst>
          </a:prstGeom>
          <a:solidFill>
            <a:srgbClr val="1A1F26"/>
          </a:solidFill>
          <a:ln w="12700">
            <a:solidFill>
              <a:srgbClr val="8A8F3C"/>
            </a:solidFill>
            <a:prstDash val="solid"/>
          </a:ln>
        </p:spPr>
      </p:sp>
      <p:sp>
        <p:nvSpPr>
          <p:cNvPr id="19" name="Text 15"/>
          <p:cNvSpPr/>
          <p:nvPr/>
        </p:nvSpPr>
        <p:spPr>
          <a:xfrm>
            <a:off x="8339328" y="5440680"/>
            <a:ext cx="2980944" cy="777240"/>
          </a:xfrm>
          <a:prstGeom prst="rect">
            <a:avLst/>
          </a:prstGeom>
          <a:noFill/>
          <a:ln/>
        </p:spPr>
        <p:txBody>
          <a:bodyPr wrap="square" lIns="0" tIns="0" rIns="0" bIns="0" rtlCol="0" anchor="ctr"/>
          <a:lstStyle/>
          <a:p>
            <a:pPr indent="0" marL="0">
              <a:buNone/>
            </a:pPr>
            <a:r>
              <a:rPr lang="en-US" sz="1150" b="1" dirty="0">
                <a:solidFill>
                  <a:srgbClr val="F1F4F7"/>
                </a:solidFill>
                <a:latin typeface="Calibri" pitchFamily="34" charset="0"/>
                <a:ea typeface="Calibri" pitchFamily="34" charset="-122"/>
                <a:cs typeface="Calibri" pitchFamily="34" charset="-120"/>
              </a:rPr>
              <a:t>The last time the flow chart lives on paper.  </a:t>
            </a:r>
            <a:pPr indent="0" marL="0">
              <a:buNone/>
            </a:pPr>
            <a:r>
              <a:rPr lang="en-US" sz="1150" dirty="0">
                <a:solidFill>
                  <a:srgbClr val="B6C0CB"/>
                </a:solidFill>
                <a:latin typeface="Calibri" pitchFamily="34" charset="0"/>
                <a:ea typeface="Calibri" pitchFamily="34" charset="-122"/>
                <a:cs typeface="Calibri" pitchFamily="34" charset="-120"/>
              </a:rPr>
              <a:t>Folded into RAPTOR: one stop shop.</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65000"/>
          </a:blip>
          <a:stretch>
            <a:fillRect/>
          </a:stretch>
        </p:blipFill>
        <p:spPr>
          <a:xfrm>
            <a:off x="11137392" y="384048"/>
            <a:ext cx="548640" cy="548640"/>
          </a:xfrm>
          <a:prstGeom prst="rect">
            <a:avLst/>
          </a:prstGeom>
        </p:spPr>
      </p:pic>
      <p:pic>
        <p:nvPicPr>
          <p:cNvPr id="3" name="Image 1" descr="preencoded.png">    </p:cNvPr>
          <p:cNvPicPr>
            <a:picLocks noChangeAspect="1"/>
          </p:cNvPicPr>
          <p:nvPr/>
        </p:nvPicPr>
        <p:blipFill>
          <a:blip r:embed="rId2">
            <a:alphaModFix amt="80000"/>
          </a:blip>
          <a:stretch>
            <a:fillRect/>
          </a:stretch>
        </p:blipFill>
        <p:spPr>
          <a:xfrm>
            <a:off x="640080" y="6291072"/>
            <a:ext cx="219456" cy="219456"/>
          </a:xfrm>
          <a:prstGeom prst="rect">
            <a:avLst/>
          </a:prstGeom>
        </p:spPr>
      </p:pic>
      <p:sp>
        <p:nvSpPr>
          <p:cNvPr id="4" name="Text 0"/>
          <p:cNvSpPr/>
          <p:nvPr/>
        </p:nvSpPr>
        <p:spPr>
          <a:xfrm>
            <a:off x="914400" y="6309360"/>
            <a:ext cx="2743200" cy="219456"/>
          </a:xfrm>
          <a:prstGeom prst="rect">
            <a:avLst/>
          </a:prstGeom>
          <a:noFill/>
          <a:ln/>
        </p:spPr>
        <p:txBody>
          <a:bodyPr wrap="square" lIns="0" tIns="0" rIns="0" bIns="0" rtlCol="0" anchor="ctr"/>
          <a:lstStyle/>
          <a:p>
            <a:pPr indent="0" marL="0">
              <a:buNone/>
            </a:pPr>
            <a:r>
              <a:rPr lang="en-US" sz="900" b="1" spc="200" kern="0" dirty="0">
                <a:solidFill>
                  <a:srgbClr val="8A96A3"/>
                </a:solidFill>
                <a:latin typeface="Arial" pitchFamily="34" charset="0"/>
                <a:ea typeface="Arial" pitchFamily="34" charset="-122"/>
                <a:cs typeface="Arial" pitchFamily="34" charset="-120"/>
              </a:rPr>
              <a:t>RAPTOR</a:t>
            </a:r>
            <a:endParaRPr lang="en-US" sz="900" dirty="0"/>
          </a:p>
        </p:txBody>
      </p:sp>
      <p:sp>
        <p:nvSpPr>
          <p:cNvPr id="5" name="Text 1"/>
          <p:cNvSpPr/>
          <p:nvPr/>
        </p:nvSpPr>
        <p:spPr>
          <a:xfrm>
            <a:off x="11228832" y="6309360"/>
            <a:ext cx="457200" cy="219456"/>
          </a:xfrm>
          <a:prstGeom prst="rect">
            <a:avLst/>
          </a:prstGeom>
          <a:noFill/>
          <a:ln/>
        </p:spPr>
        <p:txBody>
          <a:bodyPr wrap="square" lIns="0" tIns="0" rIns="0" bIns="0" rtlCol="0" anchor="ctr"/>
          <a:lstStyle/>
          <a:p>
            <a:pPr algn="r" indent="0" marL="0">
              <a:buNone/>
            </a:pPr>
            <a:r>
              <a:rPr lang="en-US" sz="900" dirty="0">
                <a:solidFill>
                  <a:srgbClr val="8A96A3"/>
                </a:solidFill>
                <a:latin typeface="Arial" pitchFamily="34" charset="0"/>
                <a:ea typeface="Arial" pitchFamily="34" charset="-122"/>
                <a:cs typeface="Arial" pitchFamily="34" charset="-120"/>
              </a:rPr>
              <a:t>09</a:t>
            </a:r>
            <a:endParaRPr lang="en-US" sz="900" dirty="0"/>
          </a:p>
        </p:txBody>
      </p:sp>
      <p:sp>
        <p:nvSpPr>
          <p:cNvPr id="6" name="Text 2"/>
          <p:cNvSpPr/>
          <p:nvPr/>
        </p:nvSpPr>
        <p:spPr>
          <a:xfrm>
            <a:off x="640080" y="512064"/>
            <a:ext cx="9144000" cy="274320"/>
          </a:xfrm>
          <a:prstGeom prst="rect">
            <a:avLst/>
          </a:prstGeom>
          <a:noFill/>
          <a:ln/>
        </p:spPr>
        <p:txBody>
          <a:bodyPr wrap="square" lIns="0" tIns="0" rIns="0" bIns="0" rtlCol="0" anchor="ctr"/>
          <a:lstStyle/>
          <a:p>
            <a:pPr indent="0" marL="0">
              <a:buNone/>
            </a:pPr>
            <a:r>
              <a:rPr lang="en-US" sz="1200" b="1" spc="300" kern="0" dirty="0">
                <a:solidFill>
                  <a:srgbClr val="3BC6E8"/>
                </a:solidFill>
                <a:latin typeface="Arial" pitchFamily="34" charset="0"/>
                <a:ea typeface="Arial" pitchFamily="34" charset="-122"/>
                <a:cs typeface="Arial" pitchFamily="34" charset="-120"/>
              </a:rPr>
              <a:t>BUILT FOR THE WAY THE SQUADRON WORKS</a:t>
            </a:r>
            <a:endParaRPr lang="en-US" sz="1200" dirty="0"/>
          </a:p>
        </p:txBody>
      </p:sp>
      <p:sp>
        <p:nvSpPr>
          <p:cNvPr id="7" name="Text 3"/>
          <p:cNvSpPr/>
          <p:nvPr/>
        </p:nvSpPr>
        <p:spPr>
          <a:xfrm>
            <a:off x="640080" y="822960"/>
            <a:ext cx="10607040" cy="822960"/>
          </a:xfrm>
          <a:prstGeom prst="rect">
            <a:avLst/>
          </a:prstGeom>
          <a:noFill/>
          <a:ln/>
        </p:spPr>
        <p:txBody>
          <a:bodyPr wrap="square" lIns="0" tIns="0" rIns="0" bIns="0" rtlCol="0" anchor="ctr"/>
          <a:lstStyle/>
          <a:p>
            <a:pPr indent="0" marL="0">
              <a:buNone/>
            </a:pPr>
            <a:r>
              <a:rPr lang="en-US" sz="3300" b="1" dirty="0">
                <a:solidFill>
                  <a:srgbClr val="F1F4F7"/>
                </a:solidFill>
                <a:latin typeface="Arial" pitchFamily="34" charset="0"/>
                <a:ea typeface="Arial" pitchFamily="34" charset="-122"/>
                <a:cs typeface="Arial" pitchFamily="34" charset="-120"/>
              </a:rPr>
              <a:t>Full-power at the desk, thumb-friendly on a phone</a:t>
            </a:r>
            <a:endParaRPr lang="en-US" sz="3300" dirty="0"/>
          </a:p>
        </p:txBody>
      </p:sp>
      <p:sp>
        <p:nvSpPr>
          <p:cNvPr id="8" name="Text 4"/>
          <p:cNvSpPr/>
          <p:nvPr/>
        </p:nvSpPr>
        <p:spPr>
          <a:xfrm>
            <a:off x="640080" y="1572768"/>
            <a:ext cx="10881360" cy="365760"/>
          </a:xfrm>
          <a:prstGeom prst="rect">
            <a:avLst/>
          </a:prstGeom>
          <a:noFill/>
          <a:ln/>
        </p:spPr>
        <p:txBody>
          <a:bodyPr wrap="square" lIns="0" tIns="0" rIns="0" bIns="0" rtlCol="0" anchor="ctr"/>
          <a:lstStyle/>
          <a:p>
            <a:pPr indent="0" marL="0">
              <a:buNone/>
            </a:pPr>
            <a:r>
              <a:rPr lang="en-US" sz="1400" dirty="0">
                <a:solidFill>
                  <a:srgbClr val="B6C0CB"/>
                </a:solidFill>
                <a:latin typeface="Calibri" pitchFamily="34" charset="0"/>
                <a:ea typeface="Calibri" pitchFamily="34" charset="-122"/>
                <a:cs typeface="Calibri" pitchFamily="34" charset="-120"/>
              </a:rPr>
              <a:t>The same tool, designed for both screens — spacious and readable on a phone, and using the whole width on a desktop.</a:t>
            </a:r>
            <a:endParaRPr lang="en-US" sz="1400" dirty="0"/>
          </a:p>
        </p:txBody>
      </p:sp>
      <p:sp>
        <p:nvSpPr>
          <p:cNvPr id="9" name="Shape 5"/>
          <p:cNvSpPr/>
          <p:nvPr/>
        </p:nvSpPr>
        <p:spPr>
          <a:xfrm>
            <a:off x="932688" y="2121408"/>
            <a:ext cx="2340864" cy="4261104"/>
          </a:xfrm>
          <a:prstGeom prst="roundRect">
            <a:avLst>
              <a:gd name="adj" fmla="val 3906"/>
            </a:avLst>
          </a:prstGeom>
          <a:solidFill>
            <a:srgbClr val="000000"/>
          </a:solidFill>
          <a:ln/>
          <a:effectLst>
            <a:outerShdw sx="100000" sy="100000" kx="0" ky="0" algn="bl" rotWithShape="0" blurRad="177800" dist="63500" dir="5400000">
              <a:srgbClr val="000000">
                <a:alpha val="55000"/>
              </a:srgbClr>
            </a:outerShdw>
          </a:effectLst>
        </p:spPr>
      </p:sp>
      <p:sp>
        <p:nvSpPr>
          <p:cNvPr id="10" name="Shape 6"/>
          <p:cNvSpPr/>
          <p:nvPr/>
        </p:nvSpPr>
        <p:spPr>
          <a:xfrm>
            <a:off x="960120" y="2148840"/>
            <a:ext cx="2286000" cy="4206240"/>
          </a:xfrm>
          <a:prstGeom prst="roundRect">
            <a:avLst>
              <a:gd name="adj" fmla="val 3600"/>
            </a:avLst>
          </a:prstGeom>
          <a:solidFill>
            <a:srgbClr val="0E1116"/>
          </a:solidFill>
          <a:ln w="12700">
            <a:solidFill>
              <a:srgbClr val="3BC6E8"/>
            </a:solidFill>
            <a:prstDash val="solid"/>
          </a:ln>
        </p:spPr>
      </p:sp>
      <p:pic>
        <p:nvPicPr>
          <p:cNvPr id="11" name="Image 2" descr="preencoded.png">    </p:cNvPr>
          <p:cNvPicPr>
            <a:picLocks noChangeAspect="1"/>
          </p:cNvPicPr>
          <p:nvPr/>
        </p:nvPicPr>
        <p:blipFill>
          <a:blip r:embed="rId3"/>
          <a:stretch>
            <a:fillRect/>
          </a:stretch>
        </p:blipFill>
        <p:spPr>
          <a:xfrm>
            <a:off x="1148635" y="2185416"/>
            <a:ext cx="1908970" cy="4133088"/>
          </a:xfrm>
          <a:prstGeom prst="rect">
            <a:avLst/>
          </a:prstGeom>
        </p:spPr>
      </p:pic>
      <p:sp>
        <p:nvSpPr>
          <p:cNvPr id="12" name="Text 7"/>
          <p:cNvSpPr/>
          <p:nvPr/>
        </p:nvSpPr>
        <p:spPr>
          <a:xfrm>
            <a:off x="960120" y="6382512"/>
            <a:ext cx="2286000" cy="237744"/>
          </a:xfrm>
          <a:prstGeom prst="rect">
            <a:avLst/>
          </a:prstGeom>
          <a:noFill/>
          <a:ln/>
        </p:spPr>
        <p:txBody>
          <a:bodyPr wrap="square" lIns="0" tIns="0" rIns="0" bIns="0" rtlCol="0" anchor="ctr"/>
          <a:lstStyle/>
          <a:p>
            <a:pPr algn="ctr" indent="0" marL="0">
              <a:buNone/>
            </a:pPr>
            <a:r>
              <a:rPr lang="en-US" sz="1000" b="1" spc="300" kern="0" dirty="0">
                <a:solidFill>
                  <a:srgbClr val="8A96A3"/>
                </a:solidFill>
                <a:latin typeface="Arial" pitchFamily="34" charset="0"/>
                <a:ea typeface="Arial" pitchFamily="34" charset="-122"/>
                <a:cs typeface="Arial" pitchFamily="34" charset="-120"/>
              </a:rPr>
              <a:t>PHONE</a:t>
            </a:r>
            <a:endParaRPr lang="en-US" sz="1000" dirty="0"/>
          </a:p>
        </p:txBody>
      </p:sp>
      <p:sp>
        <p:nvSpPr>
          <p:cNvPr id="13" name="Shape 8"/>
          <p:cNvSpPr/>
          <p:nvPr/>
        </p:nvSpPr>
        <p:spPr>
          <a:xfrm>
            <a:off x="3813048" y="2304288"/>
            <a:ext cx="7735824" cy="3968496"/>
          </a:xfrm>
          <a:prstGeom prst="roundRect">
            <a:avLst>
              <a:gd name="adj" fmla="val 2304"/>
            </a:avLst>
          </a:prstGeom>
          <a:solidFill>
            <a:srgbClr val="000000"/>
          </a:solidFill>
          <a:ln/>
          <a:effectLst>
            <a:outerShdw sx="100000" sy="100000" kx="0" ky="0" algn="bl" rotWithShape="0" blurRad="177800" dist="63500" dir="5400000">
              <a:srgbClr val="000000">
                <a:alpha val="55000"/>
              </a:srgbClr>
            </a:outerShdw>
          </a:effectLst>
        </p:spPr>
      </p:sp>
      <p:sp>
        <p:nvSpPr>
          <p:cNvPr id="14" name="Shape 9"/>
          <p:cNvSpPr/>
          <p:nvPr/>
        </p:nvSpPr>
        <p:spPr>
          <a:xfrm>
            <a:off x="3840480" y="2331720"/>
            <a:ext cx="7680960" cy="3913632"/>
          </a:xfrm>
          <a:prstGeom prst="roundRect">
            <a:avLst>
              <a:gd name="adj" fmla="val 2103"/>
            </a:avLst>
          </a:prstGeom>
          <a:solidFill>
            <a:srgbClr val="0E1116"/>
          </a:solidFill>
          <a:ln w="12700">
            <a:solidFill>
              <a:srgbClr val="3BC6E8"/>
            </a:solidFill>
            <a:prstDash val="solid"/>
          </a:ln>
        </p:spPr>
      </p:sp>
      <p:pic>
        <p:nvPicPr>
          <p:cNvPr id="15" name="Image 3" descr="preencoded.png">    </p:cNvPr>
          <p:cNvPicPr>
            <a:picLocks noChangeAspect="1"/>
          </p:cNvPicPr>
          <p:nvPr/>
        </p:nvPicPr>
        <p:blipFill>
          <a:blip r:embed="rId4"/>
          <a:stretch>
            <a:fillRect/>
          </a:stretch>
        </p:blipFill>
        <p:spPr>
          <a:xfrm>
            <a:off x="4677046" y="2386584"/>
            <a:ext cx="6007828" cy="3803904"/>
          </a:xfrm>
          <a:prstGeom prst="rect">
            <a:avLst/>
          </a:prstGeom>
        </p:spPr>
      </p:pic>
      <p:sp>
        <p:nvSpPr>
          <p:cNvPr id="16" name="Text 10"/>
          <p:cNvSpPr/>
          <p:nvPr/>
        </p:nvSpPr>
        <p:spPr>
          <a:xfrm>
            <a:off x="3840480" y="6309360"/>
            <a:ext cx="7680960" cy="237744"/>
          </a:xfrm>
          <a:prstGeom prst="rect">
            <a:avLst/>
          </a:prstGeom>
          <a:noFill/>
          <a:ln/>
        </p:spPr>
        <p:txBody>
          <a:bodyPr wrap="square" lIns="0" tIns="0" rIns="0" bIns="0" rtlCol="0" anchor="ctr"/>
          <a:lstStyle/>
          <a:p>
            <a:pPr algn="ctr" indent="0" marL="0">
              <a:buNone/>
            </a:pPr>
            <a:r>
              <a:rPr lang="en-US" sz="1000" b="1" spc="300" kern="0" dirty="0">
                <a:solidFill>
                  <a:srgbClr val="8A96A3"/>
                </a:solidFill>
                <a:latin typeface="Arial" pitchFamily="34" charset="0"/>
                <a:ea typeface="Arial" pitchFamily="34" charset="-122"/>
                <a:cs typeface="Arial" pitchFamily="34" charset="-120"/>
              </a:rPr>
              <a:t>DESKTOP</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65000"/>
          </a:blip>
          <a:stretch>
            <a:fillRect/>
          </a:stretch>
        </p:blipFill>
        <p:spPr>
          <a:xfrm>
            <a:off x="11137392" y="384048"/>
            <a:ext cx="548640" cy="548640"/>
          </a:xfrm>
          <a:prstGeom prst="rect">
            <a:avLst/>
          </a:prstGeom>
        </p:spPr>
      </p:pic>
      <p:pic>
        <p:nvPicPr>
          <p:cNvPr id="3" name="Image 1" descr="preencoded.png">    </p:cNvPr>
          <p:cNvPicPr>
            <a:picLocks noChangeAspect="1"/>
          </p:cNvPicPr>
          <p:nvPr/>
        </p:nvPicPr>
        <p:blipFill>
          <a:blip r:embed="rId2">
            <a:alphaModFix amt="80000"/>
          </a:blip>
          <a:stretch>
            <a:fillRect/>
          </a:stretch>
        </p:blipFill>
        <p:spPr>
          <a:xfrm>
            <a:off x="640080" y="6291072"/>
            <a:ext cx="219456" cy="219456"/>
          </a:xfrm>
          <a:prstGeom prst="rect">
            <a:avLst/>
          </a:prstGeom>
        </p:spPr>
      </p:pic>
      <p:sp>
        <p:nvSpPr>
          <p:cNvPr id="4" name="Text 0"/>
          <p:cNvSpPr/>
          <p:nvPr/>
        </p:nvSpPr>
        <p:spPr>
          <a:xfrm>
            <a:off x="914400" y="6309360"/>
            <a:ext cx="2743200" cy="219456"/>
          </a:xfrm>
          <a:prstGeom prst="rect">
            <a:avLst/>
          </a:prstGeom>
          <a:noFill/>
          <a:ln/>
        </p:spPr>
        <p:txBody>
          <a:bodyPr wrap="square" lIns="0" tIns="0" rIns="0" bIns="0" rtlCol="0" anchor="ctr"/>
          <a:lstStyle/>
          <a:p>
            <a:pPr indent="0" marL="0">
              <a:buNone/>
            </a:pPr>
            <a:r>
              <a:rPr lang="en-US" sz="900" b="1" spc="200" kern="0" dirty="0">
                <a:solidFill>
                  <a:srgbClr val="8A96A3"/>
                </a:solidFill>
                <a:latin typeface="Arial" pitchFamily="34" charset="0"/>
                <a:ea typeface="Arial" pitchFamily="34" charset="-122"/>
                <a:cs typeface="Arial" pitchFamily="34" charset="-120"/>
              </a:rPr>
              <a:t>RAPTOR</a:t>
            </a:r>
            <a:endParaRPr lang="en-US" sz="900" dirty="0"/>
          </a:p>
        </p:txBody>
      </p:sp>
      <p:sp>
        <p:nvSpPr>
          <p:cNvPr id="5" name="Text 1"/>
          <p:cNvSpPr/>
          <p:nvPr/>
        </p:nvSpPr>
        <p:spPr>
          <a:xfrm>
            <a:off x="11228832" y="6309360"/>
            <a:ext cx="457200" cy="219456"/>
          </a:xfrm>
          <a:prstGeom prst="rect">
            <a:avLst/>
          </a:prstGeom>
          <a:noFill/>
          <a:ln/>
        </p:spPr>
        <p:txBody>
          <a:bodyPr wrap="square" lIns="0" tIns="0" rIns="0" bIns="0" rtlCol="0" anchor="ctr"/>
          <a:lstStyle/>
          <a:p>
            <a:pPr algn="r" indent="0" marL="0">
              <a:buNone/>
            </a:pPr>
            <a:r>
              <a:rPr lang="en-US" sz="900" dirty="0">
                <a:solidFill>
                  <a:srgbClr val="8A96A3"/>
                </a:solidFill>
                <a:latin typeface="Arial" pitchFamily="34" charset="0"/>
                <a:ea typeface="Arial" pitchFamily="34" charset="-122"/>
                <a:cs typeface="Arial" pitchFamily="34" charset="-120"/>
              </a:rPr>
              <a:t>10</a:t>
            </a:r>
            <a:endParaRPr lang="en-US" sz="900" dirty="0"/>
          </a:p>
        </p:txBody>
      </p:sp>
      <p:sp>
        <p:nvSpPr>
          <p:cNvPr id="6" name="Text 2"/>
          <p:cNvSpPr/>
          <p:nvPr/>
        </p:nvSpPr>
        <p:spPr>
          <a:xfrm>
            <a:off x="640080" y="512064"/>
            <a:ext cx="9144000" cy="274320"/>
          </a:xfrm>
          <a:prstGeom prst="rect">
            <a:avLst/>
          </a:prstGeom>
          <a:noFill/>
          <a:ln/>
        </p:spPr>
        <p:txBody>
          <a:bodyPr wrap="square" lIns="0" tIns="0" rIns="0" bIns="0" rtlCol="0" anchor="ctr"/>
          <a:lstStyle/>
          <a:p>
            <a:pPr indent="0" marL="0">
              <a:buNone/>
            </a:pPr>
            <a:r>
              <a:rPr lang="en-US" sz="1200" b="1" spc="300" kern="0" dirty="0">
                <a:solidFill>
                  <a:srgbClr val="3BC6E8"/>
                </a:solidFill>
                <a:latin typeface="Arial" pitchFamily="34" charset="0"/>
                <a:ea typeface="Arial" pitchFamily="34" charset="-122"/>
                <a:cs typeface="Arial" pitchFamily="34" charset="-120"/>
              </a:rPr>
              <a:t>WHERE IT'S GOING</a:t>
            </a:r>
            <a:endParaRPr lang="en-US" sz="1200" dirty="0"/>
          </a:p>
        </p:txBody>
      </p:sp>
      <p:sp>
        <p:nvSpPr>
          <p:cNvPr id="7" name="Text 3"/>
          <p:cNvSpPr/>
          <p:nvPr/>
        </p:nvSpPr>
        <p:spPr>
          <a:xfrm>
            <a:off x="640080" y="786384"/>
            <a:ext cx="11338560" cy="822960"/>
          </a:xfrm>
          <a:prstGeom prst="rect">
            <a:avLst/>
          </a:prstGeom>
          <a:noFill/>
          <a:ln/>
        </p:spPr>
        <p:txBody>
          <a:bodyPr wrap="square" lIns="0" tIns="0" rIns="0" bIns="0" rtlCol="0" anchor="ctr"/>
          <a:lstStyle/>
          <a:p>
            <a:pPr indent="0" marL="0">
              <a:buNone/>
            </a:pPr>
            <a:r>
              <a:rPr lang="en-US" sz="2800" b="1" dirty="0">
                <a:solidFill>
                  <a:srgbClr val="F1F4F7"/>
                </a:solidFill>
                <a:latin typeface="Arial" pitchFamily="34" charset="0"/>
                <a:ea typeface="Arial" pitchFamily="34" charset="-122"/>
                <a:cs typeface="Arial" pitchFamily="34" charset="-120"/>
              </a:rPr>
              <a:t>From prototype to the squadron's live system</a:t>
            </a:r>
            <a:endParaRPr lang="en-US" sz="2800" dirty="0"/>
          </a:p>
        </p:txBody>
      </p:sp>
      <p:sp>
        <p:nvSpPr>
          <p:cNvPr id="8" name="Shape 4"/>
          <p:cNvSpPr/>
          <p:nvPr/>
        </p:nvSpPr>
        <p:spPr>
          <a:xfrm>
            <a:off x="640080" y="1783080"/>
            <a:ext cx="3520440" cy="2651760"/>
          </a:xfrm>
          <a:prstGeom prst="roundRect">
            <a:avLst>
              <a:gd name="adj" fmla="val 3793"/>
            </a:avLst>
          </a:prstGeom>
          <a:solidFill>
            <a:srgbClr val="14181D"/>
          </a:solidFill>
          <a:ln w="19050">
            <a:solidFill>
              <a:srgbClr val="3BC6E8"/>
            </a:solidFill>
            <a:prstDash val="solid"/>
          </a:ln>
        </p:spPr>
      </p:sp>
      <p:sp>
        <p:nvSpPr>
          <p:cNvPr id="9" name="Shape 5"/>
          <p:cNvSpPr/>
          <p:nvPr/>
        </p:nvSpPr>
        <p:spPr>
          <a:xfrm>
            <a:off x="896112" y="2020824"/>
            <a:ext cx="457200" cy="457200"/>
          </a:xfrm>
          <a:prstGeom prst="ellipse">
            <a:avLst/>
          </a:prstGeom>
          <a:solidFill>
            <a:srgbClr val="1A1F26"/>
          </a:solidFill>
          <a:ln w="19050">
            <a:solidFill>
              <a:srgbClr val="3BC6E8"/>
            </a:solidFill>
            <a:prstDash val="solid"/>
          </a:ln>
        </p:spPr>
      </p:sp>
      <p:sp>
        <p:nvSpPr>
          <p:cNvPr id="10" name="Text 6"/>
          <p:cNvSpPr/>
          <p:nvPr/>
        </p:nvSpPr>
        <p:spPr>
          <a:xfrm>
            <a:off x="896112" y="2020824"/>
            <a:ext cx="457200" cy="457200"/>
          </a:xfrm>
          <a:prstGeom prst="rect">
            <a:avLst/>
          </a:prstGeom>
          <a:noFill/>
          <a:ln/>
        </p:spPr>
        <p:txBody>
          <a:bodyPr wrap="square" lIns="0" tIns="0" rIns="0" bIns="0" rtlCol="0" anchor="ctr"/>
          <a:lstStyle/>
          <a:p>
            <a:pPr algn="ctr" indent="0" marL="0">
              <a:buNone/>
            </a:pPr>
            <a:r>
              <a:rPr lang="en-US" sz="1600" b="1" dirty="0">
                <a:solidFill>
                  <a:srgbClr val="3BC6E8"/>
                </a:solidFill>
                <a:latin typeface="Arial" pitchFamily="34" charset="0"/>
                <a:ea typeface="Arial" pitchFamily="34" charset="-122"/>
                <a:cs typeface="Arial" pitchFamily="34" charset="-120"/>
              </a:rPr>
              <a:t>1</a:t>
            </a:r>
            <a:endParaRPr lang="en-US" sz="1600" dirty="0"/>
          </a:p>
        </p:txBody>
      </p:sp>
      <p:sp>
        <p:nvSpPr>
          <p:cNvPr id="11" name="Text 7"/>
          <p:cNvSpPr/>
          <p:nvPr/>
        </p:nvSpPr>
        <p:spPr>
          <a:xfrm>
            <a:off x="896112" y="2606040"/>
            <a:ext cx="3008376" cy="731520"/>
          </a:xfrm>
          <a:prstGeom prst="rect">
            <a:avLst/>
          </a:prstGeom>
          <a:noFill/>
          <a:ln/>
        </p:spPr>
        <p:txBody>
          <a:bodyPr wrap="square" lIns="0" tIns="0" rIns="0" bIns="0" rtlCol="0" anchor="t"/>
          <a:lstStyle/>
          <a:p>
            <a:pPr indent="0" marL="0">
              <a:buNone/>
            </a:pPr>
            <a:r>
              <a:rPr lang="en-US" sz="1500" b="1" dirty="0">
                <a:solidFill>
                  <a:srgbClr val="F1F4F7"/>
                </a:solidFill>
                <a:latin typeface="Arial" pitchFamily="34" charset="0"/>
                <a:ea typeface="Arial" pitchFamily="34" charset="-122"/>
                <a:cs typeface="Arial" pitchFamily="34" charset="-120"/>
              </a:rPr>
              <a:t>Microsoft 365 · Power Apps on Teams</a:t>
            </a:r>
            <a:endParaRPr lang="en-US" sz="1500" dirty="0"/>
          </a:p>
        </p:txBody>
      </p:sp>
      <p:sp>
        <p:nvSpPr>
          <p:cNvPr id="12" name="Text 8"/>
          <p:cNvSpPr/>
          <p:nvPr/>
        </p:nvSpPr>
        <p:spPr>
          <a:xfrm>
            <a:off x="896112" y="3355848"/>
            <a:ext cx="3008376" cy="1005840"/>
          </a:xfrm>
          <a:prstGeom prst="rect">
            <a:avLst/>
          </a:prstGeom>
          <a:noFill/>
          <a:ln/>
        </p:spPr>
        <p:txBody>
          <a:bodyPr wrap="square" lIns="0" tIns="0" rIns="0" bIns="0" rtlCol="0" anchor="t"/>
          <a:lstStyle/>
          <a:p>
            <a:pPr indent="0" marL="0">
              <a:buNone/>
            </a:pPr>
            <a:r>
              <a:rPr lang="en-US" sz="1150" dirty="0">
                <a:solidFill>
                  <a:srgbClr val="B6C0CB"/>
                </a:solidFill>
                <a:latin typeface="Calibri" pitchFamily="34" charset="0"/>
                <a:ea typeface="Calibri" pitchFamily="34" charset="-122"/>
                <a:cs typeface="Calibri" pitchFamily="34" charset="-120"/>
              </a:rPr>
              <a:t>From the demo to Power Apps inside Teams, on a live shared database — multi-user, real-time, inside tools the squadron already runs.</a:t>
            </a:r>
            <a:endParaRPr lang="en-US" sz="1150" dirty="0"/>
          </a:p>
        </p:txBody>
      </p:sp>
      <p:sp>
        <p:nvSpPr>
          <p:cNvPr id="13" name="Shape 9"/>
          <p:cNvSpPr/>
          <p:nvPr/>
        </p:nvSpPr>
        <p:spPr>
          <a:xfrm>
            <a:off x="4416552" y="1783080"/>
            <a:ext cx="3520440" cy="2651760"/>
          </a:xfrm>
          <a:prstGeom prst="roundRect">
            <a:avLst>
              <a:gd name="adj" fmla="val 3793"/>
            </a:avLst>
          </a:prstGeom>
          <a:solidFill>
            <a:srgbClr val="14181D"/>
          </a:solidFill>
          <a:ln w="12700">
            <a:solidFill>
              <a:srgbClr val="2A313A"/>
            </a:solidFill>
            <a:prstDash val="solid"/>
          </a:ln>
        </p:spPr>
      </p:sp>
      <p:sp>
        <p:nvSpPr>
          <p:cNvPr id="14" name="Shape 10"/>
          <p:cNvSpPr/>
          <p:nvPr/>
        </p:nvSpPr>
        <p:spPr>
          <a:xfrm>
            <a:off x="4672584" y="2020824"/>
            <a:ext cx="457200" cy="457200"/>
          </a:xfrm>
          <a:prstGeom prst="ellipse">
            <a:avLst/>
          </a:prstGeom>
          <a:solidFill>
            <a:srgbClr val="1A1F26"/>
          </a:solidFill>
          <a:ln w="19050">
            <a:solidFill>
              <a:srgbClr val="3BD07A"/>
            </a:solidFill>
            <a:prstDash val="solid"/>
          </a:ln>
        </p:spPr>
      </p:sp>
      <p:sp>
        <p:nvSpPr>
          <p:cNvPr id="15" name="Text 11"/>
          <p:cNvSpPr/>
          <p:nvPr/>
        </p:nvSpPr>
        <p:spPr>
          <a:xfrm>
            <a:off x="4672584" y="2020824"/>
            <a:ext cx="457200" cy="457200"/>
          </a:xfrm>
          <a:prstGeom prst="rect">
            <a:avLst/>
          </a:prstGeom>
          <a:noFill/>
          <a:ln/>
        </p:spPr>
        <p:txBody>
          <a:bodyPr wrap="square" lIns="0" tIns="0" rIns="0" bIns="0" rtlCol="0" anchor="ctr"/>
          <a:lstStyle/>
          <a:p>
            <a:pPr algn="ctr" indent="0" marL="0">
              <a:buNone/>
            </a:pPr>
            <a:r>
              <a:rPr lang="en-US" sz="1600" b="1" dirty="0">
                <a:solidFill>
                  <a:srgbClr val="3BD07A"/>
                </a:solidFill>
                <a:latin typeface="Arial" pitchFamily="34" charset="0"/>
                <a:ea typeface="Arial" pitchFamily="34" charset="-122"/>
                <a:cs typeface="Arial" pitchFamily="34" charset="-120"/>
              </a:rPr>
              <a:t>2</a:t>
            </a:r>
            <a:endParaRPr lang="en-US" sz="1600" dirty="0"/>
          </a:p>
        </p:txBody>
      </p:sp>
      <p:sp>
        <p:nvSpPr>
          <p:cNvPr id="16" name="Text 12"/>
          <p:cNvSpPr/>
          <p:nvPr/>
        </p:nvSpPr>
        <p:spPr>
          <a:xfrm>
            <a:off x="4672584" y="2606040"/>
            <a:ext cx="3008376" cy="731520"/>
          </a:xfrm>
          <a:prstGeom prst="rect">
            <a:avLst/>
          </a:prstGeom>
          <a:noFill/>
          <a:ln/>
        </p:spPr>
        <p:txBody>
          <a:bodyPr wrap="square" lIns="0" tIns="0" rIns="0" bIns="0" rtlCol="0" anchor="t"/>
          <a:lstStyle/>
          <a:p>
            <a:pPr indent="0" marL="0">
              <a:buNone/>
            </a:pPr>
            <a:r>
              <a:rPr lang="en-US" sz="1500" b="1" dirty="0">
                <a:solidFill>
                  <a:srgbClr val="F1F4F7"/>
                </a:solidFill>
                <a:latin typeface="Arial" pitchFamily="34" charset="0"/>
                <a:ea typeface="Arial" pitchFamily="34" charset="-122"/>
                <a:cs typeface="Arial" pitchFamily="34" charset="-120"/>
              </a:rPr>
              <a:t>Robust &amp; operational</a:t>
            </a:r>
            <a:endParaRPr lang="en-US" sz="1500" dirty="0"/>
          </a:p>
        </p:txBody>
      </p:sp>
      <p:sp>
        <p:nvSpPr>
          <p:cNvPr id="17" name="Text 13"/>
          <p:cNvSpPr/>
          <p:nvPr/>
        </p:nvSpPr>
        <p:spPr>
          <a:xfrm>
            <a:off x="4672584" y="3355848"/>
            <a:ext cx="3008376" cy="1005840"/>
          </a:xfrm>
          <a:prstGeom prst="rect">
            <a:avLst/>
          </a:prstGeom>
          <a:noFill/>
          <a:ln/>
        </p:spPr>
        <p:txBody>
          <a:bodyPr wrap="square" lIns="0" tIns="0" rIns="0" bIns="0" rtlCol="0" anchor="t"/>
          <a:lstStyle/>
          <a:p>
            <a:pPr indent="0" marL="0">
              <a:buNone/>
            </a:pPr>
            <a:r>
              <a:rPr lang="en-US" sz="1150" dirty="0">
                <a:solidFill>
                  <a:srgbClr val="B6C0CB"/>
                </a:solidFill>
                <a:latin typeface="Calibri" pitchFamily="34" charset="0"/>
                <a:ea typeface="Calibri" pitchFamily="34" charset="-122"/>
                <a:cs typeface="Calibri" pitchFamily="34" charset="-120"/>
              </a:rPr>
              <a:t>Extensive testing with the RAID office to prove it stands up to daily use — the priority for the next three months.</a:t>
            </a:r>
            <a:endParaRPr lang="en-US" sz="1150" dirty="0"/>
          </a:p>
        </p:txBody>
      </p:sp>
      <p:sp>
        <p:nvSpPr>
          <p:cNvPr id="18" name="Shape 14"/>
          <p:cNvSpPr/>
          <p:nvPr/>
        </p:nvSpPr>
        <p:spPr>
          <a:xfrm>
            <a:off x="8193024" y="1783080"/>
            <a:ext cx="3520440" cy="2651760"/>
          </a:xfrm>
          <a:prstGeom prst="roundRect">
            <a:avLst>
              <a:gd name="adj" fmla="val 3793"/>
            </a:avLst>
          </a:prstGeom>
          <a:solidFill>
            <a:srgbClr val="14181D"/>
          </a:solidFill>
          <a:ln w="12700">
            <a:solidFill>
              <a:srgbClr val="2A313A"/>
            </a:solidFill>
            <a:prstDash val="solid"/>
          </a:ln>
        </p:spPr>
      </p:sp>
      <p:sp>
        <p:nvSpPr>
          <p:cNvPr id="19" name="Shape 15"/>
          <p:cNvSpPr/>
          <p:nvPr/>
        </p:nvSpPr>
        <p:spPr>
          <a:xfrm>
            <a:off x="8449056" y="2020824"/>
            <a:ext cx="457200" cy="457200"/>
          </a:xfrm>
          <a:prstGeom prst="ellipse">
            <a:avLst/>
          </a:prstGeom>
          <a:solidFill>
            <a:srgbClr val="1A1F26"/>
          </a:solidFill>
          <a:ln w="19050">
            <a:solidFill>
              <a:srgbClr val="8A8F3C"/>
            </a:solidFill>
            <a:prstDash val="solid"/>
          </a:ln>
        </p:spPr>
      </p:sp>
      <p:sp>
        <p:nvSpPr>
          <p:cNvPr id="20" name="Text 16"/>
          <p:cNvSpPr/>
          <p:nvPr/>
        </p:nvSpPr>
        <p:spPr>
          <a:xfrm>
            <a:off x="8449056" y="2020824"/>
            <a:ext cx="457200" cy="457200"/>
          </a:xfrm>
          <a:prstGeom prst="rect">
            <a:avLst/>
          </a:prstGeom>
          <a:noFill/>
          <a:ln/>
        </p:spPr>
        <p:txBody>
          <a:bodyPr wrap="square" lIns="0" tIns="0" rIns="0" bIns="0" rtlCol="0" anchor="ctr"/>
          <a:lstStyle/>
          <a:p>
            <a:pPr algn="ctr" indent="0" marL="0">
              <a:buNone/>
            </a:pPr>
            <a:r>
              <a:rPr lang="en-US" sz="1600" b="1" dirty="0">
                <a:solidFill>
                  <a:srgbClr val="8A8F3C"/>
                </a:solidFill>
                <a:latin typeface="Arial" pitchFamily="34" charset="0"/>
                <a:ea typeface="Arial" pitchFamily="34" charset="-122"/>
                <a:cs typeface="Arial" pitchFamily="34" charset="-120"/>
              </a:rPr>
              <a:t>3</a:t>
            </a:r>
            <a:endParaRPr lang="en-US" sz="1600" dirty="0"/>
          </a:p>
        </p:txBody>
      </p:sp>
      <p:sp>
        <p:nvSpPr>
          <p:cNvPr id="21" name="Text 17"/>
          <p:cNvSpPr/>
          <p:nvPr/>
        </p:nvSpPr>
        <p:spPr>
          <a:xfrm>
            <a:off x="8449056" y="2606040"/>
            <a:ext cx="3008376" cy="731520"/>
          </a:xfrm>
          <a:prstGeom prst="rect">
            <a:avLst/>
          </a:prstGeom>
          <a:noFill/>
          <a:ln/>
        </p:spPr>
        <p:txBody>
          <a:bodyPr wrap="square" lIns="0" tIns="0" rIns="0" bIns="0" rtlCol="0" anchor="t"/>
          <a:lstStyle/>
          <a:p>
            <a:pPr indent="0" marL="0">
              <a:buNone/>
            </a:pPr>
            <a:r>
              <a:rPr lang="en-US" sz="1500" b="1" dirty="0">
                <a:solidFill>
                  <a:srgbClr val="F1F4F7"/>
                </a:solidFill>
                <a:latin typeface="Arial" pitchFamily="34" charset="0"/>
                <a:ea typeface="Arial" pitchFamily="34" charset="-122"/>
                <a:cs typeface="Arial" pitchFamily="34" charset="-120"/>
              </a:rPr>
              <a:t>OCU tracker folds in</a:t>
            </a:r>
            <a:endParaRPr lang="en-US" sz="1500" dirty="0"/>
          </a:p>
        </p:txBody>
      </p:sp>
      <p:sp>
        <p:nvSpPr>
          <p:cNvPr id="22" name="Text 18"/>
          <p:cNvSpPr/>
          <p:nvPr/>
        </p:nvSpPr>
        <p:spPr>
          <a:xfrm>
            <a:off x="8449056" y="3355848"/>
            <a:ext cx="3008376" cy="1005840"/>
          </a:xfrm>
          <a:prstGeom prst="rect">
            <a:avLst/>
          </a:prstGeom>
          <a:noFill/>
          <a:ln/>
        </p:spPr>
        <p:txBody>
          <a:bodyPr wrap="square" lIns="0" tIns="0" rIns="0" bIns="0" rtlCol="0" anchor="t"/>
          <a:lstStyle/>
          <a:p>
            <a:pPr indent="0" marL="0">
              <a:buNone/>
            </a:pPr>
            <a:r>
              <a:rPr lang="en-US" sz="1150" dirty="0">
                <a:solidFill>
                  <a:srgbClr val="B6C0CB"/>
                </a:solidFill>
                <a:latin typeface="Calibri" pitchFamily="34" charset="0"/>
                <a:ea typeface="Calibri" pitchFamily="34" charset="-122"/>
                <a:cs typeface="Calibri" pitchFamily="34" charset="-120"/>
              </a:rPr>
              <a:t>The upgrade tracker joins RAPTOR, putting student progress beside the programme — the one stop shop complete.</a:t>
            </a:r>
            <a:endParaRPr lang="en-US" sz="1150" dirty="0"/>
          </a:p>
        </p:txBody>
      </p:sp>
      <p:sp>
        <p:nvSpPr>
          <p:cNvPr id="23" name="Shape 19"/>
          <p:cNvSpPr/>
          <p:nvPr/>
        </p:nvSpPr>
        <p:spPr>
          <a:xfrm>
            <a:off x="640080" y="4800600"/>
            <a:ext cx="3291840" cy="868680"/>
          </a:xfrm>
          <a:prstGeom prst="roundRect">
            <a:avLst>
              <a:gd name="adj" fmla="val 10526"/>
            </a:avLst>
          </a:prstGeom>
          <a:solidFill>
            <a:srgbClr val="14181D"/>
          </a:solidFill>
          <a:ln w="19050">
            <a:solidFill>
              <a:srgbClr val="3BC6E8"/>
            </a:solidFill>
            <a:prstDash val="solid"/>
          </a:ln>
        </p:spPr>
      </p:sp>
      <p:sp>
        <p:nvSpPr>
          <p:cNvPr id="24" name="Text 20"/>
          <p:cNvSpPr/>
          <p:nvPr/>
        </p:nvSpPr>
        <p:spPr>
          <a:xfrm>
            <a:off x="868680" y="4919472"/>
            <a:ext cx="2834640" cy="320040"/>
          </a:xfrm>
          <a:prstGeom prst="rect">
            <a:avLst/>
          </a:prstGeom>
          <a:noFill/>
          <a:ln/>
        </p:spPr>
        <p:txBody>
          <a:bodyPr wrap="square" lIns="0" tIns="0" rIns="0" bIns="0" rtlCol="0" anchor="ctr"/>
          <a:lstStyle/>
          <a:p>
            <a:pPr indent="0" marL="0">
              <a:buNone/>
            </a:pPr>
            <a:r>
              <a:rPr lang="en-US" sz="1600" b="1" dirty="0">
                <a:solidFill>
                  <a:srgbClr val="F1F4F7"/>
                </a:solidFill>
                <a:latin typeface="Arial" pitchFamily="34" charset="0"/>
                <a:ea typeface="Arial" pitchFamily="34" charset="-122"/>
                <a:cs typeface="Arial" pitchFamily="34" charset="-120"/>
              </a:rPr>
              <a:t>142 SQN</a:t>
            </a:r>
            <a:endParaRPr lang="en-US" sz="1600" dirty="0"/>
          </a:p>
        </p:txBody>
      </p:sp>
      <p:sp>
        <p:nvSpPr>
          <p:cNvPr id="25" name="Text 21"/>
          <p:cNvSpPr/>
          <p:nvPr/>
        </p:nvSpPr>
        <p:spPr>
          <a:xfrm>
            <a:off x="868680" y="5248656"/>
            <a:ext cx="2926080" cy="320040"/>
          </a:xfrm>
          <a:prstGeom prst="rect">
            <a:avLst/>
          </a:prstGeom>
          <a:noFill/>
          <a:ln/>
        </p:spPr>
        <p:txBody>
          <a:bodyPr wrap="square" lIns="0" tIns="0" rIns="0" bIns="0" rtlCol="0" anchor="ctr"/>
          <a:lstStyle/>
          <a:p>
            <a:pPr indent="0" marL="0">
              <a:buNone/>
            </a:pPr>
            <a:r>
              <a:rPr lang="en-US" sz="1100" dirty="0">
                <a:solidFill>
                  <a:srgbClr val="8A96A3"/>
                </a:solidFill>
                <a:latin typeface="Calibri" pitchFamily="34" charset="0"/>
                <a:ea typeface="Calibri" pitchFamily="34" charset="-122"/>
                <a:cs typeface="Calibri" pitchFamily="34" charset="-120"/>
              </a:rPr>
              <a:t>now → 3 months, with RAID office</a:t>
            </a:r>
            <a:endParaRPr lang="en-US" sz="1100" dirty="0"/>
          </a:p>
        </p:txBody>
      </p:sp>
      <p:sp>
        <p:nvSpPr>
          <p:cNvPr id="26" name="Text 22"/>
          <p:cNvSpPr/>
          <p:nvPr/>
        </p:nvSpPr>
        <p:spPr>
          <a:xfrm>
            <a:off x="3931920" y="4800600"/>
            <a:ext cx="548640" cy="868680"/>
          </a:xfrm>
          <a:prstGeom prst="rect">
            <a:avLst/>
          </a:prstGeom>
          <a:noFill/>
          <a:ln/>
        </p:spPr>
        <p:txBody>
          <a:bodyPr wrap="square" lIns="0" tIns="0" rIns="0" bIns="0" rtlCol="0" anchor="ctr"/>
          <a:lstStyle/>
          <a:p>
            <a:pPr algn="ctr" indent="0" marL="0">
              <a:buNone/>
            </a:pPr>
            <a:r>
              <a:rPr lang="en-US" sz="2000" b="1" dirty="0">
                <a:solidFill>
                  <a:srgbClr val="8A96A3"/>
                </a:solidFill>
                <a:latin typeface="Arial" pitchFamily="34" charset="0"/>
                <a:ea typeface="Arial" pitchFamily="34" charset="-122"/>
                <a:cs typeface="Arial" pitchFamily="34" charset="-120"/>
              </a:rPr>
              <a:t>→</a:t>
            </a:r>
            <a:endParaRPr lang="en-US" sz="2000" dirty="0"/>
          </a:p>
        </p:txBody>
      </p:sp>
      <p:sp>
        <p:nvSpPr>
          <p:cNvPr id="27" name="Shape 23"/>
          <p:cNvSpPr/>
          <p:nvPr/>
        </p:nvSpPr>
        <p:spPr>
          <a:xfrm>
            <a:off x="4480560" y="4800600"/>
            <a:ext cx="3291840" cy="868680"/>
          </a:xfrm>
          <a:prstGeom prst="roundRect">
            <a:avLst>
              <a:gd name="adj" fmla="val 10526"/>
            </a:avLst>
          </a:prstGeom>
          <a:solidFill>
            <a:srgbClr val="14181D"/>
          </a:solidFill>
          <a:ln w="12700">
            <a:solidFill>
              <a:srgbClr val="2A313A"/>
            </a:solidFill>
            <a:prstDash val="solid"/>
          </a:ln>
        </p:spPr>
      </p:sp>
      <p:sp>
        <p:nvSpPr>
          <p:cNvPr id="28" name="Text 24"/>
          <p:cNvSpPr/>
          <p:nvPr/>
        </p:nvSpPr>
        <p:spPr>
          <a:xfrm>
            <a:off x="4709160" y="4919472"/>
            <a:ext cx="2834640" cy="320040"/>
          </a:xfrm>
          <a:prstGeom prst="rect">
            <a:avLst/>
          </a:prstGeom>
          <a:noFill/>
          <a:ln/>
        </p:spPr>
        <p:txBody>
          <a:bodyPr wrap="square" lIns="0" tIns="0" rIns="0" bIns="0" rtlCol="0" anchor="ctr"/>
          <a:lstStyle/>
          <a:p>
            <a:pPr indent="0" marL="0">
              <a:buNone/>
            </a:pPr>
            <a:r>
              <a:rPr lang="en-US" sz="1600" b="1" dirty="0">
                <a:solidFill>
                  <a:srgbClr val="B6C0CB"/>
                </a:solidFill>
                <a:latin typeface="Arial" pitchFamily="34" charset="0"/>
                <a:ea typeface="Arial" pitchFamily="34" charset="-122"/>
                <a:cs typeface="Arial" pitchFamily="34" charset="-120"/>
              </a:rPr>
              <a:t>149 SQN</a:t>
            </a:r>
            <a:endParaRPr lang="en-US" sz="1600" dirty="0"/>
          </a:p>
        </p:txBody>
      </p:sp>
      <p:sp>
        <p:nvSpPr>
          <p:cNvPr id="29" name="Text 25"/>
          <p:cNvSpPr/>
          <p:nvPr/>
        </p:nvSpPr>
        <p:spPr>
          <a:xfrm>
            <a:off x="4709160" y="5248656"/>
            <a:ext cx="2926080" cy="320040"/>
          </a:xfrm>
          <a:prstGeom prst="rect">
            <a:avLst/>
          </a:prstGeom>
          <a:noFill/>
          <a:ln/>
        </p:spPr>
        <p:txBody>
          <a:bodyPr wrap="square" lIns="0" tIns="0" rIns="0" bIns="0" rtlCol="0" anchor="ctr"/>
          <a:lstStyle/>
          <a:p>
            <a:pPr indent="0" marL="0">
              <a:buNone/>
            </a:pPr>
            <a:r>
              <a:rPr lang="en-US" sz="1100" dirty="0">
                <a:solidFill>
                  <a:srgbClr val="8A96A3"/>
                </a:solidFill>
                <a:latin typeface="Calibri" pitchFamily="34" charset="0"/>
                <a:ea typeface="Calibri" pitchFamily="34" charset="-122"/>
                <a:cs typeface="Calibri" pitchFamily="34" charset="-120"/>
              </a:rPr>
              <a:t>once proven</a:t>
            </a:r>
            <a:endParaRPr lang="en-US" sz="1100" dirty="0"/>
          </a:p>
        </p:txBody>
      </p:sp>
      <p:sp>
        <p:nvSpPr>
          <p:cNvPr id="30" name="Text 26"/>
          <p:cNvSpPr/>
          <p:nvPr/>
        </p:nvSpPr>
        <p:spPr>
          <a:xfrm>
            <a:off x="7772400" y="4800600"/>
            <a:ext cx="548640" cy="868680"/>
          </a:xfrm>
          <a:prstGeom prst="rect">
            <a:avLst/>
          </a:prstGeom>
          <a:noFill/>
          <a:ln/>
        </p:spPr>
        <p:txBody>
          <a:bodyPr wrap="square" lIns="0" tIns="0" rIns="0" bIns="0" rtlCol="0" anchor="ctr"/>
          <a:lstStyle/>
          <a:p>
            <a:pPr algn="ctr" indent="0" marL="0">
              <a:buNone/>
            </a:pPr>
            <a:r>
              <a:rPr lang="en-US" sz="2000" b="1" dirty="0">
                <a:solidFill>
                  <a:srgbClr val="8A96A3"/>
                </a:solidFill>
                <a:latin typeface="Arial" pitchFamily="34" charset="0"/>
                <a:ea typeface="Arial" pitchFamily="34" charset="-122"/>
                <a:cs typeface="Arial" pitchFamily="34" charset="-120"/>
              </a:rPr>
              <a:t>→</a:t>
            </a:r>
            <a:endParaRPr lang="en-US" sz="2000" dirty="0"/>
          </a:p>
        </p:txBody>
      </p:sp>
      <p:sp>
        <p:nvSpPr>
          <p:cNvPr id="31" name="Shape 27"/>
          <p:cNvSpPr/>
          <p:nvPr/>
        </p:nvSpPr>
        <p:spPr>
          <a:xfrm>
            <a:off x="8321040" y="4800600"/>
            <a:ext cx="3291840" cy="868680"/>
          </a:xfrm>
          <a:prstGeom prst="roundRect">
            <a:avLst>
              <a:gd name="adj" fmla="val 10526"/>
            </a:avLst>
          </a:prstGeom>
          <a:solidFill>
            <a:srgbClr val="14181D"/>
          </a:solidFill>
          <a:ln w="12700">
            <a:solidFill>
              <a:srgbClr val="2A313A"/>
            </a:solidFill>
            <a:prstDash val="solid"/>
          </a:ln>
        </p:spPr>
      </p:sp>
      <p:sp>
        <p:nvSpPr>
          <p:cNvPr id="32" name="Text 28"/>
          <p:cNvSpPr/>
          <p:nvPr/>
        </p:nvSpPr>
        <p:spPr>
          <a:xfrm>
            <a:off x="8549640" y="4919472"/>
            <a:ext cx="2834640" cy="320040"/>
          </a:xfrm>
          <a:prstGeom prst="rect">
            <a:avLst/>
          </a:prstGeom>
          <a:noFill/>
          <a:ln/>
        </p:spPr>
        <p:txBody>
          <a:bodyPr wrap="square" lIns="0" tIns="0" rIns="0" bIns="0" rtlCol="0" anchor="ctr"/>
          <a:lstStyle/>
          <a:p>
            <a:pPr indent="0" marL="0">
              <a:buNone/>
            </a:pPr>
            <a:r>
              <a:rPr lang="en-US" sz="1600" b="1" dirty="0">
                <a:solidFill>
                  <a:srgbClr val="B6C0CB"/>
                </a:solidFill>
                <a:latin typeface="Arial" pitchFamily="34" charset="0"/>
                <a:ea typeface="Arial" pitchFamily="34" charset="-122"/>
                <a:cs typeface="Arial" pitchFamily="34" charset="-120"/>
              </a:rPr>
              <a:t>FG</a:t>
            </a:r>
            <a:endParaRPr lang="en-US" sz="1600" dirty="0"/>
          </a:p>
        </p:txBody>
      </p:sp>
      <p:sp>
        <p:nvSpPr>
          <p:cNvPr id="33" name="Text 29"/>
          <p:cNvSpPr/>
          <p:nvPr/>
        </p:nvSpPr>
        <p:spPr>
          <a:xfrm>
            <a:off x="8549640" y="5248656"/>
            <a:ext cx="2926080" cy="320040"/>
          </a:xfrm>
          <a:prstGeom prst="rect">
            <a:avLst/>
          </a:prstGeom>
          <a:noFill/>
          <a:ln/>
        </p:spPr>
        <p:txBody>
          <a:bodyPr wrap="square" lIns="0" tIns="0" rIns="0" bIns="0" rtlCol="0" anchor="ctr"/>
          <a:lstStyle/>
          <a:p>
            <a:pPr indent="0" marL="0">
              <a:buNone/>
            </a:pPr>
            <a:r>
              <a:rPr lang="en-US" sz="1100" dirty="0">
                <a:solidFill>
                  <a:srgbClr val="8A96A3"/>
                </a:solidFill>
                <a:latin typeface="Calibri" pitchFamily="34" charset="0"/>
                <a:ea typeface="Calibri" pitchFamily="34" charset="-122"/>
                <a:cs typeface="Calibri" pitchFamily="34" charset="-120"/>
              </a:rPr>
              <a:t>potential wider roll-out</a:t>
            </a:r>
            <a:endParaRPr lang="en-US" sz="1100" dirty="0"/>
          </a:p>
        </p:txBody>
      </p:sp>
      <p:sp>
        <p:nvSpPr>
          <p:cNvPr id="34" name="Text 30"/>
          <p:cNvSpPr/>
          <p:nvPr/>
        </p:nvSpPr>
        <p:spPr>
          <a:xfrm>
            <a:off x="640080" y="5943600"/>
            <a:ext cx="10972800" cy="457200"/>
          </a:xfrm>
          <a:prstGeom prst="rect">
            <a:avLst/>
          </a:prstGeom>
          <a:noFill/>
          <a:ln/>
        </p:spPr>
        <p:txBody>
          <a:bodyPr wrap="square" lIns="0" tIns="0" rIns="0" bIns="0" rtlCol="0" anchor="ctr"/>
          <a:lstStyle/>
          <a:p>
            <a:pPr indent="0" marL="0">
              <a:buNone/>
            </a:pPr>
            <a:r>
              <a:rPr lang="en-US" sz="1700" b="1" dirty="0">
                <a:solidFill>
                  <a:srgbClr val="F1F4F7"/>
                </a:solidFill>
                <a:latin typeface="Calibri" pitchFamily="34" charset="0"/>
                <a:ea typeface="Calibri" pitchFamily="34" charset="-122"/>
                <a:cs typeface="Calibri" pitchFamily="34" charset="-120"/>
              </a:rPr>
              <a:t>One squadron. One source of truth.  </a:t>
            </a:r>
            <a:pPr indent="0" marL="0">
              <a:buNone/>
            </a:pPr>
            <a:r>
              <a:rPr lang="en-US" sz="1250" i="1" dirty="0">
                <a:solidFill>
                  <a:srgbClr val="8A96A3"/>
                </a:solidFill>
                <a:latin typeface="Calibri" pitchFamily="34" charset="0"/>
                <a:ea typeface="Calibri" pitchFamily="34" charset="-122"/>
                <a:cs typeface="Calibri" pitchFamily="34" charset="-120"/>
              </a:rPr>
              <a:t>Built with AI over 500+ rounds of testing, behind six automated quality gates.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2026-08-24T04:49:13Z</dcterms:created>
  <dcterms:modified xsi:type="dcterms:W3CDTF">2026-08-24T04:49:13Z</dcterms:modified>
</cp:coreProperties>
</file>